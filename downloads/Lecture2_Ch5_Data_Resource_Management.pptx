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144000" y="-1554480"/>
            <a:ext cx="4937760" cy="4937760"/>
          </a:xfrm>
          <a:prstGeom prst="ellipse">
            <a:avLst/>
          </a:prstGeom>
          <a:solidFill>
            <a:srgbClr val="0A2038"/>
          </a:solidFill>
          <a:ln w="15875">
            <a:solidFill>
              <a:srgbClr val="F2B705"/>
            </a:solidFill>
            <a:prstDash val="solid"/>
          </a:ln>
        </p:spPr>
      </p:sp>
      <p:sp>
        <p:nvSpPr>
          <p:cNvPr id="3" name="Shape 1"/>
          <p:cNvSpPr/>
          <p:nvPr/>
        </p:nvSpPr>
        <p:spPr>
          <a:xfrm>
            <a:off x="10332720" y="3383280"/>
            <a:ext cx="3474720" cy="3474720"/>
          </a:xfrm>
          <a:prstGeom prst="ellipse">
            <a:avLst/>
          </a:prstGeom>
          <a:solidFill>
            <a:srgbClr val="071726"/>
          </a:solidFill>
          <a:ln w="12700">
            <a:solidFill>
              <a:srgbClr val="1565C0"/>
            </a:solidFill>
            <a:prstDash val="solid"/>
          </a:ln>
        </p:spPr>
      </p:sp>
      <p:sp>
        <p:nvSpPr>
          <p:cNvPr id="4" name="Shape 2"/>
          <p:cNvSpPr/>
          <p:nvPr/>
        </p:nvSpPr>
        <p:spPr>
          <a:xfrm>
            <a:off x="822960" y="77724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051560" y="1005840"/>
            <a:ext cx="457200" cy="457200"/>
          </a:xfrm>
          <a:prstGeom prst="rect">
            <a:avLst/>
          </a:prstGeom>
        </p:spPr>
      </p:pic>
      <p:sp>
        <p:nvSpPr>
          <p:cNvPr id="6" name="Text 3"/>
          <p:cNvSpPr/>
          <p:nvPr/>
        </p:nvSpPr>
        <p:spPr>
          <a:xfrm>
            <a:off x="1920240" y="868680"/>
            <a:ext cx="7772400" cy="365760"/>
          </a:xfrm>
          <a:prstGeom prst="rect">
            <a:avLst/>
          </a:prstGeom>
          <a:noFill/>
          <a:ln/>
        </p:spPr>
        <p:txBody>
          <a:bodyPr wrap="square" lIns="0" tIns="0" rIns="0" bIns="0" rtlCol="0" anchor="ctr"/>
          <a:lstStyle/>
          <a:p>
            <a:pPr algn="l" indent="0" marL="0">
              <a:buNone/>
            </a:pPr>
            <a:r>
              <a:rPr lang="en-US" sz="1300" b="1" spc="300" kern="0" dirty="0">
                <a:solidFill>
                  <a:srgbClr val="F8D374"/>
                </a:solidFill>
              </a:rPr>
              <a:t>EXECUTIVE MBA   |   IT STRATEGY</a:t>
            </a:r>
            <a:endParaRPr lang="en-US" sz="1300" dirty="0"/>
          </a:p>
        </p:txBody>
      </p:sp>
      <p:sp>
        <p:nvSpPr>
          <p:cNvPr id="7" name="Text 4"/>
          <p:cNvSpPr/>
          <p:nvPr/>
        </p:nvSpPr>
        <p:spPr>
          <a:xfrm>
            <a:off x="1920240" y="1216152"/>
            <a:ext cx="7772400" cy="365760"/>
          </a:xfrm>
          <a:prstGeom prst="rect">
            <a:avLst/>
          </a:prstGeom>
          <a:noFill/>
          <a:ln/>
        </p:spPr>
        <p:txBody>
          <a:bodyPr wrap="square" lIns="0" tIns="0" rIns="0" bIns="0" rtlCol="0" anchor="ctr"/>
          <a:lstStyle/>
          <a:p>
            <a:pPr algn="l" indent="0" marL="0">
              <a:buNone/>
            </a:pPr>
            <a:r>
              <a:rPr lang="en-US" sz="1300" i="1" dirty="0">
                <a:solidFill>
                  <a:srgbClr val="B9CBDD"/>
                </a:solidFill>
              </a:rPr>
              <a:t>Chapter 5  -  Group Presentation</a:t>
            </a:r>
            <a:endParaRPr lang="en-US" sz="1300" dirty="0"/>
          </a:p>
        </p:txBody>
      </p:sp>
      <p:sp>
        <p:nvSpPr>
          <p:cNvPr id="8" name="Text 5"/>
          <p:cNvSpPr/>
          <p:nvPr/>
        </p:nvSpPr>
        <p:spPr>
          <a:xfrm>
            <a:off x="822960" y="2377440"/>
            <a:ext cx="10607040" cy="868680"/>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Data Resource Management</a:t>
            </a:r>
            <a:endParaRPr lang="en-US" sz="4600" dirty="0"/>
          </a:p>
        </p:txBody>
      </p:sp>
      <p:sp>
        <p:nvSpPr>
          <p:cNvPr id="9" name="Text 6"/>
          <p:cNvSpPr/>
          <p:nvPr/>
        </p:nvSpPr>
        <p:spPr>
          <a:xfrm>
            <a:off x="841248" y="3310128"/>
            <a:ext cx="10058400" cy="502920"/>
          </a:xfrm>
          <a:prstGeom prst="rect">
            <a:avLst/>
          </a:prstGeom>
          <a:noFill/>
          <a:ln/>
        </p:spPr>
        <p:txBody>
          <a:bodyPr wrap="square" lIns="0" tIns="0" rIns="0" bIns="0" rtlCol="0" anchor="ctr"/>
          <a:lstStyle/>
          <a:p>
            <a:pPr algn="l" indent="0" marL="0">
              <a:buNone/>
            </a:pPr>
            <a:r>
              <a:rPr lang="en-US" sz="2200" b="1" dirty="0">
                <a:solidFill>
                  <a:srgbClr val="F2B705"/>
                </a:solidFill>
              </a:rPr>
              <a:t>Managing data as a strategic business asset</a:t>
            </a:r>
            <a:endParaRPr lang="en-US" sz="2200" dirty="0"/>
          </a:p>
        </p:txBody>
      </p:sp>
      <p:sp>
        <p:nvSpPr>
          <p:cNvPr id="10" name="Text 7"/>
          <p:cNvSpPr/>
          <p:nvPr/>
        </p:nvSpPr>
        <p:spPr>
          <a:xfrm>
            <a:off x="841248" y="3886200"/>
            <a:ext cx="9875520" cy="457200"/>
          </a:xfrm>
          <a:prstGeom prst="rect">
            <a:avLst/>
          </a:prstGeom>
          <a:noFill/>
          <a:ln/>
        </p:spPr>
        <p:txBody>
          <a:bodyPr wrap="square" lIns="0" tIns="0" rIns="0" bIns="0" rtlCol="0" anchor="ctr"/>
          <a:lstStyle/>
          <a:p>
            <a:pPr algn="l" indent="0" marL="0">
              <a:buNone/>
            </a:pPr>
            <a:r>
              <a:rPr lang="en-US" sz="1400" i="1" dirty="0">
                <a:solidFill>
                  <a:srgbClr val="CDDCEB"/>
                </a:solidFill>
              </a:rPr>
              <a:t>From the logical data hierarchy and database structures to data warehousing, mining, and the DBMS.</a:t>
            </a:r>
            <a:endParaRPr lang="en-US" sz="1400" dirty="0"/>
          </a:p>
        </p:txBody>
      </p:sp>
      <p:sp>
        <p:nvSpPr>
          <p:cNvPr id="11" name="Shape 8"/>
          <p:cNvSpPr/>
          <p:nvPr/>
        </p:nvSpPr>
        <p:spPr>
          <a:xfrm>
            <a:off x="822960" y="5349240"/>
            <a:ext cx="54864" cy="960120"/>
          </a:xfrm>
          <a:prstGeom prst="rect">
            <a:avLst/>
          </a:prstGeom>
          <a:solidFill>
            <a:srgbClr val="F2B705"/>
          </a:solidFill>
          <a:ln/>
        </p:spPr>
      </p:sp>
      <p:sp>
        <p:nvSpPr>
          <p:cNvPr id="12" name="Text 9"/>
          <p:cNvSpPr/>
          <p:nvPr/>
        </p:nvSpPr>
        <p:spPr>
          <a:xfrm>
            <a:off x="1051560" y="5321808"/>
            <a:ext cx="10058400" cy="310896"/>
          </a:xfrm>
          <a:prstGeom prst="rect">
            <a:avLst/>
          </a:prstGeom>
          <a:noFill/>
          <a:ln/>
        </p:spPr>
        <p:txBody>
          <a:bodyPr wrap="square" lIns="0" tIns="0" rIns="0" bIns="0" rtlCol="0" anchor="ctr"/>
          <a:lstStyle/>
          <a:p>
            <a:pPr algn="l" indent="0" marL="0">
              <a:buNone/>
            </a:pPr>
            <a:r>
              <a:rPr lang="en-US" sz="1300" b="1" dirty="0">
                <a:solidFill>
                  <a:srgbClr val="F8D374"/>
                </a:solidFill>
              </a:rPr>
              <a:t>Prepared by:  </a:t>
            </a:r>
            <a:pPr algn="l" indent="0" marL="0">
              <a:buNone/>
            </a:pPr>
            <a:r>
              <a:rPr lang="en-US" sz="1300" dirty="0">
                <a:solidFill>
                  <a:srgbClr val="FFFFFF"/>
                </a:solidFill>
              </a:rPr>
              <a:t>Ahmed Awad   |   Tariq Salama   |   Ahmed Sabri   |   Mahmoud El-Serwy</a:t>
            </a:r>
            <a:endParaRPr lang="en-US" sz="1300" dirty="0"/>
          </a:p>
        </p:txBody>
      </p:sp>
      <p:sp>
        <p:nvSpPr>
          <p:cNvPr id="13" name="Text 10"/>
          <p:cNvSpPr/>
          <p:nvPr/>
        </p:nvSpPr>
        <p:spPr>
          <a:xfrm>
            <a:off x="1051560" y="5650992"/>
            <a:ext cx="10058400" cy="310896"/>
          </a:xfrm>
          <a:prstGeom prst="rect">
            <a:avLst/>
          </a:prstGeom>
          <a:noFill/>
          <a:ln/>
        </p:spPr>
        <p:txBody>
          <a:bodyPr wrap="square" lIns="0" tIns="0" rIns="0" bIns="0" rtlCol="0" anchor="ctr"/>
          <a:lstStyle/>
          <a:p>
            <a:pPr algn="l" indent="0" marL="0">
              <a:buNone/>
            </a:pPr>
            <a:r>
              <a:rPr lang="en-US" sz="1300" b="1" dirty="0">
                <a:solidFill>
                  <a:srgbClr val="F8D374"/>
                </a:solidFill>
              </a:rPr>
              <a:t>Instructor:  </a:t>
            </a:r>
            <a:pPr algn="l" indent="0" marL="0">
              <a:buNone/>
            </a:pPr>
            <a:r>
              <a:rPr lang="en-US" sz="1300" dirty="0">
                <a:solidFill>
                  <a:srgbClr val="CDDCEB"/>
                </a:solidFill>
              </a:rPr>
              <a:t>Dr. Ghada</a:t>
            </a:r>
            <a:endParaRPr lang="en-US" sz="1300" dirty="0"/>
          </a:p>
        </p:txBody>
      </p:sp>
      <p:sp>
        <p:nvSpPr>
          <p:cNvPr id="14" name="Text 11"/>
          <p:cNvSpPr/>
          <p:nvPr/>
        </p:nvSpPr>
        <p:spPr>
          <a:xfrm>
            <a:off x="1051560" y="5961888"/>
            <a:ext cx="10058400" cy="310896"/>
          </a:xfrm>
          <a:prstGeom prst="rect">
            <a:avLst/>
          </a:prstGeom>
          <a:noFill/>
          <a:ln/>
        </p:spPr>
        <p:txBody>
          <a:bodyPr wrap="square" lIns="0" tIns="0" rIns="0" bIns="0" rtlCol="0" anchor="ctr"/>
          <a:lstStyle/>
          <a:p>
            <a:pPr algn="l" indent="0" marL="0">
              <a:buNone/>
            </a:pPr>
            <a:r>
              <a:rPr lang="en-US" sz="1300" b="1" dirty="0">
                <a:solidFill>
                  <a:srgbClr val="F8D374"/>
                </a:solidFill>
              </a:rPr>
              <a:t>Date:  </a:t>
            </a:r>
            <a:pPr algn="l" indent="0" marL="0">
              <a:buNone/>
            </a:pPr>
            <a:r>
              <a:rPr lang="en-US" sz="1300" dirty="0">
                <a:solidFill>
                  <a:srgbClr val="CDDCEB"/>
                </a:solidFill>
              </a:rPr>
              <a:t>10-06-2026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4" name="Text 2"/>
          <p:cNvSpPr/>
          <p:nvPr/>
        </p:nvSpPr>
        <p:spPr>
          <a:xfrm>
            <a:off x="1298448" y="365760"/>
            <a:ext cx="10332720" cy="658368"/>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Agenda &amp; Learning Objectives</a:t>
            </a:r>
            <a:endParaRPr lang="en-US" sz="2800" dirty="0"/>
          </a:p>
        </p:txBody>
      </p:sp>
      <p:sp>
        <p:nvSpPr>
          <p:cNvPr id="5" name="Text 3"/>
          <p:cNvSpPr/>
          <p:nvPr/>
        </p:nvSpPr>
        <p:spPr>
          <a:xfrm>
            <a:off x="457200" y="1170432"/>
            <a:ext cx="11247120" cy="365760"/>
          </a:xfrm>
          <a:prstGeom prst="rect">
            <a:avLst/>
          </a:prstGeom>
          <a:noFill/>
          <a:ln/>
        </p:spPr>
        <p:txBody>
          <a:bodyPr wrap="square" lIns="0" tIns="0" rIns="0" bIns="0" rtlCol="0" anchor="ctr"/>
          <a:lstStyle/>
          <a:p>
            <a:pPr algn="l" indent="0" marL="0">
              <a:buNone/>
            </a:pPr>
            <a:r>
              <a:rPr lang="en-US" sz="1450" dirty="0">
                <a:solidFill>
                  <a:srgbClr val="13283F"/>
                </a:solidFill>
              </a:rPr>
              <a:t>What this chapter teaches and how today's session is organized.</a:t>
            </a:r>
            <a:endParaRPr lang="en-US" sz="1450" dirty="0"/>
          </a:p>
        </p:txBody>
      </p:sp>
      <p:sp>
        <p:nvSpPr>
          <p:cNvPr id="6" name="Shape 4"/>
          <p:cNvSpPr/>
          <p:nvPr/>
        </p:nvSpPr>
        <p:spPr>
          <a:xfrm>
            <a:off x="457200" y="1691640"/>
            <a:ext cx="5532120" cy="4480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691640"/>
            <a:ext cx="5532120" cy="566928"/>
          </a:xfrm>
          <a:prstGeom prst="rect">
            <a:avLst/>
          </a:prstGeom>
          <a:solidFill>
            <a:srgbClr val="1565C0"/>
          </a:solidFill>
          <a:ln/>
        </p:spPr>
      </p:sp>
      <p:sp>
        <p:nvSpPr>
          <p:cNvPr id="8" name="Text 6"/>
          <p:cNvSpPr/>
          <p:nvPr/>
        </p:nvSpPr>
        <p:spPr>
          <a:xfrm>
            <a:off x="685800" y="1691640"/>
            <a:ext cx="5120640" cy="566928"/>
          </a:xfrm>
          <a:prstGeom prst="rect">
            <a:avLst/>
          </a:prstGeom>
          <a:noFill/>
          <a:ln/>
        </p:spPr>
        <p:txBody>
          <a:bodyPr wrap="square" lIns="0" tIns="0" rIns="0" bIns="0" rtlCol="0" anchor="ctr"/>
          <a:lstStyle/>
          <a:p>
            <a:pPr indent="0" marL="0">
              <a:buNone/>
            </a:pPr>
            <a:r>
              <a:rPr lang="en-US" sz="1600" b="1" dirty="0">
                <a:solidFill>
                  <a:srgbClr val="FFFFFF"/>
                </a:solidFill>
              </a:rPr>
              <a:t>Learning Objectives</a:t>
            </a:r>
            <a:endParaRPr lang="en-US" sz="1600" dirty="0"/>
          </a:p>
        </p:txBody>
      </p:sp>
      <p:sp>
        <p:nvSpPr>
          <p:cNvPr id="9" name="Text 7"/>
          <p:cNvSpPr/>
          <p:nvPr/>
        </p:nvSpPr>
        <p:spPr>
          <a:xfrm>
            <a:off x="731520" y="2423160"/>
            <a:ext cx="5029200" cy="3611880"/>
          </a:xfrm>
          <a:prstGeom prst="rect">
            <a:avLst/>
          </a:prstGeom>
          <a:noFill/>
          <a:ln/>
        </p:spPr>
        <p:txBody>
          <a:bodyPr wrap="square" lIns="0" tIns="0" rIns="0" bIns="0" rtlCol="0" anchor="t"/>
          <a:lstStyle/>
          <a:p>
            <a:pPr algn="l" marL="177800" indent="-177800">
              <a:lnSpc>
                <a:spcPct val="102000"/>
              </a:lnSpc>
              <a:spcAft>
                <a:spcPts val="800"/>
              </a:spcAft>
              <a:buSzPct val="100000"/>
              <a:buChar char="•"/>
            </a:pPr>
            <a:r>
              <a:rPr lang="en-US" sz="1250" dirty="0">
                <a:solidFill>
                  <a:srgbClr val="13283F"/>
                </a:solidFill>
              </a:rPr>
              <a:t>Explain the business value of data resource management</a:t>
            </a:r>
            <a:endParaRPr lang="en-US" sz="1250" dirty="0"/>
          </a:p>
          <a:p>
            <a:pPr algn="l" marL="177800" indent="-177800">
              <a:lnSpc>
                <a:spcPct val="102000"/>
              </a:lnSpc>
              <a:spcAft>
                <a:spcPts val="800"/>
              </a:spcAft>
              <a:buSzPct val="100000"/>
              <a:buChar char="•"/>
            </a:pPr>
            <a:r>
              <a:rPr lang="en-US" sz="1250" dirty="0">
                <a:solidFill>
                  <a:srgbClr val="13283F"/>
                </a:solidFill>
              </a:rPr>
              <a:t>Compare the database approach with traditional file processing</a:t>
            </a:r>
            <a:endParaRPr lang="en-US" sz="1250" dirty="0"/>
          </a:p>
          <a:p>
            <a:pPr algn="l" marL="177800" indent="-177800">
              <a:lnSpc>
                <a:spcPct val="102000"/>
              </a:lnSpc>
              <a:spcAft>
                <a:spcPts val="800"/>
              </a:spcAft>
              <a:buSzPct val="100000"/>
              <a:buChar char="•"/>
            </a:pPr>
            <a:r>
              <a:rPr lang="en-US" sz="1250" dirty="0">
                <a:solidFill>
                  <a:srgbClr val="13283F"/>
                </a:solidFill>
              </a:rPr>
              <a:t>Show how a DBMS supports business operations and management</a:t>
            </a:r>
            <a:endParaRPr lang="en-US" sz="1250" dirty="0"/>
          </a:p>
          <a:p>
            <a:pPr algn="l" marL="177800" indent="-177800">
              <a:lnSpc>
                <a:spcPct val="102000"/>
              </a:lnSpc>
              <a:spcAft>
                <a:spcPts val="800"/>
              </a:spcAft>
              <a:buSzPct val="100000"/>
              <a:buChar char="•"/>
            </a:pPr>
            <a:r>
              <a:rPr lang="en-US" sz="1250" dirty="0">
                <a:solidFill>
                  <a:srgbClr val="13283F"/>
                </a:solidFill>
              </a:rPr>
              <a:t>Describe the major types of databases</a:t>
            </a:r>
            <a:endParaRPr lang="en-US" sz="1250" dirty="0"/>
          </a:p>
          <a:p>
            <a:pPr algn="l" marL="177800" indent="-177800">
              <a:lnSpc>
                <a:spcPct val="102000"/>
              </a:lnSpc>
              <a:spcAft>
                <a:spcPts val="800"/>
              </a:spcAft>
              <a:buSzPct val="100000"/>
              <a:buChar char="•"/>
            </a:pPr>
            <a:r>
              <a:rPr lang="en-US" sz="1250" dirty="0">
                <a:solidFill>
                  <a:srgbClr val="13283F"/>
                </a:solidFill>
              </a:rPr>
              <a:t>Explain data warehouses and data mining</a:t>
            </a:r>
            <a:endParaRPr lang="en-US" sz="1250" dirty="0"/>
          </a:p>
          <a:p>
            <a:pPr algn="l" marL="177800" indent="-177800">
              <a:lnSpc>
                <a:spcPct val="102000"/>
              </a:lnSpc>
              <a:spcAft>
                <a:spcPts val="800"/>
              </a:spcAft>
              <a:buSzPct val="100000"/>
              <a:buChar char="•"/>
            </a:pPr>
            <a:r>
              <a:rPr lang="en-US" sz="1250" dirty="0">
                <a:solidFill>
                  <a:srgbClr val="13283F"/>
                </a:solidFill>
              </a:rPr>
              <a:t>Outline logical data elements and database structures</a:t>
            </a:r>
            <a:endParaRPr lang="en-US" sz="1250" dirty="0"/>
          </a:p>
          <a:p>
            <a:pPr algn="l" marL="177800" indent="-177800">
              <a:lnSpc>
                <a:spcPct val="102000"/>
              </a:lnSpc>
              <a:spcAft>
                <a:spcPts val="800"/>
              </a:spcAft>
              <a:buSzPct val="100000"/>
              <a:buChar char="•"/>
            </a:pPr>
            <a:r>
              <a:rPr lang="en-US" sz="1250" dirty="0">
                <a:solidFill>
                  <a:srgbClr val="13283F"/>
                </a:solidFill>
              </a:rPr>
              <a:t>Describe how databases are developed</a:t>
            </a:r>
            <a:endParaRPr lang="en-US" sz="1250" dirty="0"/>
          </a:p>
        </p:txBody>
      </p:sp>
      <p:sp>
        <p:nvSpPr>
          <p:cNvPr id="10" name="Shape 8"/>
          <p:cNvSpPr/>
          <p:nvPr/>
        </p:nvSpPr>
        <p:spPr>
          <a:xfrm>
            <a:off x="6263640" y="1691640"/>
            <a:ext cx="5440680" cy="4480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1" name="Shape 9"/>
          <p:cNvSpPr/>
          <p:nvPr/>
        </p:nvSpPr>
        <p:spPr>
          <a:xfrm>
            <a:off x="6263640" y="1691640"/>
            <a:ext cx="5440680" cy="566928"/>
          </a:xfrm>
          <a:prstGeom prst="rect">
            <a:avLst/>
          </a:prstGeom>
          <a:solidFill>
            <a:srgbClr val="0E2A47"/>
          </a:solidFill>
          <a:ln/>
        </p:spPr>
      </p:sp>
      <p:sp>
        <p:nvSpPr>
          <p:cNvPr id="12" name="Text 10"/>
          <p:cNvSpPr/>
          <p:nvPr/>
        </p:nvSpPr>
        <p:spPr>
          <a:xfrm>
            <a:off x="6492240" y="1691640"/>
            <a:ext cx="5120640" cy="566928"/>
          </a:xfrm>
          <a:prstGeom prst="rect">
            <a:avLst/>
          </a:prstGeom>
          <a:noFill/>
          <a:ln/>
        </p:spPr>
        <p:txBody>
          <a:bodyPr wrap="square" lIns="0" tIns="0" rIns="0" bIns="0" rtlCol="0" anchor="ctr"/>
          <a:lstStyle/>
          <a:p>
            <a:pPr indent="0" marL="0">
              <a:buNone/>
            </a:pPr>
            <a:r>
              <a:rPr lang="en-US" sz="1600" b="1" dirty="0">
                <a:solidFill>
                  <a:srgbClr val="FFFFFF"/>
                </a:solidFill>
              </a:rPr>
              <a:t>Today's Roadmap</a:t>
            </a:r>
            <a:endParaRPr lang="en-US" sz="1600" dirty="0"/>
          </a:p>
        </p:txBody>
      </p:sp>
      <p:sp>
        <p:nvSpPr>
          <p:cNvPr id="13" name="Shape 11"/>
          <p:cNvSpPr/>
          <p:nvPr/>
        </p:nvSpPr>
        <p:spPr>
          <a:xfrm>
            <a:off x="6492240" y="2395728"/>
            <a:ext cx="475488" cy="475488"/>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4" name="Image 0" descr="preencoded.png">    </p:cNvPr>
          <p:cNvPicPr>
            <a:picLocks noChangeAspect="1"/>
          </p:cNvPicPr>
          <p:nvPr/>
        </p:nvPicPr>
        <p:blipFill>
          <a:blip r:embed="rId1"/>
          <a:stretch>
            <a:fillRect/>
          </a:stretch>
        </p:blipFill>
        <p:spPr>
          <a:xfrm>
            <a:off x="6611112" y="2514600"/>
            <a:ext cx="237744" cy="237744"/>
          </a:xfrm>
          <a:prstGeom prst="rect">
            <a:avLst/>
          </a:prstGeom>
        </p:spPr>
      </p:pic>
      <p:sp>
        <p:nvSpPr>
          <p:cNvPr id="15" name="Text 12"/>
          <p:cNvSpPr/>
          <p:nvPr/>
        </p:nvSpPr>
        <p:spPr>
          <a:xfrm>
            <a:off x="6492240" y="2395728"/>
            <a:ext cx="475488" cy="475488"/>
          </a:xfrm>
          <a:prstGeom prst="rect">
            <a:avLst/>
          </a:prstGeom>
          <a:noFill/>
          <a:ln/>
        </p:spPr>
        <p:txBody>
          <a:bodyPr wrap="square" lIns="0" tIns="0" rIns="0" bIns="0" rtlCol="0" anchor="ctr"/>
          <a:lstStyle/>
          <a:p>
            <a:pPr algn="ctr" indent="0" marL="0">
              <a:buNone/>
            </a:pPr>
            <a:r>
              <a:rPr lang="en-US" sz="1800" b="1" dirty="0">
                <a:solidFill>
                  <a:srgbClr val="0E2A47"/>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7114032" y="2359152"/>
            <a:ext cx="4480560" cy="292608"/>
          </a:xfrm>
          <a:prstGeom prst="rect">
            <a:avLst/>
          </a:prstGeom>
          <a:noFill/>
          <a:ln/>
        </p:spPr>
        <p:txBody>
          <a:bodyPr wrap="square" lIns="0" tIns="0" rIns="0" bIns="0" rtlCol="0" anchor="ctr"/>
          <a:lstStyle/>
          <a:p>
            <a:pPr indent="0" marL="0">
              <a:buNone/>
            </a:pPr>
            <a:r>
              <a:rPr lang="en-US" sz="1350" b="1" dirty="0">
                <a:solidFill>
                  <a:srgbClr val="0D3D78"/>
                </a:solidFill>
              </a:rPr>
              <a:t>Foundations</a:t>
            </a:r>
            <a:endParaRPr lang="en-US" sz="1350" dirty="0"/>
          </a:p>
        </p:txBody>
      </p:sp>
      <p:sp>
        <p:nvSpPr>
          <p:cNvPr id="17" name="Text 14"/>
          <p:cNvSpPr/>
          <p:nvPr/>
        </p:nvSpPr>
        <p:spPr>
          <a:xfrm>
            <a:off x="7114032" y="2642616"/>
            <a:ext cx="4480560" cy="274320"/>
          </a:xfrm>
          <a:prstGeom prst="rect">
            <a:avLst/>
          </a:prstGeom>
          <a:noFill/>
          <a:ln/>
        </p:spPr>
        <p:txBody>
          <a:bodyPr wrap="square" lIns="0" tIns="0" rIns="0" bIns="0" rtlCol="0" anchor="ctr"/>
          <a:lstStyle/>
          <a:p>
            <a:pPr indent="0" marL="0">
              <a:buNone/>
            </a:pPr>
            <a:r>
              <a:rPr lang="en-US" sz="1050" dirty="0">
                <a:solidFill>
                  <a:srgbClr val="566779"/>
                </a:solidFill>
              </a:rPr>
              <a:t>Why data matters + the logical data hierarchy</a:t>
            </a:r>
            <a:endParaRPr lang="en-US" sz="1050" dirty="0"/>
          </a:p>
        </p:txBody>
      </p:sp>
      <p:sp>
        <p:nvSpPr>
          <p:cNvPr id="18" name="Shape 15"/>
          <p:cNvSpPr/>
          <p:nvPr/>
        </p:nvSpPr>
        <p:spPr>
          <a:xfrm>
            <a:off x="6492240" y="3127248"/>
            <a:ext cx="475488" cy="475488"/>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6611112" y="3246120"/>
            <a:ext cx="237744" cy="237744"/>
          </a:xfrm>
          <a:prstGeom prst="rect">
            <a:avLst/>
          </a:prstGeom>
        </p:spPr>
      </p:pic>
      <p:sp>
        <p:nvSpPr>
          <p:cNvPr id="20" name="Text 16"/>
          <p:cNvSpPr/>
          <p:nvPr/>
        </p:nvSpPr>
        <p:spPr>
          <a:xfrm>
            <a:off x="6492240" y="3127248"/>
            <a:ext cx="475488" cy="475488"/>
          </a:xfrm>
          <a:prstGeom prst="rect">
            <a:avLst/>
          </a:prstGeom>
          <a:noFill/>
          <a:ln/>
        </p:spPr>
        <p:txBody>
          <a:bodyPr wrap="square" lIns="0" tIns="0" rIns="0" bIns="0" rtlCol="0" anchor="ctr"/>
          <a:lstStyle/>
          <a:p>
            <a:pPr algn="ctr" indent="0" marL="0">
              <a:buNone/>
            </a:pPr>
            <a:r>
              <a:rPr lang="en-US" sz="1800" b="1" dirty="0">
                <a:solidFill>
                  <a:srgbClr val="0E2A47"/>
                </a:solidFill>
                <a:latin typeface="Georgia" pitchFamily="34" charset="0"/>
                <a:ea typeface="Georgia" pitchFamily="34" charset="-122"/>
                <a:cs typeface="Georgia" pitchFamily="34" charset="-120"/>
              </a:rPr>
              <a:t>2</a:t>
            </a:r>
            <a:endParaRPr lang="en-US" sz="1800" dirty="0"/>
          </a:p>
        </p:txBody>
      </p:sp>
      <p:sp>
        <p:nvSpPr>
          <p:cNvPr id="21" name="Text 17"/>
          <p:cNvSpPr/>
          <p:nvPr/>
        </p:nvSpPr>
        <p:spPr>
          <a:xfrm>
            <a:off x="7114032" y="3090672"/>
            <a:ext cx="4480560" cy="292608"/>
          </a:xfrm>
          <a:prstGeom prst="rect">
            <a:avLst/>
          </a:prstGeom>
          <a:noFill/>
          <a:ln/>
        </p:spPr>
        <p:txBody>
          <a:bodyPr wrap="square" lIns="0" tIns="0" rIns="0" bIns="0" rtlCol="0" anchor="ctr"/>
          <a:lstStyle/>
          <a:p>
            <a:pPr indent="0" marL="0">
              <a:buNone/>
            </a:pPr>
            <a:r>
              <a:rPr lang="en-US" sz="1350" b="1" dirty="0">
                <a:solidFill>
                  <a:srgbClr val="0D3D78"/>
                </a:solidFill>
              </a:rPr>
              <a:t>Approaches &amp; the DBMS</a:t>
            </a:r>
            <a:endParaRPr lang="en-US" sz="1350" dirty="0"/>
          </a:p>
        </p:txBody>
      </p:sp>
      <p:sp>
        <p:nvSpPr>
          <p:cNvPr id="22" name="Text 18"/>
          <p:cNvSpPr/>
          <p:nvPr/>
        </p:nvSpPr>
        <p:spPr>
          <a:xfrm>
            <a:off x="7114032" y="3374136"/>
            <a:ext cx="4480560" cy="274320"/>
          </a:xfrm>
          <a:prstGeom prst="rect">
            <a:avLst/>
          </a:prstGeom>
          <a:noFill/>
          <a:ln/>
        </p:spPr>
        <p:txBody>
          <a:bodyPr wrap="square" lIns="0" tIns="0" rIns="0" bIns="0" rtlCol="0" anchor="ctr"/>
          <a:lstStyle/>
          <a:p>
            <a:pPr indent="0" marL="0">
              <a:buNone/>
            </a:pPr>
            <a:r>
              <a:rPr lang="en-US" sz="1050" dirty="0">
                <a:solidFill>
                  <a:srgbClr val="566779"/>
                </a:solidFill>
              </a:rPr>
              <a:t>File processing vs the database approach</a:t>
            </a:r>
            <a:endParaRPr lang="en-US" sz="1050" dirty="0"/>
          </a:p>
        </p:txBody>
      </p:sp>
      <p:sp>
        <p:nvSpPr>
          <p:cNvPr id="23" name="Shape 19"/>
          <p:cNvSpPr/>
          <p:nvPr/>
        </p:nvSpPr>
        <p:spPr>
          <a:xfrm>
            <a:off x="6492240" y="3858768"/>
            <a:ext cx="475488" cy="475488"/>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24" name="Image 2" descr="preencoded.png">    </p:cNvPr>
          <p:cNvPicPr>
            <a:picLocks noChangeAspect="1"/>
          </p:cNvPicPr>
          <p:nvPr/>
        </p:nvPicPr>
        <p:blipFill>
          <a:blip r:embed="rId3"/>
          <a:stretch>
            <a:fillRect/>
          </a:stretch>
        </p:blipFill>
        <p:spPr>
          <a:xfrm>
            <a:off x="6611112" y="3977640"/>
            <a:ext cx="237744" cy="237744"/>
          </a:xfrm>
          <a:prstGeom prst="rect">
            <a:avLst/>
          </a:prstGeom>
        </p:spPr>
      </p:pic>
      <p:sp>
        <p:nvSpPr>
          <p:cNvPr id="25" name="Text 20"/>
          <p:cNvSpPr/>
          <p:nvPr/>
        </p:nvSpPr>
        <p:spPr>
          <a:xfrm>
            <a:off x="6492240" y="3858768"/>
            <a:ext cx="475488" cy="475488"/>
          </a:xfrm>
          <a:prstGeom prst="rect">
            <a:avLst/>
          </a:prstGeom>
          <a:noFill/>
          <a:ln/>
        </p:spPr>
        <p:txBody>
          <a:bodyPr wrap="square" lIns="0" tIns="0" rIns="0" bIns="0" rtlCol="0" anchor="ctr"/>
          <a:lstStyle/>
          <a:p>
            <a:pPr algn="ctr" indent="0" marL="0">
              <a:buNone/>
            </a:pPr>
            <a:r>
              <a:rPr lang="en-US" sz="1800" b="1" dirty="0">
                <a:solidFill>
                  <a:srgbClr val="0E2A47"/>
                </a:solidFill>
                <a:latin typeface="Georgia" pitchFamily="34" charset="0"/>
                <a:ea typeface="Georgia" pitchFamily="34" charset="-122"/>
                <a:cs typeface="Georgia" pitchFamily="34" charset="-120"/>
              </a:rPr>
              <a:t>3</a:t>
            </a:r>
            <a:endParaRPr lang="en-US" sz="1800" dirty="0"/>
          </a:p>
        </p:txBody>
      </p:sp>
      <p:sp>
        <p:nvSpPr>
          <p:cNvPr id="26" name="Text 21"/>
          <p:cNvSpPr/>
          <p:nvPr/>
        </p:nvSpPr>
        <p:spPr>
          <a:xfrm>
            <a:off x="7114032" y="3822192"/>
            <a:ext cx="4480560" cy="292608"/>
          </a:xfrm>
          <a:prstGeom prst="rect">
            <a:avLst/>
          </a:prstGeom>
          <a:noFill/>
          <a:ln/>
        </p:spPr>
        <p:txBody>
          <a:bodyPr wrap="square" lIns="0" tIns="0" rIns="0" bIns="0" rtlCol="0" anchor="ctr"/>
          <a:lstStyle/>
          <a:p>
            <a:pPr indent="0" marL="0">
              <a:buNone/>
            </a:pPr>
            <a:r>
              <a:rPr lang="en-US" sz="1350" b="1" dirty="0">
                <a:solidFill>
                  <a:srgbClr val="0D3D78"/>
                </a:solidFill>
              </a:rPr>
              <a:t>Structures</a:t>
            </a:r>
            <a:endParaRPr lang="en-US" sz="1350" dirty="0"/>
          </a:p>
        </p:txBody>
      </p:sp>
      <p:sp>
        <p:nvSpPr>
          <p:cNvPr id="27" name="Text 22"/>
          <p:cNvSpPr/>
          <p:nvPr/>
        </p:nvSpPr>
        <p:spPr>
          <a:xfrm>
            <a:off x="7114032" y="4105656"/>
            <a:ext cx="4480560" cy="274320"/>
          </a:xfrm>
          <a:prstGeom prst="rect">
            <a:avLst/>
          </a:prstGeom>
          <a:noFill/>
          <a:ln/>
        </p:spPr>
        <p:txBody>
          <a:bodyPr wrap="square" lIns="0" tIns="0" rIns="0" bIns="0" rtlCol="0" anchor="ctr"/>
          <a:lstStyle/>
          <a:p>
            <a:pPr indent="0" marL="0">
              <a:buNone/>
            </a:pPr>
            <a:r>
              <a:rPr lang="en-US" sz="1050" dirty="0">
                <a:solidFill>
                  <a:srgbClr val="566779"/>
                </a:solidFill>
              </a:rPr>
              <a:t>Hierarchical, network, relational, OLAP, object</a:t>
            </a:r>
            <a:endParaRPr lang="en-US" sz="1050" dirty="0"/>
          </a:p>
        </p:txBody>
      </p:sp>
      <p:sp>
        <p:nvSpPr>
          <p:cNvPr id="28" name="Shape 23"/>
          <p:cNvSpPr/>
          <p:nvPr/>
        </p:nvSpPr>
        <p:spPr>
          <a:xfrm>
            <a:off x="6492240" y="4590288"/>
            <a:ext cx="475488" cy="475488"/>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29" name="Image 3" descr="preencoded.png">    </p:cNvPr>
          <p:cNvPicPr>
            <a:picLocks noChangeAspect="1"/>
          </p:cNvPicPr>
          <p:nvPr/>
        </p:nvPicPr>
        <p:blipFill>
          <a:blip r:embed="rId4"/>
          <a:stretch>
            <a:fillRect/>
          </a:stretch>
        </p:blipFill>
        <p:spPr>
          <a:xfrm>
            <a:off x="6611112" y="4709160"/>
            <a:ext cx="237744" cy="237744"/>
          </a:xfrm>
          <a:prstGeom prst="rect">
            <a:avLst/>
          </a:prstGeom>
        </p:spPr>
      </p:pic>
      <p:sp>
        <p:nvSpPr>
          <p:cNvPr id="30" name="Text 24"/>
          <p:cNvSpPr/>
          <p:nvPr/>
        </p:nvSpPr>
        <p:spPr>
          <a:xfrm>
            <a:off x="6492240" y="4590288"/>
            <a:ext cx="475488" cy="475488"/>
          </a:xfrm>
          <a:prstGeom prst="rect">
            <a:avLst/>
          </a:prstGeom>
          <a:noFill/>
          <a:ln/>
        </p:spPr>
        <p:txBody>
          <a:bodyPr wrap="square" lIns="0" tIns="0" rIns="0" bIns="0" rtlCol="0" anchor="ctr"/>
          <a:lstStyle/>
          <a:p>
            <a:pPr algn="ctr" indent="0" marL="0">
              <a:buNone/>
            </a:pPr>
            <a:r>
              <a:rPr lang="en-US" sz="1800" b="1" dirty="0">
                <a:solidFill>
                  <a:srgbClr val="0E2A47"/>
                </a:solidFill>
                <a:latin typeface="Georgia" pitchFamily="34" charset="0"/>
                <a:ea typeface="Georgia" pitchFamily="34" charset="-122"/>
                <a:cs typeface="Georgia" pitchFamily="34" charset="-120"/>
              </a:rPr>
              <a:t>4</a:t>
            </a:r>
            <a:endParaRPr lang="en-US" sz="1800" dirty="0"/>
          </a:p>
        </p:txBody>
      </p:sp>
      <p:sp>
        <p:nvSpPr>
          <p:cNvPr id="31" name="Text 25"/>
          <p:cNvSpPr/>
          <p:nvPr/>
        </p:nvSpPr>
        <p:spPr>
          <a:xfrm>
            <a:off x="7114032" y="4553712"/>
            <a:ext cx="4480560" cy="292608"/>
          </a:xfrm>
          <a:prstGeom prst="rect">
            <a:avLst/>
          </a:prstGeom>
          <a:noFill/>
          <a:ln/>
        </p:spPr>
        <p:txBody>
          <a:bodyPr wrap="square" lIns="0" tIns="0" rIns="0" bIns="0" rtlCol="0" anchor="ctr"/>
          <a:lstStyle/>
          <a:p>
            <a:pPr indent="0" marL="0">
              <a:buNone/>
            </a:pPr>
            <a:r>
              <a:rPr lang="en-US" sz="1350" b="1" dirty="0">
                <a:solidFill>
                  <a:srgbClr val="0D3D78"/>
                </a:solidFill>
              </a:rPr>
              <a:t>Types of databases</a:t>
            </a:r>
            <a:endParaRPr lang="en-US" sz="1350" dirty="0"/>
          </a:p>
        </p:txBody>
      </p:sp>
      <p:sp>
        <p:nvSpPr>
          <p:cNvPr id="32" name="Text 26"/>
          <p:cNvSpPr/>
          <p:nvPr/>
        </p:nvSpPr>
        <p:spPr>
          <a:xfrm>
            <a:off x="7114032" y="4837176"/>
            <a:ext cx="4480560" cy="274320"/>
          </a:xfrm>
          <a:prstGeom prst="rect">
            <a:avLst/>
          </a:prstGeom>
          <a:noFill/>
          <a:ln/>
        </p:spPr>
        <p:txBody>
          <a:bodyPr wrap="square" lIns="0" tIns="0" rIns="0" bIns="0" rtlCol="0" anchor="ctr"/>
          <a:lstStyle/>
          <a:p>
            <a:pPr indent="0" marL="0">
              <a:buNone/>
            </a:pPr>
            <a:r>
              <a:rPr lang="en-US" sz="1050" dirty="0">
                <a:solidFill>
                  <a:srgbClr val="566779"/>
                </a:solidFill>
              </a:rPr>
              <a:t>Operational, distributed, external, warehouses</a:t>
            </a:r>
            <a:endParaRPr lang="en-US" sz="1050" dirty="0"/>
          </a:p>
        </p:txBody>
      </p:sp>
      <p:sp>
        <p:nvSpPr>
          <p:cNvPr id="33" name="Shape 27"/>
          <p:cNvSpPr/>
          <p:nvPr/>
        </p:nvSpPr>
        <p:spPr>
          <a:xfrm>
            <a:off x="6492240" y="5321808"/>
            <a:ext cx="475488" cy="475488"/>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34" name="Image 4" descr="preencoded.png">    </p:cNvPr>
          <p:cNvPicPr>
            <a:picLocks noChangeAspect="1"/>
          </p:cNvPicPr>
          <p:nvPr/>
        </p:nvPicPr>
        <p:blipFill>
          <a:blip r:embed="rId5"/>
          <a:stretch>
            <a:fillRect/>
          </a:stretch>
        </p:blipFill>
        <p:spPr>
          <a:xfrm>
            <a:off x="6611112" y="5440680"/>
            <a:ext cx="237744" cy="237744"/>
          </a:xfrm>
          <a:prstGeom prst="rect">
            <a:avLst/>
          </a:prstGeom>
        </p:spPr>
      </p:pic>
      <p:sp>
        <p:nvSpPr>
          <p:cNvPr id="35" name="Text 28"/>
          <p:cNvSpPr/>
          <p:nvPr/>
        </p:nvSpPr>
        <p:spPr>
          <a:xfrm>
            <a:off x="6492240" y="5321808"/>
            <a:ext cx="475488" cy="475488"/>
          </a:xfrm>
          <a:prstGeom prst="rect">
            <a:avLst/>
          </a:prstGeom>
          <a:noFill/>
          <a:ln/>
        </p:spPr>
        <p:txBody>
          <a:bodyPr wrap="square" lIns="0" tIns="0" rIns="0" bIns="0" rtlCol="0" anchor="ctr"/>
          <a:lstStyle/>
          <a:p>
            <a:pPr algn="ctr" indent="0" marL="0">
              <a:buNone/>
            </a:pPr>
            <a:r>
              <a:rPr lang="en-US" sz="1800" b="1" dirty="0">
                <a:solidFill>
                  <a:srgbClr val="0E2A47"/>
                </a:solidFill>
                <a:latin typeface="Georgia" pitchFamily="34" charset="0"/>
                <a:ea typeface="Georgia" pitchFamily="34" charset="-122"/>
                <a:cs typeface="Georgia" pitchFamily="34" charset="-120"/>
              </a:rPr>
              <a:t>5</a:t>
            </a:r>
            <a:endParaRPr lang="en-US" sz="1800" dirty="0"/>
          </a:p>
        </p:txBody>
      </p:sp>
      <p:sp>
        <p:nvSpPr>
          <p:cNvPr id="36" name="Text 29"/>
          <p:cNvSpPr/>
          <p:nvPr/>
        </p:nvSpPr>
        <p:spPr>
          <a:xfrm>
            <a:off x="7114032" y="5285232"/>
            <a:ext cx="4480560" cy="292608"/>
          </a:xfrm>
          <a:prstGeom prst="rect">
            <a:avLst/>
          </a:prstGeom>
          <a:noFill/>
          <a:ln/>
        </p:spPr>
        <p:txBody>
          <a:bodyPr wrap="square" lIns="0" tIns="0" rIns="0" bIns="0" rtlCol="0" anchor="ctr"/>
          <a:lstStyle/>
          <a:p>
            <a:pPr indent="0" marL="0">
              <a:buNone/>
            </a:pPr>
            <a:r>
              <a:rPr lang="en-US" sz="1350" b="1" dirty="0">
                <a:solidFill>
                  <a:srgbClr val="0D3D78"/>
                </a:solidFill>
              </a:rPr>
              <a:t>Using the data</a:t>
            </a:r>
            <a:endParaRPr lang="en-US" sz="1350" dirty="0"/>
          </a:p>
        </p:txBody>
      </p:sp>
      <p:sp>
        <p:nvSpPr>
          <p:cNvPr id="37" name="Text 30"/>
          <p:cNvSpPr/>
          <p:nvPr/>
        </p:nvSpPr>
        <p:spPr>
          <a:xfrm>
            <a:off x="7114032" y="5568696"/>
            <a:ext cx="4480560" cy="274320"/>
          </a:xfrm>
          <a:prstGeom prst="rect">
            <a:avLst/>
          </a:prstGeom>
          <a:noFill/>
          <a:ln/>
        </p:spPr>
        <p:txBody>
          <a:bodyPr wrap="square" lIns="0" tIns="0" rIns="0" bIns="0" rtlCol="0" anchor="ctr"/>
          <a:lstStyle/>
          <a:p>
            <a:pPr indent="0" marL="0">
              <a:buNone/>
            </a:pPr>
            <a:r>
              <a:rPr lang="en-US" sz="1050" dirty="0">
                <a:solidFill>
                  <a:srgbClr val="566779"/>
                </a:solidFill>
              </a:rPr>
              <a:t>Data mining, interrogation (SQL), a real case</a:t>
            </a:r>
            <a:endParaRPr lang="en-US" sz="1050" dirty="0"/>
          </a:p>
        </p:txBody>
      </p:sp>
      <p:sp>
        <p:nvSpPr>
          <p:cNvPr id="38" name="Shape 31"/>
          <p:cNvSpPr/>
          <p:nvPr/>
        </p:nvSpPr>
        <p:spPr>
          <a:xfrm>
            <a:off x="0" y="6547104"/>
            <a:ext cx="12161520" cy="310896"/>
          </a:xfrm>
          <a:prstGeom prst="rect">
            <a:avLst/>
          </a:prstGeom>
          <a:solidFill>
            <a:srgbClr val="0E2A47"/>
          </a:solidFill>
          <a:ln/>
        </p:spPr>
      </p:sp>
      <p:sp>
        <p:nvSpPr>
          <p:cNvPr id="39" name="Text 32"/>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40" name="Text 33"/>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Data as a Strategic Resource</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Why data resource management matters</a:t>
            </a:r>
            <a:endParaRPr lang="en-US" sz="1250" dirty="0"/>
          </a:p>
        </p:txBody>
      </p:sp>
      <p:sp>
        <p:nvSpPr>
          <p:cNvPr id="6" name="Text 4"/>
          <p:cNvSpPr/>
          <p:nvPr/>
        </p:nvSpPr>
        <p:spPr>
          <a:xfrm>
            <a:off x="457200" y="1280160"/>
            <a:ext cx="11247120" cy="868680"/>
          </a:xfrm>
          <a:prstGeom prst="rect">
            <a:avLst/>
          </a:prstGeom>
          <a:noFill/>
          <a:ln/>
        </p:spPr>
        <p:txBody>
          <a:bodyPr wrap="square" lIns="0" tIns="0" rIns="0" bIns="0" rtlCol="0" anchor="t"/>
          <a:lstStyle/>
          <a:p>
            <a:pPr algn="l" indent="0" marL="0">
              <a:lnSpc>
                <a:spcPct val="105000"/>
              </a:lnSpc>
              <a:buNone/>
            </a:pPr>
            <a:r>
              <a:rPr lang="en-US" sz="1450" dirty="0">
                <a:solidFill>
                  <a:srgbClr val="13283F"/>
                </a:solidFill>
              </a:rPr>
              <a:t>Data resource management is a managerial activity that applies information systems technologies, such as database management and data warehousing, to manage data as a valuable organizational resource that meets the information needs of business stakeholders.</a:t>
            </a:r>
            <a:endParaRPr lang="en-US" sz="1450" dirty="0"/>
          </a:p>
        </p:txBody>
      </p:sp>
      <p:sp>
        <p:nvSpPr>
          <p:cNvPr id="7" name="Shape 5"/>
          <p:cNvSpPr/>
          <p:nvPr/>
        </p:nvSpPr>
        <p:spPr>
          <a:xfrm>
            <a:off x="457200" y="2377440"/>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377440"/>
            <a:ext cx="82296" cy="1627632"/>
          </a:xfrm>
          <a:prstGeom prst="rect">
            <a:avLst/>
          </a:prstGeom>
          <a:solidFill>
            <a:srgbClr val="F2B705"/>
          </a:solidFill>
          <a:ln/>
        </p:spPr>
      </p:sp>
      <p:sp>
        <p:nvSpPr>
          <p:cNvPr id="9" name="Shape 7"/>
          <p:cNvSpPr/>
          <p:nvPr/>
        </p:nvSpPr>
        <p:spPr>
          <a:xfrm>
            <a:off x="713232" y="274320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930402" y="2960370"/>
            <a:ext cx="434340" cy="434340"/>
          </a:xfrm>
          <a:prstGeom prst="rect">
            <a:avLst/>
          </a:prstGeom>
        </p:spPr>
      </p:pic>
      <p:sp>
        <p:nvSpPr>
          <p:cNvPr id="11" name="Text 8"/>
          <p:cNvSpPr/>
          <p:nvPr/>
        </p:nvSpPr>
        <p:spPr>
          <a:xfrm>
            <a:off x="1737360" y="2615184"/>
            <a:ext cx="3977640" cy="411480"/>
          </a:xfrm>
          <a:prstGeom prst="rect">
            <a:avLst/>
          </a:prstGeom>
          <a:noFill/>
          <a:ln/>
        </p:spPr>
        <p:txBody>
          <a:bodyPr wrap="square" lIns="0" tIns="0" rIns="0" bIns="0" rtlCol="0" anchor="ctr"/>
          <a:lstStyle/>
          <a:p>
            <a:pPr indent="0" marL="0">
              <a:buNone/>
            </a:pPr>
            <a:r>
              <a:rPr lang="en-US" sz="1600" b="1" dirty="0">
                <a:solidFill>
                  <a:srgbClr val="0D3D78"/>
                </a:solidFill>
              </a:rPr>
              <a:t>Data is an asset</a:t>
            </a:r>
            <a:endParaRPr lang="en-US" sz="1600" dirty="0"/>
          </a:p>
        </p:txBody>
      </p:sp>
      <p:sp>
        <p:nvSpPr>
          <p:cNvPr id="12" name="Text 9"/>
          <p:cNvSpPr/>
          <p:nvPr/>
        </p:nvSpPr>
        <p:spPr>
          <a:xfrm>
            <a:off x="1737360" y="3054096"/>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Well-managed data is a competitive resource, not just a by-product of operations.</a:t>
            </a:r>
            <a:endParaRPr lang="en-US" sz="1200" dirty="0"/>
          </a:p>
        </p:txBody>
      </p:sp>
      <p:sp>
        <p:nvSpPr>
          <p:cNvPr id="13" name="Shape 10"/>
          <p:cNvSpPr/>
          <p:nvPr/>
        </p:nvSpPr>
        <p:spPr>
          <a:xfrm>
            <a:off x="6217920" y="2377440"/>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6217920" y="2377440"/>
            <a:ext cx="82296" cy="1627632"/>
          </a:xfrm>
          <a:prstGeom prst="rect">
            <a:avLst/>
          </a:prstGeom>
          <a:solidFill>
            <a:srgbClr val="F2B705"/>
          </a:solidFill>
          <a:ln/>
        </p:spPr>
      </p:sp>
      <p:sp>
        <p:nvSpPr>
          <p:cNvPr id="15" name="Shape 12"/>
          <p:cNvSpPr/>
          <p:nvPr/>
        </p:nvSpPr>
        <p:spPr>
          <a:xfrm>
            <a:off x="6473952" y="274320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6691122" y="2960370"/>
            <a:ext cx="434340" cy="434340"/>
          </a:xfrm>
          <a:prstGeom prst="rect">
            <a:avLst/>
          </a:prstGeom>
        </p:spPr>
      </p:pic>
      <p:sp>
        <p:nvSpPr>
          <p:cNvPr id="17" name="Text 13"/>
          <p:cNvSpPr/>
          <p:nvPr/>
        </p:nvSpPr>
        <p:spPr>
          <a:xfrm>
            <a:off x="7498080" y="2615184"/>
            <a:ext cx="3977640" cy="411480"/>
          </a:xfrm>
          <a:prstGeom prst="rect">
            <a:avLst/>
          </a:prstGeom>
          <a:noFill/>
          <a:ln/>
        </p:spPr>
        <p:txBody>
          <a:bodyPr wrap="square" lIns="0" tIns="0" rIns="0" bIns="0" rtlCol="0" anchor="ctr"/>
          <a:lstStyle/>
          <a:p>
            <a:pPr indent="0" marL="0">
              <a:buNone/>
            </a:pPr>
            <a:r>
              <a:rPr lang="en-US" sz="1600" b="1" dirty="0">
                <a:solidFill>
                  <a:srgbClr val="0D3D78"/>
                </a:solidFill>
              </a:rPr>
              <a:t>Better decisions</a:t>
            </a:r>
            <a:endParaRPr lang="en-US" sz="1600" dirty="0"/>
          </a:p>
        </p:txBody>
      </p:sp>
      <p:sp>
        <p:nvSpPr>
          <p:cNvPr id="18" name="Text 14"/>
          <p:cNvSpPr/>
          <p:nvPr/>
        </p:nvSpPr>
        <p:spPr>
          <a:xfrm>
            <a:off x="7498080" y="3054096"/>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Clean, integrated data feeds analytics, reporting, and decision support.</a:t>
            </a:r>
            <a:endParaRPr lang="en-US" sz="1200" dirty="0"/>
          </a:p>
        </p:txBody>
      </p:sp>
      <p:sp>
        <p:nvSpPr>
          <p:cNvPr id="19" name="Shape 15"/>
          <p:cNvSpPr/>
          <p:nvPr/>
        </p:nvSpPr>
        <p:spPr>
          <a:xfrm>
            <a:off x="457200" y="4279392"/>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0" name="Shape 16"/>
          <p:cNvSpPr/>
          <p:nvPr/>
        </p:nvSpPr>
        <p:spPr>
          <a:xfrm>
            <a:off x="457200" y="4279392"/>
            <a:ext cx="82296" cy="1627632"/>
          </a:xfrm>
          <a:prstGeom prst="rect">
            <a:avLst/>
          </a:prstGeom>
          <a:solidFill>
            <a:srgbClr val="F2B705"/>
          </a:solidFill>
          <a:ln/>
        </p:spPr>
      </p:sp>
      <p:sp>
        <p:nvSpPr>
          <p:cNvPr id="21" name="Shape 17"/>
          <p:cNvSpPr/>
          <p:nvPr/>
        </p:nvSpPr>
        <p:spPr>
          <a:xfrm>
            <a:off x="713232" y="4645152"/>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930402" y="4862322"/>
            <a:ext cx="434340" cy="434340"/>
          </a:xfrm>
          <a:prstGeom prst="rect">
            <a:avLst/>
          </a:prstGeom>
        </p:spPr>
      </p:pic>
      <p:sp>
        <p:nvSpPr>
          <p:cNvPr id="23" name="Text 18"/>
          <p:cNvSpPr/>
          <p:nvPr/>
        </p:nvSpPr>
        <p:spPr>
          <a:xfrm>
            <a:off x="1737360" y="4517136"/>
            <a:ext cx="3977640" cy="411480"/>
          </a:xfrm>
          <a:prstGeom prst="rect">
            <a:avLst/>
          </a:prstGeom>
          <a:noFill/>
          <a:ln/>
        </p:spPr>
        <p:txBody>
          <a:bodyPr wrap="square" lIns="0" tIns="0" rIns="0" bIns="0" rtlCol="0" anchor="ctr"/>
          <a:lstStyle/>
          <a:p>
            <a:pPr indent="0" marL="0">
              <a:buNone/>
            </a:pPr>
            <a:r>
              <a:rPr lang="en-US" sz="1600" b="1" dirty="0">
                <a:solidFill>
                  <a:srgbClr val="0D3D78"/>
                </a:solidFill>
              </a:rPr>
              <a:t>One version of truth</a:t>
            </a:r>
            <a:endParaRPr lang="en-US" sz="1600" dirty="0"/>
          </a:p>
        </p:txBody>
      </p:sp>
      <p:sp>
        <p:nvSpPr>
          <p:cNvPr id="24" name="Text 19"/>
          <p:cNvSpPr/>
          <p:nvPr/>
        </p:nvSpPr>
        <p:spPr>
          <a:xfrm>
            <a:off x="1737360" y="4956048"/>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Shared databases remove redundancy and conflicting records across the business.</a:t>
            </a:r>
            <a:endParaRPr lang="en-US" sz="1200" dirty="0"/>
          </a:p>
        </p:txBody>
      </p:sp>
      <p:sp>
        <p:nvSpPr>
          <p:cNvPr id="25" name="Shape 20"/>
          <p:cNvSpPr/>
          <p:nvPr/>
        </p:nvSpPr>
        <p:spPr>
          <a:xfrm>
            <a:off x="6217920" y="4279392"/>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6" name="Shape 21"/>
          <p:cNvSpPr/>
          <p:nvPr/>
        </p:nvSpPr>
        <p:spPr>
          <a:xfrm>
            <a:off x="6217920" y="4279392"/>
            <a:ext cx="82296" cy="1627632"/>
          </a:xfrm>
          <a:prstGeom prst="rect">
            <a:avLst/>
          </a:prstGeom>
          <a:solidFill>
            <a:srgbClr val="F2B705"/>
          </a:solidFill>
          <a:ln/>
        </p:spPr>
      </p:sp>
      <p:sp>
        <p:nvSpPr>
          <p:cNvPr id="27" name="Shape 22"/>
          <p:cNvSpPr/>
          <p:nvPr/>
        </p:nvSpPr>
        <p:spPr>
          <a:xfrm>
            <a:off x="6473952" y="4645152"/>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8" name="Image 3" descr="preencoded.png">    </p:cNvPr>
          <p:cNvPicPr>
            <a:picLocks noChangeAspect="1"/>
          </p:cNvPicPr>
          <p:nvPr/>
        </p:nvPicPr>
        <p:blipFill>
          <a:blip r:embed="rId4"/>
          <a:stretch>
            <a:fillRect/>
          </a:stretch>
        </p:blipFill>
        <p:spPr>
          <a:xfrm>
            <a:off x="6691122" y="4862322"/>
            <a:ext cx="434340" cy="434340"/>
          </a:xfrm>
          <a:prstGeom prst="rect">
            <a:avLst/>
          </a:prstGeom>
        </p:spPr>
      </p:pic>
      <p:sp>
        <p:nvSpPr>
          <p:cNvPr id="29" name="Text 23"/>
          <p:cNvSpPr/>
          <p:nvPr/>
        </p:nvSpPr>
        <p:spPr>
          <a:xfrm>
            <a:off x="7498080" y="4517136"/>
            <a:ext cx="3977640" cy="411480"/>
          </a:xfrm>
          <a:prstGeom prst="rect">
            <a:avLst/>
          </a:prstGeom>
          <a:noFill/>
          <a:ln/>
        </p:spPr>
        <p:txBody>
          <a:bodyPr wrap="square" lIns="0" tIns="0" rIns="0" bIns="0" rtlCol="0" anchor="ctr"/>
          <a:lstStyle/>
          <a:p>
            <a:pPr indent="0" marL="0">
              <a:buNone/>
            </a:pPr>
            <a:r>
              <a:rPr lang="en-US" sz="1600" b="1" dirty="0">
                <a:solidFill>
                  <a:srgbClr val="0D3D78"/>
                </a:solidFill>
              </a:rPr>
              <a:t>Control &amp; trust</a:t>
            </a:r>
            <a:endParaRPr lang="en-US" sz="1600" dirty="0"/>
          </a:p>
        </p:txBody>
      </p:sp>
      <p:sp>
        <p:nvSpPr>
          <p:cNvPr id="30" name="Text 24"/>
          <p:cNvSpPr/>
          <p:nvPr/>
        </p:nvSpPr>
        <p:spPr>
          <a:xfrm>
            <a:off x="7498080" y="4956048"/>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Managed data improves security, integrity, privacy, and regulatory compliance.</a:t>
            </a:r>
            <a:endParaRPr lang="en-US" sz="1200" dirty="0"/>
          </a:p>
        </p:txBody>
      </p:sp>
      <p:sp>
        <p:nvSpPr>
          <p:cNvPr id="31" name="Shape 25"/>
          <p:cNvSpPr/>
          <p:nvPr/>
        </p:nvSpPr>
        <p:spPr>
          <a:xfrm>
            <a:off x="0" y="6547104"/>
            <a:ext cx="12161520" cy="310896"/>
          </a:xfrm>
          <a:prstGeom prst="rect">
            <a:avLst/>
          </a:prstGeom>
          <a:solidFill>
            <a:srgbClr val="0E2A47"/>
          </a:solidFill>
          <a:ln/>
        </p:spPr>
      </p:sp>
      <p:sp>
        <p:nvSpPr>
          <p:cNvPr id="32" name="Text 26"/>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3" name="Text 27"/>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2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Logical Data Elements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How data is logically organized, from smallest to largest</a:t>
            </a:r>
            <a:endParaRPr lang="en-US" sz="1250" dirty="0"/>
          </a:p>
        </p:txBody>
      </p:sp>
      <p:sp>
        <p:nvSpPr>
          <p:cNvPr id="6" name="Shape 4"/>
          <p:cNvSpPr/>
          <p:nvPr/>
        </p:nvSpPr>
        <p:spPr>
          <a:xfrm>
            <a:off x="457200" y="1828800"/>
            <a:ext cx="2084832" cy="3703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828800"/>
            <a:ext cx="2084832" cy="128016"/>
          </a:xfrm>
          <a:prstGeom prst="rect">
            <a:avLst/>
          </a:prstGeom>
          <a:solidFill>
            <a:srgbClr val="F2B705"/>
          </a:solidFill>
          <a:ln/>
        </p:spPr>
      </p:sp>
      <p:sp>
        <p:nvSpPr>
          <p:cNvPr id="8" name="Shape 6"/>
          <p:cNvSpPr/>
          <p:nvPr/>
        </p:nvSpPr>
        <p:spPr>
          <a:xfrm>
            <a:off x="1065276" y="219456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1282446" y="2411730"/>
            <a:ext cx="434340" cy="434340"/>
          </a:xfrm>
          <a:prstGeom prst="rect">
            <a:avLst/>
          </a:prstGeom>
        </p:spPr>
      </p:pic>
      <p:sp>
        <p:nvSpPr>
          <p:cNvPr id="10" name="Text 7"/>
          <p:cNvSpPr/>
          <p:nvPr/>
        </p:nvSpPr>
        <p:spPr>
          <a:xfrm>
            <a:off x="457200" y="3154680"/>
            <a:ext cx="2084832" cy="256032"/>
          </a:xfrm>
          <a:prstGeom prst="rect">
            <a:avLst/>
          </a:prstGeom>
          <a:noFill/>
          <a:ln/>
        </p:spPr>
        <p:txBody>
          <a:bodyPr wrap="square" lIns="0" tIns="0" rIns="0" bIns="0" rtlCol="0" anchor="ctr"/>
          <a:lstStyle/>
          <a:p>
            <a:pPr algn="ctr" indent="0" marL="0">
              <a:buNone/>
            </a:pPr>
            <a:r>
              <a:rPr lang="en-US" sz="1000" b="1" spc="200" kern="0" dirty="0">
                <a:solidFill>
                  <a:srgbClr val="F2B705"/>
                </a:solidFill>
              </a:rPr>
              <a:t>Level 1</a:t>
            </a:r>
            <a:endParaRPr lang="en-US" sz="1000" dirty="0"/>
          </a:p>
        </p:txBody>
      </p:sp>
      <p:sp>
        <p:nvSpPr>
          <p:cNvPr id="11" name="Text 8"/>
          <p:cNvSpPr/>
          <p:nvPr/>
        </p:nvSpPr>
        <p:spPr>
          <a:xfrm>
            <a:off x="548640" y="3401568"/>
            <a:ext cx="1901952" cy="50292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Character</a:t>
            </a:r>
            <a:endParaRPr lang="en-US" sz="1450" dirty="0"/>
          </a:p>
        </p:txBody>
      </p:sp>
      <p:sp>
        <p:nvSpPr>
          <p:cNvPr id="12" name="Text 9"/>
          <p:cNvSpPr/>
          <p:nvPr/>
        </p:nvSpPr>
        <p:spPr>
          <a:xfrm>
            <a:off x="585216" y="3950208"/>
            <a:ext cx="1828800" cy="914400"/>
          </a:xfrm>
          <a:prstGeom prst="rect">
            <a:avLst/>
          </a:prstGeom>
          <a:noFill/>
          <a:ln/>
        </p:spPr>
        <p:txBody>
          <a:bodyPr wrap="square" lIns="0" tIns="0" rIns="0" bIns="0" rtlCol="0" anchor="t"/>
          <a:lstStyle/>
          <a:p>
            <a:pPr algn="ctr" indent="0" marL="0">
              <a:lnSpc>
                <a:spcPct val="102000"/>
              </a:lnSpc>
              <a:buNone/>
            </a:pPr>
            <a:r>
              <a:rPr lang="en-US" sz="1050" dirty="0">
                <a:solidFill>
                  <a:srgbClr val="13283F"/>
                </a:solidFill>
              </a:rPr>
              <a:t>A single alphabetic, numeric, or other symbol.</a:t>
            </a:r>
            <a:endParaRPr lang="en-US" sz="1050" dirty="0"/>
          </a:p>
        </p:txBody>
      </p:sp>
      <p:sp>
        <p:nvSpPr>
          <p:cNvPr id="13" name="Text 10"/>
          <p:cNvSpPr/>
          <p:nvPr/>
        </p:nvSpPr>
        <p:spPr>
          <a:xfrm>
            <a:off x="585216" y="4892040"/>
            <a:ext cx="1828800" cy="548640"/>
          </a:xfrm>
          <a:prstGeom prst="rect">
            <a:avLst/>
          </a:prstGeom>
          <a:noFill/>
          <a:ln/>
        </p:spPr>
        <p:txBody>
          <a:bodyPr wrap="square" lIns="0" tIns="0" rIns="0" bIns="0" rtlCol="0" anchor="t"/>
          <a:lstStyle/>
          <a:p>
            <a:pPr algn="ctr" indent="0" marL="0">
              <a:lnSpc>
                <a:spcPct val="100000"/>
              </a:lnSpc>
              <a:buNone/>
            </a:pPr>
            <a:r>
              <a:rPr lang="en-US" sz="950" i="1" dirty="0">
                <a:solidFill>
                  <a:srgbClr val="566779"/>
                </a:solidFill>
              </a:rPr>
              <a:t>e.g. the letter A, the digit 7</a:t>
            </a:r>
            <a:endParaRPr lang="en-US" sz="950" dirty="0"/>
          </a:p>
        </p:txBody>
      </p:sp>
      <p:sp>
        <p:nvSpPr>
          <p:cNvPr id="14" name="Shape 11"/>
          <p:cNvSpPr/>
          <p:nvPr/>
        </p:nvSpPr>
        <p:spPr>
          <a:xfrm>
            <a:off x="2747772" y="1828800"/>
            <a:ext cx="2084832" cy="3703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5" name="Shape 12"/>
          <p:cNvSpPr/>
          <p:nvPr/>
        </p:nvSpPr>
        <p:spPr>
          <a:xfrm>
            <a:off x="2747772" y="1828800"/>
            <a:ext cx="2084832" cy="128016"/>
          </a:xfrm>
          <a:prstGeom prst="rect">
            <a:avLst/>
          </a:prstGeom>
          <a:solidFill>
            <a:srgbClr val="F2B705"/>
          </a:solidFill>
          <a:ln/>
        </p:spPr>
      </p:sp>
      <p:sp>
        <p:nvSpPr>
          <p:cNvPr id="16" name="Shape 13"/>
          <p:cNvSpPr/>
          <p:nvPr/>
        </p:nvSpPr>
        <p:spPr>
          <a:xfrm>
            <a:off x="3355848" y="219456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7" name="Image 1" descr="preencoded.png">    </p:cNvPr>
          <p:cNvPicPr>
            <a:picLocks noChangeAspect="1"/>
          </p:cNvPicPr>
          <p:nvPr/>
        </p:nvPicPr>
        <p:blipFill>
          <a:blip r:embed="rId2"/>
          <a:stretch>
            <a:fillRect/>
          </a:stretch>
        </p:blipFill>
        <p:spPr>
          <a:xfrm>
            <a:off x="3573018" y="2411730"/>
            <a:ext cx="434340" cy="434340"/>
          </a:xfrm>
          <a:prstGeom prst="rect">
            <a:avLst/>
          </a:prstGeom>
        </p:spPr>
      </p:pic>
      <p:sp>
        <p:nvSpPr>
          <p:cNvPr id="18" name="Text 14"/>
          <p:cNvSpPr/>
          <p:nvPr/>
        </p:nvSpPr>
        <p:spPr>
          <a:xfrm>
            <a:off x="2747772" y="3154680"/>
            <a:ext cx="2084832" cy="256032"/>
          </a:xfrm>
          <a:prstGeom prst="rect">
            <a:avLst/>
          </a:prstGeom>
          <a:noFill/>
          <a:ln/>
        </p:spPr>
        <p:txBody>
          <a:bodyPr wrap="square" lIns="0" tIns="0" rIns="0" bIns="0" rtlCol="0" anchor="ctr"/>
          <a:lstStyle/>
          <a:p>
            <a:pPr algn="ctr" indent="0" marL="0">
              <a:buNone/>
            </a:pPr>
            <a:r>
              <a:rPr lang="en-US" sz="1000" b="1" spc="200" kern="0" dirty="0">
                <a:solidFill>
                  <a:srgbClr val="F2B705"/>
                </a:solidFill>
              </a:rPr>
              <a:t>Level 2</a:t>
            </a:r>
            <a:endParaRPr lang="en-US" sz="1000" dirty="0"/>
          </a:p>
        </p:txBody>
      </p:sp>
      <p:sp>
        <p:nvSpPr>
          <p:cNvPr id="19" name="Text 15"/>
          <p:cNvSpPr/>
          <p:nvPr/>
        </p:nvSpPr>
        <p:spPr>
          <a:xfrm>
            <a:off x="2839212" y="3401568"/>
            <a:ext cx="1901952" cy="50292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Field (data item)</a:t>
            </a:r>
            <a:endParaRPr lang="en-US" sz="1450" dirty="0"/>
          </a:p>
        </p:txBody>
      </p:sp>
      <p:sp>
        <p:nvSpPr>
          <p:cNvPr id="20" name="Text 16"/>
          <p:cNvSpPr/>
          <p:nvPr/>
        </p:nvSpPr>
        <p:spPr>
          <a:xfrm>
            <a:off x="2875788" y="3950208"/>
            <a:ext cx="1828800" cy="914400"/>
          </a:xfrm>
          <a:prstGeom prst="rect">
            <a:avLst/>
          </a:prstGeom>
          <a:noFill/>
          <a:ln/>
        </p:spPr>
        <p:txBody>
          <a:bodyPr wrap="square" lIns="0" tIns="0" rIns="0" bIns="0" rtlCol="0" anchor="t"/>
          <a:lstStyle/>
          <a:p>
            <a:pPr algn="ctr" indent="0" marL="0">
              <a:lnSpc>
                <a:spcPct val="102000"/>
              </a:lnSpc>
              <a:buNone/>
            </a:pPr>
            <a:r>
              <a:rPr lang="en-US" sz="1050" dirty="0">
                <a:solidFill>
                  <a:srgbClr val="13283F"/>
                </a:solidFill>
              </a:rPr>
              <a:t>An attribute of an entity, made of related characters.</a:t>
            </a:r>
            <a:endParaRPr lang="en-US" sz="1050" dirty="0"/>
          </a:p>
        </p:txBody>
      </p:sp>
      <p:sp>
        <p:nvSpPr>
          <p:cNvPr id="21" name="Text 17"/>
          <p:cNvSpPr/>
          <p:nvPr/>
        </p:nvSpPr>
        <p:spPr>
          <a:xfrm>
            <a:off x="2875788" y="4892040"/>
            <a:ext cx="1828800" cy="548640"/>
          </a:xfrm>
          <a:prstGeom prst="rect">
            <a:avLst/>
          </a:prstGeom>
          <a:noFill/>
          <a:ln/>
        </p:spPr>
        <p:txBody>
          <a:bodyPr wrap="square" lIns="0" tIns="0" rIns="0" bIns="0" rtlCol="0" anchor="t"/>
          <a:lstStyle/>
          <a:p>
            <a:pPr algn="ctr" indent="0" marL="0">
              <a:lnSpc>
                <a:spcPct val="100000"/>
              </a:lnSpc>
              <a:buNone/>
            </a:pPr>
            <a:r>
              <a:rPr lang="en-US" sz="950" i="1" dirty="0">
                <a:solidFill>
                  <a:srgbClr val="566779"/>
                </a:solidFill>
              </a:rPr>
              <a:t>e.g. salary, job title</a:t>
            </a:r>
            <a:endParaRPr lang="en-US" sz="950" dirty="0"/>
          </a:p>
        </p:txBody>
      </p:sp>
      <p:sp>
        <p:nvSpPr>
          <p:cNvPr id="22" name="Shape 18"/>
          <p:cNvSpPr/>
          <p:nvPr/>
        </p:nvSpPr>
        <p:spPr>
          <a:xfrm>
            <a:off x="5038344" y="1828800"/>
            <a:ext cx="2084832" cy="3703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3" name="Shape 19"/>
          <p:cNvSpPr/>
          <p:nvPr/>
        </p:nvSpPr>
        <p:spPr>
          <a:xfrm>
            <a:off x="5038344" y="1828800"/>
            <a:ext cx="2084832" cy="128016"/>
          </a:xfrm>
          <a:prstGeom prst="rect">
            <a:avLst/>
          </a:prstGeom>
          <a:solidFill>
            <a:srgbClr val="F2B705"/>
          </a:solidFill>
          <a:ln/>
        </p:spPr>
      </p:sp>
      <p:sp>
        <p:nvSpPr>
          <p:cNvPr id="24" name="Shape 20"/>
          <p:cNvSpPr/>
          <p:nvPr/>
        </p:nvSpPr>
        <p:spPr>
          <a:xfrm>
            <a:off x="5646420" y="219456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5" name="Image 2" descr="preencoded.png">    </p:cNvPr>
          <p:cNvPicPr>
            <a:picLocks noChangeAspect="1"/>
          </p:cNvPicPr>
          <p:nvPr/>
        </p:nvPicPr>
        <p:blipFill>
          <a:blip r:embed="rId3"/>
          <a:stretch>
            <a:fillRect/>
          </a:stretch>
        </p:blipFill>
        <p:spPr>
          <a:xfrm>
            <a:off x="5863590" y="2411730"/>
            <a:ext cx="434340" cy="434340"/>
          </a:xfrm>
          <a:prstGeom prst="rect">
            <a:avLst/>
          </a:prstGeom>
        </p:spPr>
      </p:pic>
      <p:sp>
        <p:nvSpPr>
          <p:cNvPr id="26" name="Text 21"/>
          <p:cNvSpPr/>
          <p:nvPr/>
        </p:nvSpPr>
        <p:spPr>
          <a:xfrm>
            <a:off x="5038344" y="3154680"/>
            <a:ext cx="2084832" cy="256032"/>
          </a:xfrm>
          <a:prstGeom prst="rect">
            <a:avLst/>
          </a:prstGeom>
          <a:noFill/>
          <a:ln/>
        </p:spPr>
        <p:txBody>
          <a:bodyPr wrap="square" lIns="0" tIns="0" rIns="0" bIns="0" rtlCol="0" anchor="ctr"/>
          <a:lstStyle/>
          <a:p>
            <a:pPr algn="ctr" indent="0" marL="0">
              <a:buNone/>
            </a:pPr>
            <a:r>
              <a:rPr lang="en-US" sz="1000" b="1" spc="200" kern="0" dirty="0">
                <a:solidFill>
                  <a:srgbClr val="F2B705"/>
                </a:solidFill>
              </a:rPr>
              <a:t>Level 3</a:t>
            </a:r>
            <a:endParaRPr lang="en-US" sz="1000" dirty="0"/>
          </a:p>
        </p:txBody>
      </p:sp>
      <p:sp>
        <p:nvSpPr>
          <p:cNvPr id="27" name="Text 22"/>
          <p:cNvSpPr/>
          <p:nvPr/>
        </p:nvSpPr>
        <p:spPr>
          <a:xfrm>
            <a:off x="5129784" y="3401568"/>
            <a:ext cx="1901952" cy="50292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Record</a:t>
            </a:r>
            <a:endParaRPr lang="en-US" sz="1450" dirty="0"/>
          </a:p>
        </p:txBody>
      </p:sp>
      <p:sp>
        <p:nvSpPr>
          <p:cNvPr id="28" name="Text 23"/>
          <p:cNvSpPr/>
          <p:nvPr/>
        </p:nvSpPr>
        <p:spPr>
          <a:xfrm>
            <a:off x="5166360" y="3950208"/>
            <a:ext cx="1828800" cy="914400"/>
          </a:xfrm>
          <a:prstGeom prst="rect">
            <a:avLst/>
          </a:prstGeom>
          <a:noFill/>
          <a:ln/>
        </p:spPr>
        <p:txBody>
          <a:bodyPr wrap="square" lIns="0" tIns="0" rIns="0" bIns="0" rtlCol="0" anchor="t"/>
          <a:lstStyle/>
          <a:p>
            <a:pPr algn="ctr" indent="0" marL="0">
              <a:lnSpc>
                <a:spcPct val="102000"/>
              </a:lnSpc>
              <a:buNone/>
            </a:pPr>
            <a:r>
              <a:rPr lang="en-US" sz="1050" dirty="0">
                <a:solidFill>
                  <a:srgbClr val="13283F"/>
                </a:solidFill>
              </a:rPr>
              <a:t>All the fields that describe one entity grouped together.</a:t>
            </a:r>
            <a:endParaRPr lang="en-US" sz="1050" dirty="0"/>
          </a:p>
        </p:txBody>
      </p:sp>
      <p:sp>
        <p:nvSpPr>
          <p:cNvPr id="29" name="Text 24"/>
          <p:cNvSpPr/>
          <p:nvPr/>
        </p:nvSpPr>
        <p:spPr>
          <a:xfrm>
            <a:off x="5166360" y="4892040"/>
            <a:ext cx="1828800" cy="548640"/>
          </a:xfrm>
          <a:prstGeom prst="rect">
            <a:avLst/>
          </a:prstGeom>
          <a:noFill/>
          <a:ln/>
        </p:spPr>
        <p:txBody>
          <a:bodyPr wrap="square" lIns="0" tIns="0" rIns="0" bIns="0" rtlCol="0" anchor="t"/>
          <a:lstStyle/>
          <a:p>
            <a:pPr algn="ctr" indent="0" marL="0">
              <a:lnSpc>
                <a:spcPct val="100000"/>
              </a:lnSpc>
              <a:buNone/>
            </a:pPr>
            <a:r>
              <a:rPr lang="en-US" sz="950" i="1" dirty="0">
                <a:solidFill>
                  <a:srgbClr val="566779"/>
                </a:solidFill>
              </a:rPr>
              <a:t>e.g. a payroll record: name, SSN, pay rate</a:t>
            </a:r>
            <a:endParaRPr lang="en-US" sz="950" dirty="0"/>
          </a:p>
        </p:txBody>
      </p:sp>
      <p:sp>
        <p:nvSpPr>
          <p:cNvPr id="30" name="Shape 25"/>
          <p:cNvSpPr/>
          <p:nvPr/>
        </p:nvSpPr>
        <p:spPr>
          <a:xfrm>
            <a:off x="7328916" y="1828800"/>
            <a:ext cx="2084832" cy="3703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31" name="Shape 26"/>
          <p:cNvSpPr/>
          <p:nvPr/>
        </p:nvSpPr>
        <p:spPr>
          <a:xfrm>
            <a:off x="7328916" y="1828800"/>
            <a:ext cx="2084832" cy="128016"/>
          </a:xfrm>
          <a:prstGeom prst="rect">
            <a:avLst/>
          </a:prstGeom>
          <a:solidFill>
            <a:srgbClr val="F2B705"/>
          </a:solidFill>
          <a:ln/>
        </p:spPr>
      </p:sp>
      <p:sp>
        <p:nvSpPr>
          <p:cNvPr id="32" name="Shape 27"/>
          <p:cNvSpPr/>
          <p:nvPr/>
        </p:nvSpPr>
        <p:spPr>
          <a:xfrm>
            <a:off x="7936992" y="219456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33" name="Image 3" descr="preencoded.png">    </p:cNvPr>
          <p:cNvPicPr>
            <a:picLocks noChangeAspect="1"/>
          </p:cNvPicPr>
          <p:nvPr/>
        </p:nvPicPr>
        <p:blipFill>
          <a:blip r:embed="rId4"/>
          <a:stretch>
            <a:fillRect/>
          </a:stretch>
        </p:blipFill>
        <p:spPr>
          <a:xfrm>
            <a:off x="8154162" y="2411730"/>
            <a:ext cx="434340" cy="434340"/>
          </a:xfrm>
          <a:prstGeom prst="rect">
            <a:avLst/>
          </a:prstGeom>
        </p:spPr>
      </p:pic>
      <p:sp>
        <p:nvSpPr>
          <p:cNvPr id="34" name="Text 28"/>
          <p:cNvSpPr/>
          <p:nvPr/>
        </p:nvSpPr>
        <p:spPr>
          <a:xfrm>
            <a:off x="7328916" y="3154680"/>
            <a:ext cx="2084832" cy="256032"/>
          </a:xfrm>
          <a:prstGeom prst="rect">
            <a:avLst/>
          </a:prstGeom>
          <a:noFill/>
          <a:ln/>
        </p:spPr>
        <p:txBody>
          <a:bodyPr wrap="square" lIns="0" tIns="0" rIns="0" bIns="0" rtlCol="0" anchor="ctr"/>
          <a:lstStyle/>
          <a:p>
            <a:pPr algn="ctr" indent="0" marL="0">
              <a:buNone/>
            </a:pPr>
            <a:r>
              <a:rPr lang="en-US" sz="1000" b="1" spc="200" kern="0" dirty="0">
                <a:solidFill>
                  <a:srgbClr val="F2B705"/>
                </a:solidFill>
              </a:rPr>
              <a:t>Level 4</a:t>
            </a:r>
            <a:endParaRPr lang="en-US" sz="1000" dirty="0"/>
          </a:p>
        </p:txBody>
      </p:sp>
      <p:sp>
        <p:nvSpPr>
          <p:cNvPr id="35" name="Text 29"/>
          <p:cNvSpPr/>
          <p:nvPr/>
        </p:nvSpPr>
        <p:spPr>
          <a:xfrm>
            <a:off x="7420356" y="3401568"/>
            <a:ext cx="1901952" cy="50292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File (table)</a:t>
            </a:r>
            <a:endParaRPr lang="en-US" sz="1450" dirty="0"/>
          </a:p>
        </p:txBody>
      </p:sp>
      <p:sp>
        <p:nvSpPr>
          <p:cNvPr id="36" name="Text 30"/>
          <p:cNvSpPr/>
          <p:nvPr/>
        </p:nvSpPr>
        <p:spPr>
          <a:xfrm>
            <a:off x="7456932" y="3950208"/>
            <a:ext cx="1828800" cy="914400"/>
          </a:xfrm>
          <a:prstGeom prst="rect">
            <a:avLst/>
          </a:prstGeom>
          <a:noFill/>
          <a:ln/>
        </p:spPr>
        <p:txBody>
          <a:bodyPr wrap="square" lIns="0" tIns="0" rIns="0" bIns="0" rtlCol="0" anchor="t"/>
          <a:lstStyle/>
          <a:p>
            <a:pPr algn="ctr" indent="0" marL="0">
              <a:lnSpc>
                <a:spcPct val="102000"/>
              </a:lnSpc>
              <a:buNone/>
            </a:pPr>
            <a:r>
              <a:rPr lang="en-US" sz="1050" dirty="0">
                <a:solidFill>
                  <a:srgbClr val="13283F"/>
                </a:solidFill>
              </a:rPr>
              <a:t>A group of related records of the same type.</a:t>
            </a:r>
            <a:endParaRPr lang="en-US" sz="1050" dirty="0"/>
          </a:p>
        </p:txBody>
      </p:sp>
      <p:sp>
        <p:nvSpPr>
          <p:cNvPr id="37" name="Text 31"/>
          <p:cNvSpPr/>
          <p:nvPr/>
        </p:nvSpPr>
        <p:spPr>
          <a:xfrm>
            <a:off x="7456932" y="4892040"/>
            <a:ext cx="1828800" cy="548640"/>
          </a:xfrm>
          <a:prstGeom prst="rect">
            <a:avLst/>
          </a:prstGeom>
          <a:noFill/>
          <a:ln/>
        </p:spPr>
        <p:txBody>
          <a:bodyPr wrap="square" lIns="0" tIns="0" rIns="0" bIns="0" rtlCol="0" anchor="t"/>
          <a:lstStyle/>
          <a:p>
            <a:pPr algn="ctr" indent="0" marL="0">
              <a:lnSpc>
                <a:spcPct val="100000"/>
              </a:lnSpc>
              <a:buNone/>
            </a:pPr>
            <a:r>
              <a:rPr lang="en-US" sz="950" i="1" dirty="0">
                <a:solidFill>
                  <a:srgbClr val="566779"/>
                </a:solidFill>
              </a:rPr>
              <a:t>e.g. the payroll file for all employees</a:t>
            </a:r>
            <a:endParaRPr lang="en-US" sz="950" dirty="0"/>
          </a:p>
        </p:txBody>
      </p:sp>
      <p:sp>
        <p:nvSpPr>
          <p:cNvPr id="38" name="Shape 32"/>
          <p:cNvSpPr/>
          <p:nvPr/>
        </p:nvSpPr>
        <p:spPr>
          <a:xfrm>
            <a:off x="9619488" y="1828800"/>
            <a:ext cx="2084832" cy="3703320"/>
          </a:xfrm>
          <a:prstGeom prst="rect">
            <a:avLst/>
          </a:prstGeom>
          <a:solidFill>
            <a:srgbClr val="1565C0"/>
          </a:solidFill>
          <a:ln w="12700">
            <a:solidFill>
              <a:srgbClr val="1565C0"/>
            </a:solidFill>
            <a:prstDash val="solid"/>
          </a:ln>
          <a:effectLst>
            <a:outerShdw sx="100000" sy="100000" kx="0" ky="0" algn="bl" rotWithShape="0" blurRad="88900" dist="38100" dir="8100000">
              <a:srgbClr val="000000">
                <a:alpha val="12000"/>
              </a:srgbClr>
            </a:outerShdw>
          </a:effectLst>
        </p:spPr>
      </p:sp>
      <p:sp>
        <p:nvSpPr>
          <p:cNvPr id="39" name="Shape 33"/>
          <p:cNvSpPr/>
          <p:nvPr/>
        </p:nvSpPr>
        <p:spPr>
          <a:xfrm>
            <a:off x="9619488" y="1828800"/>
            <a:ext cx="2084832" cy="128016"/>
          </a:xfrm>
          <a:prstGeom prst="rect">
            <a:avLst/>
          </a:prstGeom>
          <a:solidFill>
            <a:srgbClr val="F2B705"/>
          </a:solidFill>
          <a:ln/>
        </p:spPr>
      </p:sp>
      <p:sp>
        <p:nvSpPr>
          <p:cNvPr id="40" name="Shape 34"/>
          <p:cNvSpPr/>
          <p:nvPr/>
        </p:nvSpPr>
        <p:spPr>
          <a:xfrm>
            <a:off x="10227564" y="2194560"/>
            <a:ext cx="868680" cy="86868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41" name="Image 4" descr="preencoded.png">    </p:cNvPr>
          <p:cNvPicPr>
            <a:picLocks noChangeAspect="1"/>
          </p:cNvPicPr>
          <p:nvPr/>
        </p:nvPicPr>
        <p:blipFill>
          <a:blip r:embed="rId5"/>
          <a:stretch>
            <a:fillRect/>
          </a:stretch>
        </p:blipFill>
        <p:spPr>
          <a:xfrm>
            <a:off x="10444734" y="2411730"/>
            <a:ext cx="434340" cy="434340"/>
          </a:xfrm>
          <a:prstGeom prst="rect">
            <a:avLst/>
          </a:prstGeom>
        </p:spPr>
      </p:pic>
      <p:sp>
        <p:nvSpPr>
          <p:cNvPr id="42" name="Text 35"/>
          <p:cNvSpPr/>
          <p:nvPr/>
        </p:nvSpPr>
        <p:spPr>
          <a:xfrm>
            <a:off x="9619488" y="3154680"/>
            <a:ext cx="2084832" cy="256032"/>
          </a:xfrm>
          <a:prstGeom prst="rect">
            <a:avLst/>
          </a:prstGeom>
          <a:noFill/>
          <a:ln/>
        </p:spPr>
        <p:txBody>
          <a:bodyPr wrap="square" lIns="0" tIns="0" rIns="0" bIns="0" rtlCol="0" anchor="ctr"/>
          <a:lstStyle/>
          <a:p>
            <a:pPr algn="ctr" indent="0" marL="0">
              <a:buNone/>
            </a:pPr>
            <a:r>
              <a:rPr lang="en-US" sz="1000" b="1" spc="200" kern="0" dirty="0">
                <a:solidFill>
                  <a:srgbClr val="F8D374"/>
                </a:solidFill>
              </a:rPr>
              <a:t>Level 5</a:t>
            </a:r>
            <a:endParaRPr lang="en-US" sz="1000" dirty="0"/>
          </a:p>
        </p:txBody>
      </p:sp>
      <p:sp>
        <p:nvSpPr>
          <p:cNvPr id="43" name="Text 36"/>
          <p:cNvSpPr/>
          <p:nvPr/>
        </p:nvSpPr>
        <p:spPr>
          <a:xfrm>
            <a:off x="9710928" y="3401568"/>
            <a:ext cx="1901952" cy="502920"/>
          </a:xfrm>
          <a:prstGeom prst="rect">
            <a:avLst/>
          </a:prstGeom>
          <a:noFill/>
          <a:ln/>
        </p:spPr>
        <p:txBody>
          <a:bodyPr wrap="square" lIns="0" tIns="0" rIns="0" bIns="0" rtlCol="0" anchor="t"/>
          <a:lstStyle/>
          <a:p>
            <a:pPr algn="ctr" indent="0" marL="0">
              <a:buNone/>
            </a:pPr>
            <a:r>
              <a:rPr lang="en-US" sz="1450" b="1" dirty="0">
                <a:solidFill>
                  <a:srgbClr val="FFFFFF"/>
                </a:solidFill>
                <a:latin typeface="Georgia" pitchFamily="34" charset="0"/>
                <a:ea typeface="Georgia" pitchFamily="34" charset="-122"/>
                <a:cs typeface="Georgia" pitchFamily="34" charset="-120"/>
              </a:rPr>
              <a:t>Database</a:t>
            </a:r>
            <a:endParaRPr lang="en-US" sz="1450" dirty="0"/>
          </a:p>
        </p:txBody>
      </p:sp>
      <p:sp>
        <p:nvSpPr>
          <p:cNvPr id="44" name="Text 37"/>
          <p:cNvSpPr/>
          <p:nvPr/>
        </p:nvSpPr>
        <p:spPr>
          <a:xfrm>
            <a:off x="9747504" y="3950208"/>
            <a:ext cx="1828800" cy="914400"/>
          </a:xfrm>
          <a:prstGeom prst="rect">
            <a:avLst/>
          </a:prstGeom>
          <a:noFill/>
          <a:ln/>
        </p:spPr>
        <p:txBody>
          <a:bodyPr wrap="square" lIns="0" tIns="0" rIns="0" bIns="0" rtlCol="0" anchor="t"/>
          <a:lstStyle/>
          <a:p>
            <a:pPr algn="ctr" indent="0" marL="0">
              <a:lnSpc>
                <a:spcPct val="102000"/>
              </a:lnSpc>
              <a:buNone/>
            </a:pPr>
            <a:r>
              <a:rPr lang="en-US" sz="1050" dirty="0">
                <a:solidFill>
                  <a:srgbClr val="EAF1FB"/>
                </a:solidFill>
              </a:rPr>
              <a:t>An integrated collection of logically related data elements.</a:t>
            </a:r>
            <a:endParaRPr lang="en-US" sz="1050" dirty="0"/>
          </a:p>
        </p:txBody>
      </p:sp>
      <p:sp>
        <p:nvSpPr>
          <p:cNvPr id="45" name="Text 38"/>
          <p:cNvSpPr/>
          <p:nvPr/>
        </p:nvSpPr>
        <p:spPr>
          <a:xfrm>
            <a:off x="9747504" y="4892040"/>
            <a:ext cx="1828800" cy="548640"/>
          </a:xfrm>
          <a:prstGeom prst="rect">
            <a:avLst/>
          </a:prstGeom>
          <a:noFill/>
          <a:ln/>
        </p:spPr>
        <p:txBody>
          <a:bodyPr wrap="square" lIns="0" tIns="0" rIns="0" bIns="0" rtlCol="0" anchor="t"/>
          <a:lstStyle/>
          <a:p>
            <a:pPr algn="ctr" indent="0" marL="0">
              <a:lnSpc>
                <a:spcPct val="100000"/>
              </a:lnSpc>
              <a:buNone/>
            </a:pPr>
            <a:r>
              <a:rPr lang="en-US" sz="950" i="1" dirty="0">
                <a:solidFill>
                  <a:srgbClr val="CDE0F5"/>
                </a:solidFill>
              </a:rPr>
              <a:t>e.g. the full HR / payroll database</a:t>
            </a:r>
            <a:endParaRPr lang="en-US" sz="950" dirty="0"/>
          </a:p>
        </p:txBody>
      </p:sp>
      <p:sp>
        <p:nvSpPr>
          <p:cNvPr id="46" name="Text 39"/>
          <p:cNvSpPr/>
          <p:nvPr/>
        </p:nvSpPr>
        <p:spPr>
          <a:xfrm>
            <a:off x="2579065" y="2331720"/>
            <a:ext cx="205740"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47" name="Text 40"/>
          <p:cNvSpPr/>
          <p:nvPr/>
        </p:nvSpPr>
        <p:spPr>
          <a:xfrm>
            <a:off x="4869637" y="2331720"/>
            <a:ext cx="205740"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48" name="Text 41"/>
          <p:cNvSpPr/>
          <p:nvPr/>
        </p:nvSpPr>
        <p:spPr>
          <a:xfrm>
            <a:off x="7160209" y="2331720"/>
            <a:ext cx="205740"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49" name="Text 42"/>
          <p:cNvSpPr/>
          <p:nvPr/>
        </p:nvSpPr>
        <p:spPr>
          <a:xfrm>
            <a:off x="9450781" y="2331720"/>
            <a:ext cx="205740"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50" name="Shape 43"/>
          <p:cNvSpPr/>
          <p:nvPr/>
        </p:nvSpPr>
        <p:spPr>
          <a:xfrm>
            <a:off x="0" y="6547104"/>
            <a:ext cx="12161520" cy="310896"/>
          </a:xfrm>
          <a:prstGeom prst="rect">
            <a:avLst/>
          </a:prstGeom>
          <a:solidFill>
            <a:srgbClr val="0E2A47"/>
          </a:solidFill>
          <a:ln/>
        </p:spPr>
      </p:sp>
      <p:sp>
        <p:nvSpPr>
          <p:cNvPr id="51" name="Text 44"/>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52" name="Text 45"/>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3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Two Approaches to Managing Data</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Traditional file processing vs the database approach</a:t>
            </a:r>
            <a:endParaRPr lang="en-US" sz="1250" dirty="0"/>
          </a:p>
        </p:txBody>
      </p:sp>
      <p:sp>
        <p:nvSpPr>
          <p:cNvPr id="6" name="Shape 4"/>
          <p:cNvSpPr/>
          <p:nvPr/>
        </p:nvSpPr>
        <p:spPr>
          <a:xfrm>
            <a:off x="457200" y="1783080"/>
            <a:ext cx="5532120" cy="4160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5532120" cy="640080"/>
          </a:xfrm>
          <a:prstGeom prst="rect">
            <a:avLst/>
          </a:prstGeom>
          <a:solidFill>
            <a:srgbClr val="9A3B2E"/>
          </a:solidFill>
          <a:ln/>
        </p:spPr>
      </p:sp>
      <p:sp>
        <p:nvSpPr>
          <p:cNvPr id="8" name="Shape 6"/>
          <p:cNvSpPr/>
          <p:nvPr/>
        </p:nvSpPr>
        <p:spPr>
          <a:xfrm>
            <a:off x="621792" y="1901952"/>
            <a:ext cx="402336" cy="402336"/>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712318" y="1992478"/>
            <a:ext cx="221285" cy="221285"/>
          </a:xfrm>
          <a:prstGeom prst="rect">
            <a:avLst/>
          </a:prstGeom>
        </p:spPr>
      </p:pic>
      <p:sp>
        <p:nvSpPr>
          <p:cNvPr id="10" name="Text 7"/>
          <p:cNvSpPr/>
          <p:nvPr/>
        </p:nvSpPr>
        <p:spPr>
          <a:xfrm>
            <a:off x="1133856" y="1783080"/>
            <a:ext cx="4251960" cy="640080"/>
          </a:xfrm>
          <a:prstGeom prst="rect">
            <a:avLst/>
          </a:prstGeom>
          <a:noFill/>
          <a:ln/>
        </p:spPr>
        <p:txBody>
          <a:bodyPr wrap="square" lIns="0" tIns="0" rIns="0" bIns="0" rtlCol="0" anchor="ctr"/>
          <a:lstStyle/>
          <a:p>
            <a:pPr indent="0" marL="0">
              <a:buNone/>
            </a:pPr>
            <a:r>
              <a:rPr lang="en-US" sz="1600" b="1" dirty="0">
                <a:solidFill>
                  <a:srgbClr val="FFFFFF"/>
                </a:solidFill>
              </a:rPr>
              <a:t>Traditional File Processing</a:t>
            </a:r>
            <a:endParaRPr lang="en-US" sz="1600" dirty="0"/>
          </a:p>
        </p:txBody>
      </p:sp>
      <p:sp>
        <p:nvSpPr>
          <p:cNvPr id="11" name="Text 8"/>
          <p:cNvSpPr/>
          <p:nvPr/>
        </p:nvSpPr>
        <p:spPr>
          <a:xfrm>
            <a:off x="685800" y="2532888"/>
            <a:ext cx="5074920" cy="502920"/>
          </a:xfrm>
          <a:prstGeom prst="rect">
            <a:avLst/>
          </a:prstGeom>
          <a:noFill/>
          <a:ln/>
        </p:spPr>
        <p:txBody>
          <a:bodyPr wrap="square" lIns="0" tIns="0" rIns="0" bIns="0" rtlCol="0" anchor="ctr"/>
          <a:lstStyle/>
          <a:p>
            <a:pPr indent="0" marL="0">
              <a:buNone/>
            </a:pPr>
            <a:r>
              <a:rPr lang="en-US" sz="1200" i="1" dirty="0">
                <a:solidFill>
                  <a:srgbClr val="566779"/>
                </a:solidFill>
              </a:rPr>
              <a:t>Each application keeps its own independent files of specialized data records.</a:t>
            </a:r>
            <a:endParaRPr lang="en-US" sz="1200" dirty="0"/>
          </a:p>
        </p:txBody>
      </p:sp>
      <p:sp>
        <p:nvSpPr>
          <p:cNvPr id="12" name="Text 9"/>
          <p:cNvSpPr/>
          <p:nvPr/>
        </p:nvSpPr>
        <p:spPr>
          <a:xfrm>
            <a:off x="731520" y="3108960"/>
            <a:ext cx="5029200" cy="269748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250" dirty="0">
                <a:solidFill>
                  <a:srgbClr val="13283F"/>
                </a:solidFill>
              </a:rPr>
              <a:t>Data redundancy - the same data is duplicated in many separate files</a:t>
            </a:r>
            <a:endParaRPr lang="en-US" sz="1250" dirty="0"/>
          </a:p>
          <a:p>
            <a:pPr marL="177800" indent="-177800">
              <a:lnSpc>
                <a:spcPct val="103000"/>
              </a:lnSpc>
              <a:spcAft>
                <a:spcPts val="900"/>
              </a:spcAft>
              <a:buSzPct val="100000"/>
              <a:buChar char="•"/>
            </a:pPr>
            <a:r>
              <a:rPr lang="en-US" sz="1250" dirty="0">
                <a:solidFill>
                  <a:srgbClr val="13283F"/>
                </a:solidFill>
              </a:rPr>
              <a:t>Lack of data integration - data is trapped in isolated, application-specific files</a:t>
            </a:r>
            <a:endParaRPr lang="en-US" sz="1250" dirty="0"/>
          </a:p>
          <a:p>
            <a:pPr marL="177800" indent="-177800">
              <a:lnSpc>
                <a:spcPct val="103000"/>
              </a:lnSpc>
              <a:spcAft>
                <a:spcPts val="900"/>
              </a:spcAft>
              <a:buSzPct val="100000"/>
              <a:buChar char="•"/>
            </a:pPr>
            <a:r>
              <a:rPr lang="en-US" sz="1250" dirty="0">
                <a:solidFill>
                  <a:srgbClr val="13283F"/>
                </a:solidFill>
              </a:rPr>
              <a:t>Data dependence - programs are tied to file formats and storage details</a:t>
            </a:r>
            <a:endParaRPr lang="en-US" sz="1250" dirty="0"/>
          </a:p>
          <a:p>
            <a:pPr marL="177800" indent="-177800">
              <a:lnSpc>
                <a:spcPct val="103000"/>
              </a:lnSpc>
              <a:spcAft>
                <a:spcPts val="900"/>
              </a:spcAft>
              <a:buSzPct val="100000"/>
              <a:buChar char="•"/>
            </a:pPr>
            <a:r>
              <a:rPr lang="en-US" sz="1250" dirty="0">
                <a:solidFill>
                  <a:srgbClr val="13283F"/>
                </a:solidFill>
              </a:rPr>
              <a:t>Lack of integrity / standardization - no consistent definitions or quality control</a:t>
            </a:r>
            <a:endParaRPr lang="en-US" sz="1250" dirty="0"/>
          </a:p>
        </p:txBody>
      </p:sp>
      <p:sp>
        <p:nvSpPr>
          <p:cNvPr id="13" name="Shape 10"/>
          <p:cNvSpPr/>
          <p:nvPr/>
        </p:nvSpPr>
        <p:spPr>
          <a:xfrm>
            <a:off x="6355080" y="1783080"/>
            <a:ext cx="5532120" cy="4160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6355080" y="1783080"/>
            <a:ext cx="5532120" cy="640080"/>
          </a:xfrm>
          <a:prstGeom prst="rect">
            <a:avLst/>
          </a:prstGeom>
          <a:solidFill>
            <a:srgbClr val="1E7A4D"/>
          </a:solidFill>
          <a:ln/>
        </p:spPr>
      </p:sp>
      <p:sp>
        <p:nvSpPr>
          <p:cNvPr id="15" name="Shape 12"/>
          <p:cNvSpPr/>
          <p:nvPr/>
        </p:nvSpPr>
        <p:spPr>
          <a:xfrm>
            <a:off x="6537960" y="1901952"/>
            <a:ext cx="402336" cy="402336"/>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6628486" y="1992478"/>
            <a:ext cx="221285" cy="221285"/>
          </a:xfrm>
          <a:prstGeom prst="rect">
            <a:avLst/>
          </a:prstGeom>
        </p:spPr>
      </p:pic>
      <p:sp>
        <p:nvSpPr>
          <p:cNvPr id="17" name="Text 13"/>
          <p:cNvSpPr/>
          <p:nvPr/>
        </p:nvSpPr>
        <p:spPr>
          <a:xfrm>
            <a:off x="7031736" y="1783080"/>
            <a:ext cx="4709160" cy="640080"/>
          </a:xfrm>
          <a:prstGeom prst="rect">
            <a:avLst/>
          </a:prstGeom>
          <a:noFill/>
          <a:ln/>
        </p:spPr>
        <p:txBody>
          <a:bodyPr wrap="square" lIns="0" tIns="0" rIns="0" bIns="0" rtlCol="0" anchor="ctr"/>
          <a:lstStyle/>
          <a:p>
            <a:pPr indent="0" marL="0">
              <a:buNone/>
            </a:pPr>
            <a:r>
              <a:rPr lang="en-US" sz="1550" b="1" dirty="0">
                <a:solidFill>
                  <a:srgbClr val="FFFFFF"/>
                </a:solidFill>
              </a:rPr>
              <a:t>Database Management Approach</a:t>
            </a:r>
            <a:endParaRPr lang="en-US" sz="1550" dirty="0"/>
          </a:p>
        </p:txBody>
      </p:sp>
      <p:sp>
        <p:nvSpPr>
          <p:cNvPr id="18" name="Text 14"/>
          <p:cNvSpPr/>
          <p:nvPr/>
        </p:nvSpPr>
        <p:spPr>
          <a:xfrm>
            <a:off x="6583680" y="2532888"/>
            <a:ext cx="5074920" cy="502920"/>
          </a:xfrm>
          <a:prstGeom prst="rect">
            <a:avLst/>
          </a:prstGeom>
          <a:noFill/>
          <a:ln/>
        </p:spPr>
        <p:txBody>
          <a:bodyPr wrap="square" lIns="0" tIns="0" rIns="0" bIns="0" rtlCol="0" anchor="ctr"/>
          <a:lstStyle/>
          <a:p>
            <a:pPr indent="0" marL="0">
              <a:buNone/>
            </a:pPr>
            <a:r>
              <a:rPr lang="en-US" sz="1200" i="1" dirty="0">
                <a:solidFill>
                  <a:srgbClr val="566779"/>
                </a:solidFill>
              </a:rPr>
              <a:t>Data is consolidated into shared databases accessed by many applications through a DBMS.</a:t>
            </a:r>
            <a:endParaRPr lang="en-US" sz="1200" dirty="0"/>
          </a:p>
        </p:txBody>
      </p:sp>
      <p:sp>
        <p:nvSpPr>
          <p:cNvPr id="19" name="Text 15"/>
          <p:cNvSpPr/>
          <p:nvPr/>
        </p:nvSpPr>
        <p:spPr>
          <a:xfrm>
            <a:off x="6629400" y="3108960"/>
            <a:ext cx="5029200" cy="269748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250" dirty="0">
                <a:solidFill>
                  <a:srgbClr val="13283F"/>
                </a:solidFill>
              </a:rPr>
              <a:t>Minimal redundancy - data is stored once and shared across applications</a:t>
            </a:r>
            <a:endParaRPr lang="en-US" sz="1250" dirty="0"/>
          </a:p>
          <a:p>
            <a:pPr marL="177800" indent="-177800">
              <a:lnSpc>
                <a:spcPct val="103000"/>
              </a:lnSpc>
              <a:spcAft>
                <a:spcPts val="900"/>
              </a:spcAft>
              <a:buSzPct val="100000"/>
              <a:buChar char="•"/>
            </a:pPr>
            <a:r>
              <a:rPr lang="en-US" sz="1250" dirty="0">
                <a:solidFill>
                  <a:srgbClr val="13283F"/>
                </a:solidFill>
              </a:rPr>
              <a:t>Integrated data - logically related data is connected in one place</a:t>
            </a:r>
            <a:endParaRPr lang="en-US" sz="1250" dirty="0"/>
          </a:p>
          <a:p>
            <a:pPr marL="177800" indent="-177800">
              <a:lnSpc>
                <a:spcPct val="103000"/>
              </a:lnSpc>
              <a:spcAft>
                <a:spcPts val="900"/>
              </a:spcAft>
              <a:buSzPct val="100000"/>
              <a:buChar char="•"/>
            </a:pPr>
            <a:r>
              <a:rPr lang="en-US" sz="1250" dirty="0">
                <a:solidFill>
                  <a:srgbClr val="13283F"/>
                </a:solidFill>
              </a:rPr>
              <a:t>Data independence - the DBMS separates programs from physical storage</a:t>
            </a:r>
            <a:endParaRPr lang="en-US" sz="1250" dirty="0"/>
          </a:p>
          <a:p>
            <a:pPr marL="177800" indent="-177800">
              <a:lnSpc>
                <a:spcPct val="103000"/>
              </a:lnSpc>
              <a:spcAft>
                <a:spcPts val="900"/>
              </a:spcAft>
              <a:buSzPct val="100000"/>
              <a:buChar char="•"/>
            </a:pPr>
            <a:r>
              <a:rPr lang="en-US" sz="1250" dirty="0">
                <a:solidFill>
                  <a:srgbClr val="13283F"/>
                </a:solidFill>
              </a:rPr>
              <a:t>Integrity &amp; security - central control of quality, access, and standards</a:t>
            </a:r>
            <a:endParaRPr lang="en-US" sz="1250" dirty="0"/>
          </a:p>
        </p:txBody>
      </p:sp>
      <p:sp>
        <p:nvSpPr>
          <p:cNvPr id="20" name="Shape 16"/>
          <p:cNvSpPr/>
          <p:nvPr/>
        </p:nvSpPr>
        <p:spPr>
          <a:xfrm>
            <a:off x="0" y="6547104"/>
            <a:ext cx="12161520" cy="310896"/>
          </a:xfrm>
          <a:prstGeom prst="rect">
            <a:avLst/>
          </a:prstGeom>
          <a:solidFill>
            <a:srgbClr val="0E2A47"/>
          </a:solidFill>
          <a:ln/>
        </p:spPr>
      </p:sp>
      <p:sp>
        <p:nvSpPr>
          <p:cNvPr id="21" name="Text 17"/>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2" name="Text 18"/>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4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The Database Management System (DBMS)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The software interface between users and databases</a:t>
            </a:r>
            <a:endParaRPr lang="en-US" sz="1250" dirty="0"/>
          </a:p>
        </p:txBody>
      </p:sp>
      <p:sp>
        <p:nvSpPr>
          <p:cNvPr id="6" name="Text 4"/>
          <p:cNvSpPr/>
          <p:nvPr/>
        </p:nvSpPr>
        <p:spPr>
          <a:xfrm>
            <a:off x="457200" y="1280160"/>
            <a:ext cx="11247120" cy="731520"/>
          </a:xfrm>
          <a:prstGeom prst="rect">
            <a:avLst/>
          </a:prstGeom>
          <a:noFill/>
          <a:ln/>
        </p:spPr>
        <p:txBody>
          <a:bodyPr wrap="square" lIns="0" tIns="0" rIns="0" bIns="0" rtlCol="0" anchor="t"/>
          <a:lstStyle/>
          <a:p>
            <a:pPr indent="0" marL="0">
              <a:lnSpc>
                <a:spcPct val="104000"/>
              </a:lnSpc>
              <a:buNone/>
            </a:pPr>
            <a:r>
              <a:rPr lang="en-US" sz="1400" dirty="0">
                <a:solidFill>
                  <a:srgbClr val="13283F"/>
                </a:solidFill>
              </a:rPr>
              <a:t>A DBMS consolidates records into databases that many applications can share. On mainframe and server systems it is used to create databases and applications, maintain data quality, and use the data to deliver information to end users.</a:t>
            </a:r>
            <a:endParaRPr lang="en-US" sz="1400" dirty="0"/>
          </a:p>
        </p:txBody>
      </p:sp>
      <p:sp>
        <p:nvSpPr>
          <p:cNvPr id="7" name="Shape 5"/>
          <p:cNvSpPr/>
          <p:nvPr/>
        </p:nvSpPr>
        <p:spPr>
          <a:xfrm>
            <a:off x="457200" y="2194560"/>
            <a:ext cx="2715768" cy="3337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194560"/>
            <a:ext cx="2715768" cy="91440"/>
          </a:xfrm>
          <a:prstGeom prst="rect">
            <a:avLst/>
          </a:prstGeom>
          <a:solidFill>
            <a:srgbClr val="F2B705"/>
          </a:solidFill>
          <a:ln/>
        </p:spPr>
      </p:sp>
      <p:sp>
        <p:nvSpPr>
          <p:cNvPr id="9" name="Shape 7"/>
          <p:cNvSpPr/>
          <p:nvPr/>
        </p:nvSpPr>
        <p:spPr>
          <a:xfrm>
            <a:off x="1357884" y="251460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1586484" y="2743200"/>
            <a:ext cx="457200" cy="457200"/>
          </a:xfrm>
          <a:prstGeom prst="rect">
            <a:avLst/>
          </a:prstGeom>
        </p:spPr>
      </p:pic>
      <p:sp>
        <p:nvSpPr>
          <p:cNvPr id="11" name="Text 8"/>
          <p:cNvSpPr/>
          <p:nvPr/>
        </p:nvSpPr>
        <p:spPr>
          <a:xfrm>
            <a:off x="594360" y="3520440"/>
            <a:ext cx="2441448" cy="64008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Database Development</a:t>
            </a:r>
            <a:endParaRPr lang="en-US" sz="1450" dirty="0"/>
          </a:p>
        </p:txBody>
      </p:sp>
      <p:sp>
        <p:nvSpPr>
          <p:cNvPr id="12" name="Text 9"/>
          <p:cNvSpPr/>
          <p:nvPr/>
        </p:nvSpPr>
        <p:spPr>
          <a:xfrm>
            <a:off x="640080" y="4160520"/>
            <a:ext cx="2350008" cy="1234440"/>
          </a:xfrm>
          <a:prstGeom prst="rect">
            <a:avLst/>
          </a:prstGeom>
          <a:noFill/>
          <a:ln/>
        </p:spPr>
        <p:txBody>
          <a:bodyPr wrap="square" lIns="0" tIns="0" rIns="0" bIns="0" rtlCol="0" anchor="t"/>
          <a:lstStyle/>
          <a:p>
            <a:pPr algn="ctr" indent="0" marL="0">
              <a:lnSpc>
                <a:spcPct val="103000"/>
              </a:lnSpc>
              <a:buNone/>
            </a:pPr>
            <a:r>
              <a:rPr lang="en-US" sz="1100" dirty="0">
                <a:solidFill>
                  <a:srgbClr val="566779"/>
                </a:solidFill>
              </a:rPr>
              <a:t>Define and organize the content, relationships, and structure of the data (the schema).</a:t>
            </a:r>
            <a:endParaRPr lang="en-US" sz="1100" dirty="0"/>
          </a:p>
        </p:txBody>
      </p:sp>
      <p:sp>
        <p:nvSpPr>
          <p:cNvPr id="13" name="Shape 10"/>
          <p:cNvSpPr/>
          <p:nvPr/>
        </p:nvSpPr>
        <p:spPr>
          <a:xfrm>
            <a:off x="3374136" y="2194560"/>
            <a:ext cx="2715768" cy="3337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3374136" y="2194560"/>
            <a:ext cx="2715768" cy="91440"/>
          </a:xfrm>
          <a:prstGeom prst="rect">
            <a:avLst/>
          </a:prstGeom>
          <a:solidFill>
            <a:srgbClr val="F2B705"/>
          </a:solidFill>
          <a:ln/>
        </p:spPr>
      </p:sp>
      <p:sp>
        <p:nvSpPr>
          <p:cNvPr id="15" name="Shape 12"/>
          <p:cNvSpPr/>
          <p:nvPr/>
        </p:nvSpPr>
        <p:spPr>
          <a:xfrm>
            <a:off x="4274820" y="251460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4503420" y="2743200"/>
            <a:ext cx="457200" cy="457200"/>
          </a:xfrm>
          <a:prstGeom prst="rect">
            <a:avLst/>
          </a:prstGeom>
        </p:spPr>
      </p:pic>
      <p:sp>
        <p:nvSpPr>
          <p:cNvPr id="17" name="Text 13"/>
          <p:cNvSpPr/>
          <p:nvPr/>
        </p:nvSpPr>
        <p:spPr>
          <a:xfrm>
            <a:off x="3511296" y="3520440"/>
            <a:ext cx="2441448" cy="64008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Application Development</a:t>
            </a:r>
            <a:endParaRPr lang="en-US" sz="1450" dirty="0"/>
          </a:p>
        </p:txBody>
      </p:sp>
      <p:sp>
        <p:nvSpPr>
          <p:cNvPr id="18" name="Text 14"/>
          <p:cNvSpPr/>
          <p:nvPr/>
        </p:nvSpPr>
        <p:spPr>
          <a:xfrm>
            <a:off x="3557016" y="4160520"/>
            <a:ext cx="2350008" cy="1234440"/>
          </a:xfrm>
          <a:prstGeom prst="rect">
            <a:avLst/>
          </a:prstGeom>
          <a:noFill/>
          <a:ln/>
        </p:spPr>
        <p:txBody>
          <a:bodyPr wrap="square" lIns="0" tIns="0" rIns="0" bIns="0" rtlCol="0" anchor="t"/>
          <a:lstStyle/>
          <a:p>
            <a:pPr algn="ctr" indent="0" marL="0">
              <a:lnSpc>
                <a:spcPct val="103000"/>
              </a:lnSpc>
              <a:buNone/>
            </a:pPr>
            <a:r>
              <a:rPr lang="en-US" sz="1100" dirty="0">
                <a:solidFill>
                  <a:srgbClr val="566779"/>
                </a:solidFill>
              </a:rPr>
              <a:t>Build queries, forms, reports, and web pages using the DBMS tools.</a:t>
            </a:r>
            <a:endParaRPr lang="en-US" sz="1100" dirty="0"/>
          </a:p>
        </p:txBody>
      </p:sp>
      <p:sp>
        <p:nvSpPr>
          <p:cNvPr id="19" name="Shape 15"/>
          <p:cNvSpPr/>
          <p:nvPr/>
        </p:nvSpPr>
        <p:spPr>
          <a:xfrm>
            <a:off x="6291072" y="2194560"/>
            <a:ext cx="2715768" cy="3337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0" name="Shape 16"/>
          <p:cNvSpPr/>
          <p:nvPr/>
        </p:nvSpPr>
        <p:spPr>
          <a:xfrm>
            <a:off x="6291072" y="2194560"/>
            <a:ext cx="2715768" cy="91440"/>
          </a:xfrm>
          <a:prstGeom prst="rect">
            <a:avLst/>
          </a:prstGeom>
          <a:solidFill>
            <a:srgbClr val="F2B705"/>
          </a:solidFill>
          <a:ln/>
        </p:spPr>
      </p:sp>
      <p:sp>
        <p:nvSpPr>
          <p:cNvPr id="21" name="Shape 17"/>
          <p:cNvSpPr/>
          <p:nvPr/>
        </p:nvSpPr>
        <p:spPr>
          <a:xfrm>
            <a:off x="7191756" y="251460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7420356" y="2743200"/>
            <a:ext cx="457200" cy="457200"/>
          </a:xfrm>
          <a:prstGeom prst="rect">
            <a:avLst/>
          </a:prstGeom>
        </p:spPr>
      </p:pic>
      <p:sp>
        <p:nvSpPr>
          <p:cNvPr id="23" name="Text 18"/>
          <p:cNvSpPr/>
          <p:nvPr/>
        </p:nvSpPr>
        <p:spPr>
          <a:xfrm>
            <a:off x="6428232" y="3520440"/>
            <a:ext cx="2441448" cy="64008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Database Interrogation</a:t>
            </a:r>
            <a:endParaRPr lang="en-US" sz="1450" dirty="0"/>
          </a:p>
        </p:txBody>
      </p:sp>
      <p:sp>
        <p:nvSpPr>
          <p:cNvPr id="24" name="Text 19"/>
          <p:cNvSpPr/>
          <p:nvPr/>
        </p:nvSpPr>
        <p:spPr>
          <a:xfrm>
            <a:off x="6473952" y="4160520"/>
            <a:ext cx="2350008" cy="1234440"/>
          </a:xfrm>
          <a:prstGeom prst="rect">
            <a:avLst/>
          </a:prstGeom>
          <a:noFill/>
          <a:ln/>
        </p:spPr>
        <p:txBody>
          <a:bodyPr wrap="square" lIns="0" tIns="0" rIns="0" bIns="0" rtlCol="0" anchor="t"/>
          <a:lstStyle/>
          <a:p>
            <a:pPr algn="ctr" indent="0" marL="0">
              <a:lnSpc>
                <a:spcPct val="103000"/>
              </a:lnSpc>
              <a:buNone/>
            </a:pPr>
            <a:r>
              <a:rPr lang="en-US" sz="1100" dirty="0">
                <a:solidFill>
                  <a:srgbClr val="566779"/>
                </a:solidFill>
              </a:rPr>
              <a:t>Let end users query the data and generate reports on demand.</a:t>
            </a:r>
            <a:endParaRPr lang="en-US" sz="1100" dirty="0"/>
          </a:p>
        </p:txBody>
      </p:sp>
      <p:sp>
        <p:nvSpPr>
          <p:cNvPr id="25" name="Shape 20"/>
          <p:cNvSpPr/>
          <p:nvPr/>
        </p:nvSpPr>
        <p:spPr>
          <a:xfrm>
            <a:off x="9208008" y="2194560"/>
            <a:ext cx="2715768" cy="333756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6" name="Shape 21"/>
          <p:cNvSpPr/>
          <p:nvPr/>
        </p:nvSpPr>
        <p:spPr>
          <a:xfrm>
            <a:off x="9208008" y="2194560"/>
            <a:ext cx="2715768" cy="91440"/>
          </a:xfrm>
          <a:prstGeom prst="rect">
            <a:avLst/>
          </a:prstGeom>
          <a:solidFill>
            <a:srgbClr val="F2B705"/>
          </a:solidFill>
          <a:ln/>
        </p:spPr>
      </p:sp>
      <p:sp>
        <p:nvSpPr>
          <p:cNvPr id="27" name="Shape 22"/>
          <p:cNvSpPr/>
          <p:nvPr/>
        </p:nvSpPr>
        <p:spPr>
          <a:xfrm>
            <a:off x="10108692" y="251460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8" name="Image 3" descr="preencoded.png">    </p:cNvPr>
          <p:cNvPicPr>
            <a:picLocks noChangeAspect="1"/>
          </p:cNvPicPr>
          <p:nvPr/>
        </p:nvPicPr>
        <p:blipFill>
          <a:blip r:embed="rId4"/>
          <a:stretch>
            <a:fillRect/>
          </a:stretch>
        </p:blipFill>
        <p:spPr>
          <a:xfrm>
            <a:off x="10337292" y="2743200"/>
            <a:ext cx="457200" cy="457200"/>
          </a:xfrm>
          <a:prstGeom prst="rect">
            <a:avLst/>
          </a:prstGeom>
        </p:spPr>
      </p:pic>
      <p:sp>
        <p:nvSpPr>
          <p:cNvPr id="29" name="Text 23"/>
          <p:cNvSpPr/>
          <p:nvPr/>
        </p:nvSpPr>
        <p:spPr>
          <a:xfrm>
            <a:off x="9345168" y="3520440"/>
            <a:ext cx="2441448" cy="640080"/>
          </a:xfrm>
          <a:prstGeom prst="rect">
            <a:avLst/>
          </a:prstGeom>
          <a:noFill/>
          <a:ln/>
        </p:spPr>
        <p:txBody>
          <a:bodyPr wrap="square" lIns="0" tIns="0" rIns="0" bIns="0" rtlCol="0" anchor="t"/>
          <a:lstStyle/>
          <a:p>
            <a:pPr algn="ctr" indent="0" marL="0">
              <a:buNone/>
            </a:pPr>
            <a:r>
              <a:rPr lang="en-US" sz="1450" b="1" dirty="0">
                <a:solidFill>
                  <a:srgbClr val="0D3D78"/>
                </a:solidFill>
                <a:latin typeface="Georgia" pitchFamily="34" charset="0"/>
                <a:ea typeface="Georgia" pitchFamily="34" charset="-122"/>
                <a:cs typeface="Georgia" pitchFamily="34" charset="-120"/>
              </a:rPr>
              <a:t>Database Maintenance</a:t>
            </a:r>
            <a:endParaRPr lang="en-US" sz="1450" dirty="0"/>
          </a:p>
        </p:txBody>
      </p:sp>
      <p:sp>
        <p:nvSpPr>
          <p:cNvPr id="30" name="Text 24"/>
          <p:cNvSpPr/>
          <p:nvPr/>
        </p:nvSpPr>
        <p:spPr>
          <a:xfrm>
            <a:off x="9390888" y="4160520"/>
            <a:ext cx="2350008" cy="1234440"/>
          </a:xfrm>
          <a:prstGeom prst="rect">
            <a:avLst/>
          </a:prstGeom>
          <a:noFill/>
          <a:ln/>
        </p:spPr>
        <p:txBody>
          <a:bodyPr wrap="square" lIns="0" tIns="0" rIns="0" bIns="0" rtlCol="0" anchor="t"/>
          <a:lstStyle/>
          <a:p>
            <a:pPr algn="ctr" indent="0" marL="0">
              <a:lnSpc>
                <a:spcPct val="103000"/>
              </a:lnSpc>
              <a:buNone/>
            </a:pPr>
            <a:r>
              <a:rPr lang="en-US" sz="1100" dirty="0">
                <a:solidFill>
                  <a:srgbClr val="566779"/>
                </a:solidFill>
              </a:rPr>
              <a:t>Add, delete, update, and correct data to reflect new transactions and events.</a:t>
            </a:r>
            <a:endParaRPr lang="en-US" sz="1100" dirty="0"/>
          </a:p>
        </p:txBody>
      </p:sp>
      <p:sp>
        <p:nvSpPr>
          <p:cNvPr id="31" name="Shape 25"/>
          <p:cNvSpPr/>
          <p:nvPr/>
        </p:nvSpPr>
        <p:spPr>
          <a:xfrm>
            <a:off x="0" y="6547104"/>
            <a:ext cx="12161520" cy="310896"/>
          </a:xfrm>
          <a:prstGeom prst="rect">
            <a:avLst/>
          </a:prstGeom>
          <a:solidFill>
            <a:srgbClr val="0E2A47"/>
          </a:solidFill>
          <a:ln/>
        </p:spPr>
      </p:sp>
      <p:sp>
        <p:nvSpPr>
          <p:cNvPr id="32" name="Text 26"/>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3" name="Text 27"/>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5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6</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Fundamental Database Structures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Five ways data elements can be organized and related</a:t>
            </a:r>
            <a:endParaRPr lang="en-US" sz="1250" dirty="0"/>
          </a:p>
        </p:txBody>
      </p:sp>
      <p:sp>
        <p:nvSpPr>
          <p:cNvPr id="6" name="Shape 4"/>
          <p:cNvSpPr/>
          <p:nvPr/>
        </p:nvSpPr>
        <p:spPr>
          <a:xfrm>
            <a:off x="457200" y="2240280"/>
            <a:ext cx="2084832" cy="3017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2240280"/>
            <a:ext cx="2084832" cy="109728"/>
          </a:xfrm>
          <a:prstGeom prst="rect">
            <a:avLst/>
          </a:prstGeom>
          <a:solidFill>
            <a:srgbClr val="1565C0"/>
          </a:solidFill>
          <a:ln/>
        </p:spPr>
      </p:sp>
      <p:sp>
        <p:nvSpPr>
          <p:cNvPr id="8" name="Shape 6"/>
          <p:cNvSpPr/>
          <p:nvPr/>
        </p:nvSpPr>
        <p:spPr>
          <a:xfrm>
            <a:off x="1042416"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1271016" y="2788920"/>
            <a:ext cx="457200" cy="457200"/>
          </a:xfrm>
          <a:prstGeom prst="rect">
            <a:avLst/>
          </a:prstGeom>
        </p:spPr>
      </p:pic>
      <p:sp>
        <p:nvSpPr>
          <p:cNvPr id="10" name="Text 7"/>
          <p:cNvSpPr/>
          <p:nvPr/>
        </p:nvSpPr>
        <p:spPr>
          <a:xfrm>
            <a:off x="530352" y="3566160"/>
            <a:ext cx="1938528" cy="64008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Hierarchical</a:t>
            </a:r>
            <a:endParaRPr lang="en-US" sz="1350" dirty="0"/>
          </a:p>
        </p:txBody>
      </p:sp>
      <p:sp>
        <p:nvSpPr>
          <p:cNvPr id="11" name="Text 8"/>
          <p:cNvSpPr/>
          <p:nvPr/>
        </p:nvSpPr>
        <p:spPr>
          <a:xfrm>
            <a:off x="566928" y="4160520"/>
            <a:ext cx="1865376" cy="96012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Tree of records; one-to-many parent-child links.</a:t>
            </a:r>
            <a:endParaRPr lang="en-US" sz="1050" dirty="0"/>
          </a:p>
        </p:txBody>
      </p:sp>
      <p:sp>
        <p:nvSpPr>
          <p:cNvPr id="12" name="Shape 9"/>
          <p:cNvSpPr/>
          <p:nvPr/>
        </p:nvSpPr>
        <p:spPr>
          <a:xfrm>
            <a:off x="2747772" y="2240280"/>
            <a:ext cx="2084832" cy="3017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2747772" y="2240280"/>
            <a:ext cx="2084832" cy="109728"/>
          </a:xfrm>
          <a:prstGeom prst="rect">
            <a:avLst/>
          </a:prstGeom>
          <a:solidFill>
            <a:srgbClr val="1565C0"/>
          </a:solidFill>
          <a:ln/>
        </p:spPr>
      </p:sp>
      <p:sp>
        <p:nvSpPr>
          <p:cNvPr id="14" name="Shape 11"/>
          <p:cNvSpPr/>
          <p:nvPr/>
        </p:nvSpPr>
        <p:spPr>
          <a:xfrm>
            <a:off x="3332988"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3561588" y="2788920"/>
            <a:ext cx="457200" cy="457200"/>
          </a:xfrm>
          <a:prstGeom prst="rect">
            <a:avLst/>
          </a:prstGeom>
        </p:spPr>
      </p:pic>
      <p:sp>
        <p:nvSpPr>
          <p:cNvPr id="16" name="Text 12"/>
          <p:cNvSpPr/>
          <p:nvPr/>
        </p:nvSpPr>
        <p:spPr>
          <a:xfrm>
            <a:off x="2820924" y="3566160"/>
            <a:ext cx="1938528" cy="64008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Network</a:t>
            </a:r>
            <a:endParaRPr lang="en-US" sz="1350" dirty="0"/>
          </a:p>
        </p:txBody>
      </p:sp>
      <p:sp>
        <p:nvSpPr>
          <p:cNvPr id="17" name="Text 13"/>
          <p:cNvSpPr/>
          <p:nvPr/>
        </p:nvSpPr>
        <p:spPr>
          <a:xfrm>
            <a:off x="2857500" y="4160520"/>
            <a:ext cx="1865376" cy="96012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Records linked in many-to-many relationships.</a:t>
            </a:r>
            <a:endParaRPr lang="en-US" sz="1050" dirty="0"/>
          </a:p>
        </p:txBody>
      </p:sp>
      <p:sp>
        <p:nvSpPr>
          <p:cNvPr id="18" name="Shape 14"/>
          <p:cNvSpPr/>
          <p:nvPr/>
        </p:nvSpPr>
        <p:spPr>
          <a:xfrm>
            <a:off x="5038344" y="2240280"/>
            <a:ext cx="2084832" cy="3017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5038344" y="2240280"/>
            <a:ext cx="2084832" cy="109728"/>
          </a:xfrm>
          <a:prstGeom prst="rect">
            <a:avLst/>
          </a:prstGeom>
          <a:solidFill>
            <a:srgbClr val="1565C0"/>
          </a:solidFill>
          <a:ln/>
        </p:spPr>
      </p:sp>
      <p:sp>
        <p:nvSpPr>
          <p:cNvPr id="20" name="Shape 16"/>
          <p:cNvSpPr/>
          <p:nvPr/>
        </p:nvSpPr>
        <p:spPr>
          <a:xfrm>
            <a:off x="5623560"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5852160" y="2788920"/>
            <a:ext cx="457200" cy="457200"/>
          </a:xfrm>
          <a:prstGeom prst="rect">
            <a:avLst/>
          </a:prstGeom>
        </p:spPr>
      </p:pic>
      <p:sp>
        <p:nvSpPr>
          <p:cNvPr id="22" name="Text 17"/>
          <p:cNvSpPr/>
          <p:nvPr/>
        </p:nvSpPr>
        <p:spPr>
          <a:xfrm>
            <a:off x="5111496" y="3566160"/>
            <a:ext cx="1938528" cy="64008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Relational</a:t>
            </a:r>
            <a:endParaRPr lang="en-US" sz="1350" dirty="0"/>
          </a:p>
        </p:txBody>
      </p:sp>
      <p:sp>
        <p:nvSpPr>
          <p:cNvPr id="23" name="Text 18"/>
          <p:cNvSpPr/>
          <p:nvPr/>
        </p:nvSpPr>
        <p:spPr>
          <a:xfrm>
            <a:off x="5148072" y="4160520"/>
            <a:ext cx="1865376" cy="96012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Data in tables of rows and columns; the most widely used.</a:t>
            </a:r>
            <a:endParaRPr lang="en-US" sz="1050" dirty="0"/>
          </a:p>
        </p:txBody>
      </p:sp>
      <p:sp>
        <p:nvSpPr>
          <p:cNvPr id="24" name="Shape 19"/>
          <p:cNvSpPr/>
          <p:nvPr/>
        </p:nvSpPr>
        <p:spPr>
          <a:xfrm>
            <a:off x="7328916" y="2240280"/>
            <a:ext cx="2084832" cy="3017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5" name="Shape 20"/>
          <p:cNvSpPr/>
          <p:nvPr/>
        </p:nvSpPr>
        <p:spPr>
          <a:xfrm>
            <a:off x="7328916" y="2240280"/>
            <a:ext cx="2084832" cy="109728"/>
          </a:xfrm>
          <a:prstGeom prst="rect">
            <a:avLst/>
          </a:prstGeom>
          <a:solidFill>
            <a:srgbClr val="1565C0"/>
          </a:solidFill>
          <a:ln/>
        </p:spPr>
      </p:sp>
      <p:sp>
        <p:nvSpPr>
          <p:cNvPr id="26" name="Shape 21"/>
          <p:cNvSpPr/>
          <p:nvPr/>
        </p:nvSpPr>
        <p:spPr>
          <a:xfrm>
            <a:off x="7914132"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7" name="Image 3" descr="preencoded.png">    </p:cNvPr>
          <p:cNvPicPr>
            <a:picLocks noChangeAspect="1"/>
          </p:cNvPicPr>
          <p:nvPr/>
        </p:nvPicPr>
        <p:blipFill>
          <a:blip r:embed="rId4"/>
          <a:stretch>
            <a:fillRect/>
          </a:stretch>
        </p:blipFill>
        <p:spPr>
          <a:xfrm>
            <a:off x="8142732" y="2788920"/>
            <a:ext cx="457200" cy="457200"/>
          </a:xfrm>
          <a:prstGeom prst="rect">
            <a:avLst/>
          </a:prstGeom>
        </p:spPr>
      </p:pic>
      <p:sp>
        <p:nvSpPr>
          <p:cNvPr id="28" name="Text 22"/>
          <p:cNvSpPr/>
          <p:nvPr/>
        </p:nvSpPr>
        <p:spPr>
          <a:xfrm>
            <a:off x="7402068" y="3566160"/>
            <a:ext cx="1938528" cy="64008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Multidimensional</a:t>
            </a:r>
            <a:endParaRPr lang="en-US" sz="1350" dirty="0"/>
          </a:p>
        </p:txBody>
      </p:sp>
      <p:sp>
        <p:nvSpPr>
          <p:cNvPr id="29" name="Text 23"/>
          <p:cNvSpPr/>
          <p:nvPr/>
        </p:nvSpPr>
        <p:spPr>
          <a:xfrm>
            <a:off x="7438644" y="4160520"/>
            <a:ext cx="1865376" cy="96012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Data viewed as cubes; powers OLAP analytics.</a:t>
            </a:r>
            <a:endParaRPr lang="en-US" sz="1050" dirty="0"/>
          </a:p>
        </p:txBody>
      </p:sp>
      <p:sp>
        <p:nvSpPr>
          <p:cNvPr id="30" name="Shape 24"/>
          <p:cNvSpPr/>
          <p:nvPr/>
        </p:nvSpPr>
        <p:spPr>
          <a:xfrm>
            <a:off x="9619488" y="2240280"/>
            <a:ext cx="2084832" cy="3017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31" name="Shape 25"/>
          <p:cNvSpPr/>
          <p:nvPr/>
        </p:nvSpPr>
        <p:spPr>
          <a:xfrm>
            <a:off x="9619488" y="2240280"/>
            <a:ext cx="2084832" cy="109728"/>
          </a:xfrm>
          <a:prstGeom prst="rect">
            <a:avLst/>
          </a:prstGeom>
          <a:solidFill>
            <a:srgbClr val="1565C0"/>
          </a:solidFill>
          <a:ln/>
        </p:spPr>
      </p:sp>
      <p:sp>
        <p:nvSpPr>
          <p:cNvPr id="32" name="Shape 26"/>
          <p:cNvSpPr/>
          <p:nvPr/>
        </p:nvSpPr>
        <p:spPr>
          <a:xfrm>
            <a:off x="10204704"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33" name="Image 4" descr="preencoded.png">    </p:cNvPr>
          <p:cNvPicPr>
            <a:picLocks noChangeAspect="1"/>
          </p:cNvPicPr>
          <p:nvPr/>
        </p:nvPicPr>
        <p:blipFill>
          <a:blip r:embed="rId5"/>
          <a:stretch>
            <a:fillRect/>
          </a:stretch>
        </p:blipFill>
        <p:spPr>
          <a:xfrm>
            <a:off x="10433304" y="2788920"/>
            <a:ext cx="457200" cy="457200"/>
          </a:xfrm>
          <a:prstGeom prst="rect">
            <a:avLst/>
          </a:prstGeom>
        </p:spPr>
      </p:pic>
      <p:sp>
        <p:nvSpPr>
          <p:cNvPr id="34" name="Text 27"/>
          <p:cNvSpPr/>
          <p:nvPr/>
        </p:nvSpPr>
        <p:spPr>
          <a:xfrm>
            <a:off x="9692640" y="3566160"/>
            <a:ext cx="1938528" cy="64008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Object-Oriented</a:t>
            </a:r>
            <a:endParaRPr lang="en-US" sz="1350" dirty="0"/>
          </a:p>
        </p:txBody>
      </p:sp>
      <p:sp>
        <p:nvSpPr>
          <p:cNvPr id="35" name="Text 28"/>
          <p:cNvSpPr/>
          <p:nvPr/>
        </p:nvSpPr>
        <p:spPr>
          <a:xfrm>
            <a:off x="9729216" y="4160520"/>
            <a:ext cx="1865376" cy="96012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Data and the methods that act on it bundled as objects.</a:t>
            </a:r>
            <a:endParaRPr lang="en-US" sz="1050" dirty="0"/>
          </a:p>
        </p:txBody>
      </p:sp>
      <p:sp>
        <p:nvSpPr>
          <p:cNvPr id="36" name="Text 29"/>
          <p:cNvSpPr/>
          <p:nvPr/>
        </p:nvSpPr>
        <p:spPr>
          <a:xfrm>
            <a:off x="457200" y="5532120"/>
            <a:ext cx="11247120" cy="365760"/>
          </a:xfrm>
          <a:prstGeom prst="rect">
            <a:avLst/>
          </a:prstGeom>
          <a:noFill/>
          <a:ln/>
        </p:spPr>
        <p:txBody>
          <a:bodyPr wrap="square" lIns="0" tIns="0" rIns="0" bIns="0" rtlCol="0" anchor="ctr"/>
          <a:lstStyle/>
          <a:p>
            <a:pPr algn="ctr" indent="0" marL="0">
              <a:buNone/>
            </a:pPr>
            <a:r>
              <a:rPr lang="en-US" sz="1200" i="1" dirty="0">
                <a:solidFill>
                  <a:srgbClr val="566779"/>
                </a:solidFill>
              </a:rPr>
              <a:t>The next two slides look at each structure, then we evaluate their strengths and limits.</a:t>
            </a:r>
            <a:endParaRPr lang="en-US" sz="1200" dirty="0"/>
          </a:p>
        </p:txBody>
      </p:sp>
      <p:sp>
        <p:nvSpPr>
          <p:cNvPr id="37" name="Shape 30"/>
          <p:cNvSpPr/>
          <p:nvPr/>
        </p:nvSpPr>
        <p:spPr>
          <a:xfrm>
            <a:off x="0" y="6547104"/>
            <a:ext cx="12161520" cy="310896"/>
          </a:xfrm>
          <a:prstGeom prst="rect">
            <a:avLst/>
          </a:prstGeom>
          <a:solidFill>
            <a:srgbClr val="0E2A47"/>
          </a:solidFill>
          <a:ln/>
        </p:spPr>
      </p:sp>
      <p:sp>
        <p:nvSpPr>
          <p:cNvPr id="38" name="Text 31"/>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9" name="Text 32"/>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6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7</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Structures in Depth (1 of 2)</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Hierarchical, network, and relational</a:t>
            </a:r>
            <a:endParaRPr lang="en-US" sz="1250" dirty="0"/>
          </a:p>
        </p:txBody>
      </p:sp>
      <p:sp>
        <p:nvSpPr>
          <p:cNvPr id="6" name="Shape 4"/>
          <p:cNvSpPr/>
          <p:nvPr/>
        </p:nvSpPr>
        <p:spPr>
          <a:xfrm>
            <a:off x="457200" y="1783080"/>
            <a:ext cx="3630168" cy="3977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3630168" cy="603504"/>
          </a:xfrm>
          <a:prstGeom prst="rect">
            <a:avLst/>
          </a:prstGeom>
          <a:solidFill>
            <a:srgbClr val="1565C0"/>
          </a:solidFill>
          <a:ln/>
        </p:spPr>
      </p:sp>
      <p:sp>
        <p:nvSpPr>
          <p:cNvPr id="8" name="Shape 6"/>
          <p:cNvSpPr/>
          <p:nvPr/>
        </p:nvSpPr>
        <p:spPr>
          <a:xfrm>
            <a:off x="612648"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694944" y="1984248"/>
            <a:ext cx="201168" cy="201168"/>
          </a:xfrm>
          <a:prstGeom prst="rect">
            <a:avLst/>
          </a:prstGeom>
        </p:spPr>
      </p:pic>
      <p:sp>
        <p:nvSpPr>
          <p:cNvPr id="10" name="Text 7"/>
          <p:cNvSpPr/>
          <p:nvPr/>
        </p:nvSpPr>
        <p:spPr>
          <a:xfrm>
            <a:off x="1060704" y="178308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Hierarchical</a:t>
            </a:r>
            <a:endParaRPr lang="en-US" sz="1600" dirty="0"/>
          </a:p>
        </p:txBody>
      </p:sp>
      <p:sp>
        <p:nvSpPr>
          <p:cNvPr id="11" name="Text 8"/>
          <p:cNvSpPr/>
          <p:nvPr/>
        </p:nvSpPr>
        <p:spPr>
          <a:xfrm>
            <a:off x="713232" y="2560320"/>
            <a:ext cx="3172968" cy="3063240"/>
          </a:xfrm>
          <a:prstGeom prst="rect">
            <a:avLst/>
          </a:prstGeom>
          <a:noFill/>
          <a:ln/>
        </p:spPr>
        <p:txBody>
          <a:bodyPr wrap="square" lIns="0" tIns="0" rIns="0" bIns="0" rtlCol="0" anchor="t"/>
          <a:lstStyle/>
          <a:p>
            <a:pPr marL="152400" indent="-152400">
              <a:lnSpc>
                <a:spcPct val="103000"/>
              </a:lnSpc>
              <a:spcAft>
                <a:spcPts val="700"/>
              </a:spcAft>
              <a:buSzPct val="100000"/>
              <a:buChar char="•"/>
            </a:pPr>
            <a:r>
              <a:rPr lang="en-US" sz="1150" dirty="0">
                <a:solidFill>
                  <a:srgbClr val="13283F"/>
                </a:solidFill>
              </a:rPr>
              <a:t>Earliest DBMS structure</a:t>
            </a:r>
            <a:endParaRPr lang="en-US" sz="1150" dirty="0"/>
          </a:p>
          <a:p>
            <a:pPr marL="152400" indent="-152400">
              <a:lnSpc>
                <a:spcPct val="103000"/>
              </a:lnSpc>
              <a:spcAft>
                <a:spcPts val="700"/>
              </a:spcAft>
              <a:buSzPct val="100000"/>
              <a:buChar char="•"/>
            </a:pPr>
            <a:r>
              <a:rPr lang="en-US" sz="1150" dirty="0">
                <a:solidFill>
                  <a:srgbClr val="13283F"/>
                </a:solidFill>
              </a:rPr>
              <a:t>Records arranged in a tree</a:t>
            </a:r>
            <a:endParaRPr lang="en-US" sz="1150" dirty="0"/>
          </a:p>
          <a:p>
            <a:pPr marL="152400" indent="-152400">
              <a:lnSpc>
                <a:spcPct val="103000"/>
              </a:lnSpc>
              <a:spcAft>
                <a:spcPts val="700"/>
              </a:spcAft>
              <a:buSzPct val="100000"/>
              <a:buChar char="•"/>
            </a:pPr>
            <a:r>
              <a:rPr lang="en-US" sz="1150" dirty="0">
                <a:solidFill>
                  <a:srgbClr val="13283F"/>
                </a:solidFill>
              </a:rPr>
              <a:t>Relationships are one-to-many</a:t>
            </a:r>
            <a:endParaRPr lang="en-US" sz="1150" dirty="0"/>
          </a:p>
          <a:p>
            <a:pPr marL="152400" indent="-152400">
              <a:lnSpc>
                <a:spcPct val="103000"/>
              </a:lnSpc>
              <a:spcAft>
                <a:spcPts val="700"/>
              </a:spcAft>
              <a:buSzPct val="100000"/>
              <a:buChar char="•"/>
            </a:pPr>
            <a:r>
              <a:rPr lang="en-US" sz="1150" dirty="0">
                <a:solidFill>
                  <a:srgbClr val="13283F"/>
                </a:solidFill>
              </a:rPr>
              <a:t>Best for structured, routine transactions</a:t>
            </a:r>
            <a:endParaRPr lang="en-US" sz="1150" dirty="0"/>
          </a:p>
        </p:txBody>
      </p:sp>
      <p:sp>
        <p:nvSpPr>
          <p:cNvPr id="12" name="Shape 9"/>
          <p:cNvSpPr/>
          <p:nvPr/>
        </p:nvSpPr>
        <p:spPr>
          <a:xfrm>
            <a:off x="4288536" y="1783080"/>
            <a:ext cx="3630168" cy="3977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4288536" y="1783080"/>
            <a:ext cx="3630168" cy="603504"/>
          </a:xfrm>
          <a:prstGeom prst="rect">
            <a:avLst/>
          </a:prstGeom>
          <a:solidFill>
            <a:srgbClr val="1565C0"/>
          </a:solidFill>
          <a:ln/>
        </p:spPr>
      </p:sp>
      <p:sp>
        <p:nvSpPr>
          <p:cNvPr id="14" name="Shape 11"/>
          <p:cNvSpPr/>
          <p:nvPr/>
        </p:nvSpPr>
        <p:spPr>
          <a:xfrm>
            <a:off x="4443984"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4526280" y="1984248"/>
            <a:ext cx="201168" cy="201168"/>
          </a:xfrm>
          <a:prstGeom prst="rect">
            <a:avLst/>
          </a:prstGeom>
        </p:spPr>
      </p:pic>
      <p:sp>
        <p:nvSpPr>
          <p:cNvPr id="16" name="Text 12"/>
          <p:cNvSpPr/>
          <p:nvPr/>
        </p:nvSpPr>
        <p:spPr>
          <a:xfrm>
            <a:off x="4892040" y="178308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Network</a:t>
            </a:r>
            <a:endParaRPr lang="en-US" sz="1600" dirty="0"/>
          </a:p>
        </p:txBody>
      </p:sp>
      <p:sp>
        <p:nvSpPr>
          <p:cNvPr id="17" name="Text 13"/>
          <p:cNvSpPr/>
          <p:nvPr/>
        </p:nvSpPr>
        <p:spPr>
          <a:xfrm>
            <a:off x="4544568" y="2560320"/>
            <a:ext cx="3172968" cy="3063240"/>
          </a:xfrm>
          <a:prstGeom prst="rect">
            <a:avLst/>
          </a:prstGeom>
          <a:noFill/>
          <a:ln/>
        </p:spPr>
        <p:txBody>
          <a:bodyPr wrap="square" lIns="0" tIns="0" rIns="0" bIns="0" rtlCol="0" anchor="t"/>
          <a:lstStyle/>
          <a:p>
            <a:pPr marL="152400" indent="-152400">
              <a:lnSpc>
                <a:spcPct val="103000"/>
              </a:lnSpc>
              <a:spcAft>
                <a:spcPts val="700"/>
              </a:spcAft>
              <a:buSzPct val="100000"/>
              <a:buChar char="•"/>
            </a:pPr>
            <a:r>
              <a:rPr lang="en-US" sz="1150" dirty="0">
                <a:solidFill>
                  <a:srgbClr val="13283F"/>
                </a:solidFill>
              </a:rPr>
              <a:t>Used in some mainframe DBMS packages</a:t>
            </a:r>
            <a:endParaRPr lang="en-US" sz="1150" dirty="0"/>
          </a:p>
          <a:p>
            <a:pPr marL="152400" indent="-152400">
              <a:lnSpc>
                <a:spcPct val="103000"/>
              </a:lnSpc>
              <a:spcAft>
                <a:spcPts val="700"/>
              </a:spcAft>
              <a:buSzPct val="100000"/>
              <a:buChar char="•"/>
            </a:pPr>
            <a:r>
              <a:rPr lang="en-US" sz="1150" dirty="0">
                <a:solidFill>
                  <a:srgbClr val="13283F"/>
                </a:solidFill>
              </a:rPr>
              <a:t>Supports many-to-many relationships</a:t>
            </a:r>
            <a:endParaRPr lang="en-US" sz="1150" dirty="0"/>
          </a:p>
          <a:p>
            <a:pPr marL="152400" indent="-152400">
              <a:lnSpc>
                <a:spcPct val="103000"/>
              </a:lnSpc>
              <a:spcAft>
                <a:spcPts val="700"/>
              </a:spcAft>
              <a:buSzPct val="100000"/>
              <a:buChar char="•"/>
            </a:pPr>
            <a:r>
              <a:rPr lang="en-US" sz="1150" dirty="0">
                <a:solidFill>
                  <a:srgbClr val="13283F"/>
                </a:solidFill>
              </a:rPr>
              <a:t>More flexible than hierarchical</a:t>
            </a:r>
            <a:endParaRPr lang="en-US" sz="1150" dirty="0"/>
          </a:p>
          <a:p>
            <a:pPr marL="152400" indent="-152400">
              <a:lnSpc>
                <a:spcPct val="103000"/>
              </a:lnSpc>
              <a:spcAft>
                <a:spcPts val="700"/>
              </a:spcAft>
              <a:buSzPct val="100000"/>
              <a:buChar char="•"/>
            </a:pPr>
            <a:r>
              <a:rPr lang="en-US" sz="1150" dirty="0">
                <a:solidFill>
                  <a:srgbClr val="13283F"/>
                </a:solidFill>
              </a:rPr>
              <a:t>Hard to handle ad hoc requests</a:t>
            </a:r>
            <a:endParaRPr lang="en-US" sz="1150" dirty="0"/>
          </a:p>
        </p:txBody>
      </p:sp>
      <p:sp>
        <p:nvSpPr>
          <p:cNvPr id="18" name="Shape 14"/>
          <p:cNvSpPr/>
          <p:nvPr/>
        </p:nvSpPr>
        <p:spPr>
          <a:xfrm>
            <a:off x="8119872" y="1783080"/>
            <a:ext cx="3630168" cy="3977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8119872" y="1783080"/>
            <a:ext cx="3630168" cy="603504"/>
          </a:xfrm>
          <a:prstGeom prst="rect">
            <a:avLst/>
          </a:prstGeom>
          <a:solidFill>
            <a:srgbClr val="1565C0"/>
          </a:solidFill>
          <a:ln/>
        </p:spPr>
      </p:sp>
      <p:sp>
        <p:nvSpPr>
          <p:cNvPr id="20" name="Shape 16"/>
          <p:cNvSpPr/>
          <p:nvPr/>
        </p:nvSpPr>
        <p:spPr>
          <a:xfrm>
            <a:off x="8275320"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8357616" y="1984248"/>
            <a:ext cx="201168" cy="201168"/>
          </a:xfrm>
          <a:prstGeom prst="rect">
            <a:avLst/>
          </a:prstGeom>
        </p:spPr>
      </p:pic>
      <p:sp>
        <p:nvSpPr>
          <p:cNvPr id="22" name="Text 17"/>
          <p:cNvSpPr/>
          <p:nvPr/>
        </p:nvSpPr>
        <p:spPr>
          <a:xfrm>
            <a:off x="8723376" y="178308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Relational</a:t>
            </a:r>
            <a:endParaRPr lang="en-US" sz="1600" dirty="0"/>
          </a:p>
        </p:txBody>
      </p:sp>
      <p:sp>
        <p:nvSpPr>
          <p:cNvPr id="23" name="Text 18"/>
          <p:cNvSpPr/>
          <p:nvPr/>
        </p:nvSpPr>
        <p:spPr>
          <a:xfrm>
            <a:off x="8375904" y="2560320"/>
            <a:ext cx="3172968" cy="3063240"/>
          </a:xfrm>
          <a:prstGeom prst="rect">
            <a:avLst/>
          </a:prstGeom>
          <a:noFill/>
          <a:ln/>
        </p:spPr>
        <p:txBody>
          <a:bodyPr wrap="square" lIns="0" tIns="0" rIns="0" bIns="0" rtlCol="0" anchor="t"/>
          <a:lstStyle/>
          <a:p>
            <a:pPr marL="152400" indent="-152400">
              <a:lnSpc>
                <a:spcPct val="103000"/>
              </a:lnSpc>
              <a:spcAft>
                <a:spcPts val="700"/>
              </a:spcAft>
              <a:buSzPct val="100000"/>
              <a:buChar char="•"/>
            </a:pPr>
            <a:r>
              <a:rPr lang="en-US" sz="1150" dirty="0">
                <a:solidFill>
                  <a:srgbClr val="13283F"/>
                </a:solidFill>
              </a:rPr>
              <a:t>The most widely used structure</a:t>
            </a:r>
            <a:endParaRPr lang="en-US" sz="1150" dirty="0"/>
          </a:p>
          <a:p>
            <a:pPr marL="152400" indent="-152400">
              <a:lnSpc>
                <a:spcPct val="103000"/>
              </a:lnSpc>
              <a:spcAft>
                <a:spcPts val="700"/>
              </a:spcAft>
              <a:buSzPct val="100000"/>
              <a:buChar char="•"/>
            </a:pPr>
            <a:r>
              <a:rPr lang="en-US" sz="1150" dirty="0">
                <a:solidFill>
                  <a:srgbClr val="13283F"/>
                </a:solidFill>
              </a:rPr>
              <a:t>Data stored in tables (rows = records, columns = fields)</a:t>
            </a:r>
            <a:endParaRPr lang="en-US" sz="1150" dirty="0"/>
          </a:p>
          <a:p>
            <a:pPr marL="152400" indent="-152400">
              <a:lnSpc>
                <a:spcPct val="103000"/>
              </a:lnSpc>
              <a:spcAft>
                <a:spcPts val="700"/>
              </a:spcAft>
              <a:buSzPct val="100000"/>
              <a:buChar char="•"/>
            </a:pPr>
            <a:r>
              <a:rPr lang="en-US" sz="1150" dirty="0">
                <a:solidFill>
                  <a:srgbClr val="13283F"/>
                </a:solidFill>
              </a:rPr>
              <a:t>Links files that share a common data element</a:t>
            </a:r>
            <a:endParaRPr lang="en-US" sz="1150" dirty="0"/>
          </a:p>
          <a:p>
            <a:pPr marL="152400" indent="-152400">
              <a:lnSpc>
                <a:spcPct val="103000"/>
              </a:lnSpc>
              <a:spcAft>
                <a:spcPts val="700"/>
              </a:spcAft>
              <a:buSzPct val="100000"/>
              <a:buChar char="•"/>
            </a:pPr>
            <a:r>
              <a:rPr lang="en-US" sz="1150" dirty="0">
                <a:solidFill>
                  <a:srgbClr val="13283F"/>
                </a:solidFill>
              </a:rPr>
              <a:t>Responds easily to ad hoc queries</a:t>
            </a:r>
            <a:endParaRPr lang="en-US" sz="1150" dirty="0"/>
          </a:p>
        </p:txBody>
      </p:sp>
      <p:sp>
        <p:nvSpPr>
          <p:cNvPr id="24" name="Shape 19"/>
          <p:cNvSpPr/>
          <p:nvPr/>
        </p:nvSpPr>
        <p:spPr>
          <a:xfrm>
            <a:off x="0" y="6547104"/>
            <a:ext cx="12161520" cy="310896"/>
          </a:xfrm>
          <a:prstGeom prst="rect">
            <a:avLst/>
          </a:prstGeom>
          <a:solidFill>
            <a:srgbClr val="0E2A47"/>
          </a:solidFill>
          <a:ln/>
        </p:spPr>
      </p:sp>
      <p:sp>
        <p:nvSpPr>
          <p:cNvPr id="25" name="Text 20"/>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6" name="Text 21"/>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7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Structures in Depth (2 of 2)</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Multidimensional and object-oriented</a:t>
            </a:r>
            <a:endParaRPr lang="en-US" sz="1250" dirty="0"/>
          </a:p>
        </p:txBody>
      </p:sp>
      <p:sp>
        <p:nvSpPr>
          <p:cNvPr id="6" name="Shape 4"/>
          <p:cNvSpPr/>
          <p:nvPr/>
        </p:nvSpPr>
        <p:spPr>
          <a:xfrm>
            <a:off x="457200" y="1783080"/>
            <a:ext cx="5532120" cy="3977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5532120" cy="603504"/>
          </a:xfrm>
          <a:prstGeom prst="rect">
            <a:avLst/>
          </a:prstGeom>
          <a:solidFill>
            <a:srgbClr val="1565C0"/>
          </a:solidFill>
          <a:ln/>
        </p:spPr>
      </p:sp>
      <p:sp>
        <p:nvSpPr>
          <p:cNvPr id="8" name="Shape 6"/>
          <p:cNvSpPr/>
          <p:nvPr/>
        </p:nvSpPr>
        <p:spPr>
          <a:xfrm>
            <a:off x="621792"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704088" y="1984248"/>
            <a:ext cx="201168" cy="201168"/>
          </a:xfrm>
          <a:prstGeom prst="rect">
            <a:avLst/>
          </a:prstGeom>
        </p:spPr>
      </p:pic>
      <p:sp>
        <p:nvSpPr>
          <p:cNvPr id="10" name="Text 7"/>
          <p:cNvSpPr/>
          <p:nvPr/>
        </p:nvSpPr>
        <p:spPr>
          <a:xfrm>
            <a:off x="1097280" y="1783080"/>
            <a:ext cx="4754880" cy="603504"/>
          </a:xfrm>
          <a:prstGeom prst="rect">
            <a:avLst/>
          </a:prstGeom>
          <a:noFill/>
          <a:ln/>
        </p:spPr>
        <p:txBody>
          <a:bodyPr wrap="square" lIns="0" tIns="0" rIns="0" bIns="0" rtlCol="0" anchor="ctr"/>
          <a:lstStyle/>
          <a:p>
            <a:pPr indent="0" marL="0">
              <a:buNone/>
            </a:pPr>
            <a:r>
              <a:rPr lang="en-US" sz="1700" b="1" dirty="0">
                <a:solidFill>
                  <a:srgbClr val="FFFFFF"/>
                </a:solidFill>
              </a:rPr>
              <a:t>Multidimensional</a:t>
            </a:r>
            <a:endParaRPr lang="en-US" sz="1700" dirty="0"/>
          </a:p>
        </p:txBody>
      </p:sp>
      <p:sp>
        <p:nvSpPr>
          <p:cNvPr id="11" name="Text 8"/>
          <p:cNvSpPr/>
          <p:nvPr/>
        </p:nvSpPr>
        <p:spPr>
          <a:xfrm>
            <a:off x="749808" y="2606040"/>
            <a:ext cx="4983480" cy="3017520"/>
          </a:xfrm>
          <a:prstGeom prst="rect">
            <a:avLst/>
          </a:prstGeom>
          <a:noFill/>
          <a:ln/>
        </p:spPr>
        <p:txBody>
          <a:bodyPr wrap="square" lIns="0" tIns="0" rIns="0" bIns="0" rtlCol="0" anchor="t"/>
          <a:lstStyle/>
          <a:p>
            <a:pPr marL="152400" indent="-152400">
              <a:lnSpc>
                <a:spcPct val="103000"/>
              </a:lnSpc>
              <a:spcAft>
                <a:spcPts val="900"/>
              </a:spcAft>
              <a:buSzPct val="100000"/>
              <a:buChar char="•"/>
            </a:pPr>
            <a:r>
              <a:rPr lang="en-US" sz="1250" dirty="0">
                <a:solidFill>
                  <a:srgbClr val="13283F"/>
                </a:solidFill>
              </a:rPr>
              <a:t>A variation of the relational model</a:t>
            </a:r>
            <a:endParaRPr lang="en-US" sz="1250" dirty="0"/>
          </a:p>
          <a:p>
            <a:pPr marL="152400" indent="-152400">
              <a:lnSpc>
                <a:spcPct val="103000"/>
              </a:lnSpc>
              <a:spcAft>
                <a:spcPts val="900"/>
              </a:spcAft>
              <a:buSzPct val="100000"/>
              <a:buChar char="•"/>
            </a:pPr>
            <a:r>
              <a:rPr lang="en-US" sz="1250" dirty="0">
                <a:solidFill>
                  <a:srgbClr val="13283F"/>
                </a:solidFill>
              </a:rPr>
              <a:t>Organizes data into multidimensional cubes</a:t>
            </a:r>
            <a:endParaRPr lang="en-US" sz="1250" dirty="0"/>
          </a:p>
          <a:p>
            <a:pPr marL="152400" indent="-152400">
              <a:lnSpc>
                <a:spcPct val="103000"/>
              </a:lnSpc>
              <a:spcAft>
                <a:spcPts val="900"/>
              </a:spcAft>
              <a:buSzPct val="100000"/>
              <a:buChar char="•"/>
            </a:pPr>
            <a:r>
              <a:rPr lang="en-US" sz="1250" dirty="0">
                <a:solidFill>
                  <a:srgbClr val="13283F"/>
                </a:solidFill>
              </a:rPr>
              <a:t>Each cell holds a value across several dimensions</a:t>
            </a:r>
            <a:endParaRPr lang="en-US" sz="1250" dirty="0"/>
          </a:p>
          <a:p>
            <a:pPr marL="152400" indent="-152400">
              <a:lnSpc>
                <a:spcPct val="103000"/>
              </a:lnSpc>
              <a:spcAft>
                <a:spcPts val="900"/>
              </a:spcAft>
              <a:buSzPct val="100000"/>
              <a:buChar char="•"/>
            </a:pPr>
            <a:r>
              <a:rPr lang="en-US" sz="1250" dirty="0">
                <a:solidFill>
                  <a:srgbClr val="13283F"/>
                </a:solidFill>
              </a:rPr>
              <a:t>Popular for analytical databases and OLAP</a:t>
            </a:r>
            <a:endParaRPr lang="en-US" sz="1250" dirty="0"/>
          </a:p>
          <a:p>
            <a:pPr marL="152400" indent="-152400">
              <a:lnSpc>
                <a:spcPct val="103000"/>
              </a:lnSpc>
              <a:spcAft>
                <a:spcPts val="900"/>
              </a:spcAft>
              <a:buSzPct val="100000"/>
              <a:buChar char="•"/>
            </a:pPr>
            <a:r>
              <a:rPr lang="en-US" sz="1250" dirty="0">
                <a:solidFill>
                  <a:srgbClr val="13283F"/>
                </a:solidFill>
              </a:rPr>
              <a:t>Fast slice-and-dice analysis for managers</a:t>
            </a:r>
            <a:endParaRPr lang="en-US" sz="1250" dirty="0"/>
          </a:p>
        </p:txBody>
      </p:sp>
      <p:sp>
        <p:nvSpPr>
          <p:cNvPr id="12" name="Shape 9"/>
          <p:cNvSpPr/>
          <p:nvPr/>
        </p:nvSpPr>
        <p:spPr>
          <a:xfrm>
            <a:off x="6309360" y="1783080"/>
            <a:ext cx="5532120" cy="3977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6309360" y="1783080"/>
            <a:ext cx="5532120" cy="603504"/>
          </a:xfrm>
          <a:prstGeom prst="rect">
            <a:avLst/>
          </a:prstGeom>
          <a:solidFill>
            <a:srgbClr val="0E2A47"/>
          </a:solidFill>
          <a:ln/>
        </p:spPr>
      </p:sp>
      <p:sp>
        <p:nvSpPr>
          <p:cNvPr id="14" name="Shape 11"/>
          <p:cNvSpPr/>
          <p:nvPr/>
        </p:nvSpPr>
        <p:spPr>
          <a:xfrm>
            <a:off x="6473952"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6556248" y="1984248"/>
            <a:ext cx="201168" cy="201168"/>
          </a:xfrm>
          <a:prstGeom prst="rect">
            <a:avLst/>
          </a:prstGeom>
        </p:spPr>
      </p:pic>
      <p:sp>
        <p:nvSpPr>
          <p:cNvPr id="16" name="Text 12"/>
          <p:cNvSpPr/>
          <p:nvPr/>
        </p:nvSpPr>
        <p:spPr>
          <a:xfrm>
            <a:off x="6949440" y="1783080"/>
            <a:ext cx="4754880" cy="603504"/>
          </a:xfrm>
          <a:prstGeom prst="rect">
            <a:avLst/>
          </a:prstGeom>
          <a:noFill/>
          <a:ln/>
        </p:spPr>
        <p:txBody>
          <a:bodyPr wrap="square" lIns="0" tIns="0" rIns="0" bIns="0" rtlCol="0" anchor="ctr"/>
          <a:lstStyle/>
          <a:p>
            <a:pPr indent="0" marL="0">
              <a:buNone/>
            </a:pPr>
            <a:r>
              <a:rPr lang="en-US" sz="1700" b="1" dirty="0">
                <a:solidFill>
                  <a:srgbClr val="FFFFFF"/>
                </a:solidFill>
              </a:rPr>
              <a:t>Object-Oriented</a:t>
            </a:r>
            <a:endParaRPr lang="en-US" sz="1700" dirty="0"/>
          </a:p>
        </p:txBody>
      </p:sp>
      <p:sp>
        <p:nvSpPr>
          <p:cNvPr id="17" name="Text 13"/>
          <p:cNvSpPr/>
          <p:nvPr/>
        </p:nvSpPr>
        <p:spPr>
          <a:xfrm>
            <a:off x="6601968" y="2606040"/>
            <a:ext cx="4983480" cy="3017520"/>
          </a:xfrm>
          <a:prstGeom prst="rect">
            <a:avLst/>
          </a:prstGeom>
          <a:noFill/>
          <a:ln/>
        </p:spPr>
        <p:txBody>
          <a:bodyPr wrap="square" lIns="0" tIns="0" rIns="0" bIns="0" rtlCol="0" anchor="t"/>
          <a:lstStyle/>
          <a:p>
            <a:pPr marL="152400" indent="-152400">
              <a:lnSpc>
                <a:spcPct val="103000"/>
              </a:lnSpc>
              <a:spcAft>
                <a:spcPts val="900"/>
              </a:spcAft>
              <a:buSzPct val="100000"/>
              <a:buChar char="•"/>
            </a:pPr>
            <a:r>
              <a:rPr lang="en-US" sz="1250" dirty="0">
                <a:solidFill>
                  <a:srgbClr val="13283F"/>
                </a:solidFill>
              </a:rPr>
              <a:t>Bundles data with the methods that act on it (objects)</a:t>
            </a:r>
            <a:endParaRPr lang="en-US" sz="1250" dirty="0"/>
          </a:p>
          <a:p>
            <a:pPr marL="152400" indent="-152400">
              <a:lnSpc>
                <a:spcPct val="103000"/>
              </a:lnSpc>
              <a:spcAft>
                <a:spcPts val="900"/>
              </a:spcAft>
              <a:buSzPct val="100000"/>
              <a:buChar char="•"/>
            </a:pPr>
            <a:r>
              <a:rPr lang="en-US" sz="1250" dirty="0">
                <a:solidFill>
                  <a:srgbClr val="13283F"/>
                </a:solidFill>
              </a:rPr>
              <a:t>Supports complex data types: graphics, audio, video</a:t>
            </a:r>
            <a:endParaRPr lang="en-US" sz="1250" dirty="0"/>
          </a:p>
          <a:p>
            <a:pPr marL="152400" indent="-152400">
              <a:lnSpc>
                <a:spcPct val="103000"/>
              </a:lnSpc>
              <a:spcAft>
                <a:spcPts val="900"/>
              </a:spcAft>
              <a:buSzPct val="100000"/>
              <a:buChar char="•"/>
            </a:pPr>
            <a:r>
              <a:rPr lang="en-US" sz="1250" dirty="0">
                <a:solidFill>
                  <a:srgbClr val="13283F"/>
                </a:solidFill>
              </a:rPr>
              <a:t>Inheritance lets new object types reuse existing ones</a:t>
            </a:r>
            <a:endParaRPr lang="en-US" sz="1250" dirty="0"/>
          </a:p>
          <a:p>
            <a:pPr marL="152400" indent="-152400">
              <a:lnSpc>
                <a:spcPct val="103000"/>
              </a:lnSpc>
              <a:spcAft>
                <a:spcPts val="900"/>
              </a:spcAft>
              <a:buSzPct val="100000"/>
              <a:buChar char="•"/>
            </a:pPr>
            <a:r>
              <a:rPr lang="en-US" sz="1250" dirty="0">
                <a:solidFill>
                  <a:srgbClr val="13283F"/>
                </a:solidFill>
              </a:rPr>
              <a:t>Used in multimedia and web-based applications</a:t>
            </a:r>
            <a:endParaRPr lang="en-US" sz="1250" dirty="0"/>
          </a:p>
          <a:p>
            <a:pPr marL="152400" indent="-152400">
              <a:lnSpc>
                <a:spcPct val="103000"/>
              </a:lnSpc>
              <a:spcAft>
                <a:spcPts val="900"/>
              </a:spcAft>
              <a:buSzPct val="100000"/>
              <a:buChar char="•"/>
            </a:pPr>
            <a:r>
              <a:rPr lang="en-US" sz="1250" dirty="0">
                <a:solidFill>
                  <a:srgbClr val="13283F"/>
                </a:solidFill>
              </a:rPr>
              <a:t>Foundation for object-relational databases</a:t>
            </a:r>
            <a:endParaRPr lang="en-US" sz="1250" dirty="0"/>
          </a:p>
        </p:txBody>
      </p:sp>
      <p:sp>
        <p:nvSpPr>
          <p:cNvPr id="18" name="Shape 14"/>
          <p:cNvSpPr/>
          <p:nvPr/>
        </p:nvSpPr>
        <p:spPr>
          <a:xfrm>
            <a:off x="0" y="6547104"/>
            <a:ext cx="12161520" cy="310896"/>
          </a:xfrm>
          <a:prstGeom prst="rect">
            <a:avLst/>
          </a:prstGeom>
          <a:solidFill>
            <a:srgbClr val="0E2A47"/>
          </a:solidFill>
          <a:ln/>
        </p:spPr>
      </p:sp>
      <p:sp>
        <p:nvSpPr>
          <p:cNvPr id="19" name="Text 15"/>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0" name="Text 16"/>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8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9</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Evaluating Database Structures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Strengths and limitations at a glance</a:t>
            </a:r>
            <a:endParaRPr lang="en-US" sz="1250" dirty="0"/>
          </a:p>
        </p:txBody>
      </p:sp>
      <p:sp>
        <p:nvSpPr>
          <p:cNvPr id="6" name="Shape 4"/>
          <p:cNvSpPr/>
          <p:nvPr/>
        </p:nvSpPr>
        <p:spPr>
          <a:xfrm>
            <a:off x="457200" y="1325880"/>
            <a:ext cx="11247120" cy="457200"/>
          </a:xfrm>
          <a:prstGeom prst="rect">
            <a:avLst/>
          </a:prstGeom>
          <a:solidFill>
            <a:srgbClr val="0E2A47"/>
          </a:solidFill>
          <a:ln/>
        </p:spPr>
      </p:sp>
      <p:sp>
        <p:nvSpPr>
          <p:cNvPr id="7" name="Text 5"/>
          <p:cNvSpPr/>
          <p:nvPr/>
        </p:nvSpPr>
        <p:spPr>
          <a:xfrm>
            <a:off x="731520" y="1325880"/>
            <a:ext cx="2468880" cy="457200"/>
          </a:xfrm>
          <a:prstGeom prst="rect">
            <a:avLst/>
          </a:prstGeom>
          <a:noFill/>
          <a:ln/>
        </p:spPr>
        <p:txBody>
          <a:bodyPr wrap="square" lIns="0" tIns="0" rIns="0" bIns="0" rtlCol="0" anchor="ctr"/>
          <a:lstStyle/>
          <a:p>
            <a:pPr indent="0" marL="0">
              <a:buNone/>
            </a:pPr>
            <a:r>
              <a:rPr lang="en-US" sz="1250" b="1" dirty="0">
                <a:solidFill>
                  <a:srgbClr val="F8D374"/>
                </a:solidFill>
              </a:rPr>
              <a:t>Structure</a:t>
            </a:r>
            <a:endParaRPr lang="en-US" sz="1250" dirty="0"/>
          </a:p>
        </p:txBody>
      </p:sp>
      <p:sp>
        <p:nvSpPr>
          <p:cNvPr id="8" name="Text 6"/>
          <p:cNvSpPr/>
          <p:nvPr/>
        </p:nvSpPr>
        <p:spPr>
          <a:xfrm>
            <a:off x="3383280" y="1325880"/>
            <a:ext cx="4297680" cy="457200"/>
          </a:xfrm>
          <a:prstGeom prst="rect">
            <a:avLst/>
          </a:prstGeom>
          <a:noFill/>
          <a:ln/>
        </p:spPr>
        <p:txBody>
          <a:bodyPr wrap="square" lIns="0" tIns="0" rIns="0" bIns="0" rtlCol="0" anchor="ctr"/>
          <a:lstStyle/>
          <a:p>
            <a:pPr indent="0" marL="0">
              <a:buNone/>
            </a:pPr>
            <a:r>
              <a:rPr lang="en-US" sz="1250" b="1" dirty="0">
                <a:solidFill>
                  <a:srgbClr val="F8D374"/>
                </a:solidFill>
              </a:rPr>
              <a:t>Strengths</a:t>
            </a:r>
            <a:endParaRPr lang="en-US" sz="1250" dirty="0"/>
          </a:p>
        </p:txBody>
      </p:sp>
      <p:sp>
        <p:nvSpPr>
          <p:cNvPr id="9" name="Text 7"/>
          <p:cNvSpPr/>
          <p:nvPr/>
        </p:nvSpPr>
        <p:spPr>
          <a:xfrm>
            <a:off x="7772400" y="1325880"/>
            <a:ext cx="3749040" cy="457200"/>
          </a:xfrm>
          <a:prstGeom prst="rect">
            <a:avLst/>
          </a:prstGeom>
          <a:noFill/>
          <a:ln/>
        </p:spPr>
        <p:txBody>
          <a:bodyPr wrap="square" lIns="0" tIns="0" rIns="0" bIns="0" rtlCol="0" anchor="ctr"/>
          <a:lstStyle/>
          <a:p>
            <a:pPr indent="0" marL="0">
              <a:buNone/>
            </a:pPr>
            <a:r>
              <a:rPr lang="en-US" sz="1250" b="1" dirty="0">
                <a:solidFill>
                  <a:srgbClr val="F8D374"/>
                </a:solidFill>
              </a:rPr>
              <a:t>Limitations</a:t>
            </a:r>
            <a:endParaRPr lang="en-US" sz="1250" dirty="0"/>
          </a:p>
        </p:txBody>
      </p:sp>
      <p:sp>
        <p:nvSpPr>
          <p:cNvPr id="10" name="Shape 8"/>
          <p:cNvSpPr/>
          <p:nvPr/>
        </p:nvSpPr>
        <p:spPr>
          <a:xfrm>
            <a:off x="457200" y="1828800"/>
            <a:ext cx="11247120" cy="868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1" name="Shape 9"/>
          <p:cNvSpPr/>
          <p:nvPr/>
        </p:nvSpPr>
        <p:spPr>
          <a:xfrm>
            <a:off x="457200" y="1828800"/>
            <a:ext cx="82296" cy="868680"/>
          </a:xfrm>
          <a:prstGeom prst="rect">
            <a:avLst/>
          </a:prstGeom>
          <a:solidFill>
            <a:srgbClr val="1565C0"/>
          </a:solidFill>
          <a:ln/>
        </p:spPr>
      </p:sp>
      <p:sp>
        <p:nvSpPr>
          <p:cNvPr id="12" name="Text 10"/>
          <p:cNvSpPr/>
          <p:nvPr/>
        </p:nvSpPr>
        <p:spPr>
          <a:xfrm>
            <a:off x="731520" y="1828800"/>
            <a:ext cx="2560320" cy="868680"/>
          </a:xfrm>
          <a:prstGeom prst="rect">
            <a:avLst/>
          </a:prstGeom>
          <a:noFill/>
          <a:ln/>
        </p:spPr>
        <p:txBody>
          <a:bodyPr wrap="square" lIns="0" tIns="0" rIns="0" bIns="0" rtlCol="0" anchor="ctr"/>
          <a:lstStyle/>
          <a:p>
            <a:pPr indent="0" marL="0">
              <a:buNone/>
            </a:pPr>
            <a:r>
              <a:rPr lang="en-US" sz="1400" b="1" dirty="0">
                <a:solidFill>
                  <a:srgbClr val="0D3D78"/>
                </a:solidFill>
              </a:rPr>
              <a:t>Hierarchical</a:t>
            </a:r>
            <a:endParaRPr lang="en-US" sz="1400" dirty="0"/>
          </a:p>
        </p:txBody>
      </p:sp>
      <p:sp>
        <p:nvSpPr>
          <p:cNvPr id="13" name="Text 11"/>
          <p:cNvSpPr/>
          <p:nvPr/>
        </p:nvSpPr>
        <p:spPr>
          <a:xfrm>
            <a:off x="3383280" y="1828800"/>
            <a:ext cx="4297680" cy="868680"/>
          </a:xfrm>
          <a:prstGeom prst="rect">
            <a:avLst/>
          </a:prstGeom>
          <a:noFill/>
          <a:ln/>
        </p:spPr>
        <p:txBody>
          <a:bodyPr wrap="square" lIns="0" tIns="0" rIns="0" bIns="0" rtlCol="0" anchor="ctr"/>
          <a:lstStyle/>
          <a:p>
            <a:pPr indent="0" marL="0">
              <a:buNone/>
            </a:pPr>
            <a:r>
              <a:rPr lang="en-US" sz="1200" b="1" dirty="0">
                <a:solidFill>
                  <a:srgbClr val="1E7A4D"/>
                </a:solidFill>
              </a:rPr>
              <a:t>+  </a:t>
            </a:r>
            <a:pPr indent="0" marL="0">
              <a:buNone/>
            </a:pPr>
            <a:r>
              <a:rPr lang="en-US" sz="1200" dirty="0">
                <a:solidFill>
                  <a:srgbClr val="13283F"/>
                </a:solidFill>
              </a:rPr>
              <a:t>Works for structured, routine transactions</a:t>
            </a:r>
            <a:endParaRPr lang="en-US" sz="1200" dirty="0"/>
          </a:p>
        </p:txBody>
      </p:sp>
      <p:sp>
        <p:nvSpPr>
          <p:cNvPr id="14" name="Text 12"/>
          <p:cNvSpPr/>
          <p:nvPr/>
        </p:nvSpPr>
        <p:spPr>
          <a:xfrm>
            <a:off x="7772400" y="1828800"/>
            <a:ext cx="3749040" cy="868680"/>
          </a:xfrm>
          <a:prstGeom prst="rect">
            <a:avLst/>
          </a:prstGeom>
          <a:noFill/>
          <a:ln/>
        </p:spPr>
        <p:txBody>
          <a:bodyPr wrap="square" lIns="0" tIns="0" rIns="0" bIns="0" rtlCol="0" anchor="ctr"/>
          <a:lstStyle/>
          <a:p>
            <a:pPr indent="0" marL="0">
              <a:buNone/>
            </a:pPr>
            <a:r>
              <a:rPr lang="en-US" sz="1200" b="1" dirty="0">
                <a:solidFill>
                  <a:srgbClr val="B23A2E"/>
                </a:solidFill>
              </a:rPr>
              <a:t>-  </a:t>
            </a:r>
            <a:pPr indent="0" marL="0">
              <a:buNone/>
            </a:pPr>
            <a:r>
              <a:rPr lang="en-US" sz="1200" dirty="0">
                <a:solidFill>
                  <a:srgbClr val="13283F"/>
                </a:solidFill>
              </a:rPr>
              <a:t>Cannot handle many-to-many relationships</a:t>
            </a:r>
            <a:endParaRPr lang="en-US" sz="1200" dirty="0"/>
          </a:p>
        </p:txBody>
      </p:sp>
      <p:sp>
        <p:nvSpPr>
          <p:cNvPr id="15" name="Shape 13"/>
          <p:cNvSpPr/>
          <p:nvPr/>
        </p:nvSpPr>
        <p:spPr>
          <a:xfrm>
            <a:off x="457200" y="2825496"/>
            <a:ext cx="11247120" cy="868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6" name="Shape 14"/>
          <p:cNvSpPr/>
          <p:nvPr/>
        </p:nvSpPr>
        <p:spPr>
          <a:xfrm>
            <a:off x="457200" y="2825496"/>
            <a:ext cx="82296" cy="868680"/>
          </a:xfrm>
          <a:prstGeom prst="rect">
            <a:avLst/>
          </a:prstGeom>
          <a:solidFill>
            <a:srgbClr val="1565C0"/>
          </a:solidFill>
          <a:ln/>
        </p:spPr>
      </p:sp>
      <p:sp>
        <p:nvSpPr>
          <p:cNvPr id="17" name="Text 15"/>
          <p:cNvSpPr/>
          <p:nvPr/>
        </p:nvSpPr>
        <p:spPr>
          <a:xfrm>
            <a:off x="731520" y="2825496"/>
            <a:ext cx="2560320" cy="868680"/>
          </a:xfrm>
          <a:prstGeom prst="rect">
            <a:avLst/>
          </a:prstGeom>
          <a:noFill/>
          <a:ln/>
        </p:spPr>
        <p:txBody>
          <a:bodyPr wrap="square" lIns="0" tIns="0" rIns="0" bIns="0" rtlCol="0" anchor="ctr"/>
          <a:lstStyle/>
          <a:p>
            <a:pPr indent="0" marL="0">
              <a:buNone/>
            </a:pPr>
            <a:r>
              <a:rPr lang="en-US" sz="1400" b="1" dirty="0">
                <a:solidFill>
                  <a:srgbClr val="0D3D78"/>
                </a:solidFill>
              </a:rPr>
              <a:t>Network</a:t>
            </a:r>
            <a:endParaRPr lang="en-US" sz="1400" dirty="0"/>
          </a:p>
        </p:txBody>
      </p:sp>
      <p:sp>
        <p:nvSpPr>
          <p:cNvPr id="18" name="Text 16"/>
          <p:cNvSpPr/>
          <p:nvPr/>
        </p:nvSpPr>
        <p:spPr>
          <a:xfrm>
            <a:off x="3383280" y="2825496"/>
            <a:ext cx="4297680" cy="868680"/>
          </a:xfrm>
          <a:prstGeom prst="rect">
            <a:avLst/>
          </a:prstGeom>
          <a:noFill/>
          <a:ln/>
        </p:spPr>
        <p:txBody>
          <a:bodyPr wrap="square" lIns="0" tIns="0" rIns="0" bIns="0" rtlCol="0" anchor="ctr"/>
          <a:lstStyle/>
          <a:p>
            <a:pPr indent="0" marL="0">
              <a:buNone/>
            </a:pPr>
            <a:r>
              <a:rPr lang="en-US" sz="1200" b="1" dirty="0">
                <a:solidFill>
                  <a:srgbClr val="1E7A4D"/>
                </a:solidFill>
              </a:rPr>
              <a:t>+  </a:t>
            </a:r>
            <a:pPr indent="0" marL="0">
              <a:buNone/>
            </a:pPr>
            <a:r>
              <a:rPr lang="en-US" sz="1200" dirty="0">
                <a:solidFill>
                  <a:srgbClr val="13283F"/>
                </a:solidFill>
              </a:rPr>
              <a:t>More flexible than hierarchical</a:t>
            </a:r>
            <a:endParaRPr lang="en-US" sz="1200" dirty="0"/>
          </a:p>
        </p:txBody>
      </p:sp>
      <p:sp>
        <p:nvSpPr>
          <p:cNvPr id="19" name="Text 17"/>
          <p:cNvSpPr/>
          <p:nvPr/>
        </p:nvSpPr>
        <p:spPr>
          <a:xfrm>
            <a:off x="7772400" y="2825496"/>
            <a:ext cx="3749040" cy="868680"/>
          </a:xfrm>
          <a:prstGeom prst="rect">
            <a:avLst/>
          </a:prstGeom>
          <a:noFill/>
          <a:ln/>
        </p:spPr>
        <p:txBody>
          <a:bodyPr wrap="square" lIns="0" tIns="0" rIns="0" bIns="0" rtlCol="0" anchor="ctr"/>
          <a:lstStyle/>
          <a:p>
            <a:pPr indent="0" marL="0">
              <a:buNone/>
            </a:pPr>
            <a:r>
              <a:rPr lang="en-US" sz="1200" b="1" dirty="0">
                <a:solidFill>
                  <a:srgbClr val="B23A2E"/>
                </a:solidFill>
              </a:rPr>
              <a:t>-  </a:t>
            </a:r>
            <a:pPr indent="0" marL="0">
              <a:buNone/>
            </a:pPr>
            <a:r>
              <a:rPr lang="en-US" sz="1200" dirty="0">
                <a:solidFill>
                  <a:srgbClr val="13283F"/>
                </a:solidFill>
              </a:rPr>
              <a:t>Struggles with ad hoc requests</a:t>
            </a:r>
            <a:endParaRPr lang="en-US" sz="1200" dirty="0"/>
          </a:p>
        </p:txBody>
      </p:sp>
      <p:sp>
        <p:nvSpPr>
          <p:cNvPr id="20" name="Shape 18"/>
          <p:cNvSpPr/>
          <p:nvPr/>
        </p:nvSpPr>
        <p:spPr>
          <a:xfrm>
            <a:off x="457200" y="3822192"/>
            <a:ext cx="11247120" cy="868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1" name="Shape 19"/>
          <p:cNvSpPr/>
          <p:nvPr/>
        </p:nvSpPr>
        <p:spPr>
          <a:xfrm>
            <a:off x="457200" y="3822192"/>
            <a:ext cx="82296" cy="868680"/>
          </a:xfrm>
          <a:prstGeom prst="rect">
            <a:avLst/>
          </a:prstGeom>
          <a:solidFill>
            <a:srgbClr val="1E7A4D"/>
          </a:solidFill>
          <a:ln/>
        </p:spPr>
      </p:sp>
      <p:sp>
        <p:nvSpPr>
          <p:cNvPr id="22" name="Text 20"/>
          <p:cNvSpPr/>
          <p:nvPr/>
        </p:nvSpPr>
        <p:spPr>
          <a:xfrm>
            <a:off x="731520" y="3822192"/>
            <a:ext cx="2560320" cy="868680"/>
          </a:xfrm>
          <a:prstGeom prst="rect">
            <a:avLst/>
          </a:prstGeom>
          <a:noFill/>
          <a:ln/>
        </p:spPr>
        <p:txBody>
          <a:bodyPr wrap="square" lIns="0" tIns="0" rIns="0" bIns="0" rtlCol="0" anchor="ctr"/>
          <a:lstStyle/>
          <a:p>
            <a:pPr indent="0" marL="0">
              <a:buNone/>
            </a:pPr>
            <a:r>
              <a:rPr lang="en-US" sz="1400" b="1" dirty="0">
                <a:solidFill>
                  <a:srgbClr val="0D3D78"/>
                </a:solidFill>
              </a:rPr>
              <a:t>Relational</a:t>
            </a:r>
            <a:endParaRPr lang="en-US" sz="1400" dirty="0"/>
          </a:p>
        </p:txBody>
      </p:sp>
      <p:sp>
        <p:nvSpPr>
          <p:cNvPr id="23" name="Text 21"/>
          <p:cNvSpPr/>
          <p:nvPr/>
        </p:nvSpPr>
        <p:spPr>
          <a:xfrm>
            <a:off x="3383280" y="3822192"/>
            <a:ext cx="4297680" cy="868680"/>
          </a:xfrm>
          <a:prstGeom prst="rect">
            <a:avLst/>
          </a:prstGeom>
          <a:noFill/>
          <a:ln/>
        </p:spPr>
        <p:txBody>
          <a:bodyPr wrap="square" lIns="0" tIns="0" rIns="0" bIns="0" rtlCol="0" anchor="ctr"/>
          <a:lstStyle/>
          <a:p>
            <a:pPr indent="0" marL="0">
              <a:buNone/>
            </a:pPr>
            <a:r>
              <a:rPr lang="en-US" sz="1200" b="1" dirty="0">
                <a:solidFill>
                  <a:srgbClr val="1E7A4D"/>
                </a:solidFill>
              </a:rPr>
              <a:t>+  </a:t>
            </a:r>
            <a:pPr indent="0" marL="0">
              <a:buNone/>
            </a:pPr>
            <a:r>
              <a:rPr lang="en-US" sz="1200" dirty="0">
                <a:solidFill>
                  <a:srgbClr val="13283F"/>
                </a:solidFill>
              </a:rPr>
              <a:t>Handles ad hoc queries; easy to work with and maintain</a:t>
            </a:r>
            <a:endParaRPr lang="en-US" sz="1200" dirty="0"/>
          </a:p>
        </p:txBody>
      </p:sp>
      <p:sp>
        <p:nvSpPr>
          <p:cNvPr id="24" name="Text 22"/>
          <p:cNvSpPr/>
          <p:nvPr/>
        </p:nvSpPr>
        <p:spPr>
          <a:xfrm>
            <a:off x="7772400" y="3822192"/>
            <a:ext cx="3749040" cy="868680"/>
          </a:xfrm>
          <a:prstGeom prst="rect">
            <a:avLst/>
          </a:prstGeom>
          <a:noFill/>
          <a:ln/>
        </p:spPr>
        <p:txBody>
          <a:bodyPr wrap="square" lIns="0" tIns="0" rIns="0" bIns="0" rtlCol="0" anchor="ctr"/>
          <a:lstStyle/>
          <a:p>
            <a:pPr indent="0" marL="0">
              <a:buNone/>
            </a:pPr>
            <a:r>
              <a:rPr lang="en-US" sz="1200" b="1" dirty="0">
                <a:solidFill>
                  <a:srgbClr val="B23A2E"/>
                </a:solidFill>
              </a:rPr>
              <a:t>-  </a:t>
            </a:r>
            <a:pPr indent="0" marL="0">
              <a:buNone/>
            </a:pPr>
            <a:r>
              <a:rPr lang="en-US" sz="1200" dirty="0">
                <a:solidFill>
                  <a:srgbClr val="13283F"/>
                </a:solidFill>
              </a:rPr>
              <a:t>Less fast/efficient than hierarchical or network</a:t>
            </a:r>
            <a:endParaRPr lang="en-US" sz="1200" dirty="0"/>
          </a:p>
        </p:txBody>
      </p:sp>
      <p:sp>
        <p:nvSpPr>
          <p:cNvPr id="25" name="Shape 23"/>
          <p:cNvSpPr/>
          <p:nvPr/>
        </p:nvSpPr>
        <p:spPr>
          <a:xfrm>
            <a:off x="457200" y="4818888"/>
            <a:ext cx="11247120" cy="868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6" name="Shape 24"/>
          <p:cNvSpPr/>
          <p:nvPr/>
        </p:nvSpPr>
        <p:spPr>
          <a:xfrm>
            <a:off x="457200" y="4818888"/>
            <a:ext cx="82296" cy="868680"/>
          </a:xfrm>
          <a:prstGeom prst="rect">
            <a:avLst/>
          </a:prstGeom>
          <a:solidFill>
            <a:srgbClr val="1565C0"/>
          </a:solidFill>
          <a:ln/>
        </p:spPr>
      </p:sp>
      <p:sp>
        <p:nvSpPr>
          <p:cNvPr id="27" name="Text 25"/>
          <p:cNvSpPr/>
          <p:nvPr/>
        </p:nvSpPr>
        <p:spPr>
          <a:xfrm>
            <a:off x="731520" y="4818888"/>
            <a:ext cx="2560320" cy="868680"/>
          </a:xfrm>
          <a:prstGeom prst="rect">
            <a:avLst/>
          </a:prstGeom>
          <a:noFill/>
          <a:ln/>
        </p:spPr>
        <p:txBody>
          <a:bodyPr wrap="square" lIns="0" tIns="0" rIns="0" bIns="0" rtlCol="0" anchor="ctr"/>
          <a:lstStyle/>
          <a:p>
            <a:pPr indent="0" marL="0">
              <a:buNone/>
            </a:pPr>
            <a:r>
              <a:rPr lang="en-US" sz="1400" b="1" dirty="0">
                <a:solidFill>
                  <a:srgbClr val="0D3D78"/>
                </a:solidFill>
              </a:rPr>
              <a:t>Multidimensional</a:t>
            </a:r>
            <a:endParaRPr lang="en-US" sz="1400" dirty="0"/>
          </a:p>
        </p:txBody>
      </p:sp>
      <p:sp>
        <p:nvSpPr>
          <p:cNvPr id="28" name="Text 26"/>
          <p:cNvSpPr/>
          <p:nvPr/>
        </p:nvSpPr>
        <p:spPr>
          <a:xfrm>
            <a:off x="3383280" y="4818888"/>
            <a:ext cx="4297680" cy="868680"/>
          </a:xfrm>
          <a:prstGeom prst="rect">
            <a:avLst/>
          </a:prstGeom>
          <a:noFill/>
          <a:ln/>
        </p:spPr>
        <p:txBody>
          <a:bodyPr wrap="square" lIns="0" tIns="0" rIns="0" bIns="0" rtlCol="0" anchor="ctr"/>
          <a:lstStyle/>
          <a:p>
            <a:pPr indent="0" marL="0">
              <a:buNone/>
            </a:pPr>
            <a:r>
              <a:rPr lang="en-US" sz="1200" b="1" dirty="0">
                <a:solidFill>
                  <a:srgbClr val="1E7A4D"/>
                </a:solidFill>
              </a:rPr>
              <a:t>+  </a:t>
            </a:r>
            <a:pPr indent="0" marL="0">
              <a:buNone/>
            </a:pPr>
            <a:r>
              <a:rPr lang="en-US" sz="1200" dirty="0">
                <a:solidFill>
                  <a:srgbClr val="13283F"/>
                </a:solidFill>
              </a:rPr>
              <a:t>Excellent for OLAP and fast analytics</a:t>
            </a:r>
            <a:endParaRPr lang="en-US" sz="1200" dirty="0"/>
          </a:p>
        </p:txBody>
      </p:sp>
      <p:sp>
        <p:nvSpPr>
          <p:cNvPr id="29" name="Text 27"/>
          <p:cNvSpPr/>
          <p:nvPr/>
        </p:nvSpPr>
        <p:spPr>
          <a:xfrm>
            <a:off x="7772400" y="4818888"/>
            <a:ext cx="3749040" cy="868680"/>
          </a:xfrm>
          <a:prstGeom prst="rect">
            <a:avLst/>
          </a:prstGeom>
          <a:noFill/>
          <a:ln/>
        </p:spPr>
        <p:txBody>
          <a:bodyPr wrap="square" lIns="0" tIns="0" rIns="0" bIns="0" rtlCol="0" anchor="ctr"/>
          <a:lstStyle/>
          <a:p>
            <a:pPr indent="0" marL="0">
              <a:buNone/>
            </a:pPr>
            <a:r>
              <a:rPr lang="en-US" sz="1200" b="1" dirty="0">
                <a:solidFill>
                  <a:srgbClr val="B23A2E"/>
                </a:solidFill>
              </a:rPr>
              <a:t>-  </a:t>
            </a:r>
            <a:pPr indent="0" marL="0">
              <a:buNone/>
            </a:pPr>
            <a:r>
              <a:rPr lang="en-US" sz="1200" dirty="0">
                <a:solidFill>
                  <a:srgbClr val="13283F"/>
                </a:solidFill>
              </a:rPr>
              <a:t>Specialized; built for analysis, not transactions</a:t>
            </a:r>
            <a:endParaRPr lang="en-US" sz="1200" dirty="0"/>
          </a:p>
        </p:txBody>
      </p:sp>
      <p:sp>
        <p:nvSpPr>
          <p:cNvPr id="30" name="Shape 28"/>
          <p:cNvSpPr/>
          <p:nvPr/>
        </p:nvSpPr>
        <p:spPr>
          <a:xfrm>
            <a:off x="0" y="6547104"/>
            <a:ext cx="12161520" cy="310896"/>
          </a:xfrm>
          <a:prstGeom prst="rect">
            <a:avLst/>
          </a:prstGeom>
          <a:solidFill>
            <a:srgbClr val="0E2A47"/>
          </a:solidFill>
          <a:ln/>
        </p:spPr>
      </p:sp>
      <p:sp>
        <p:nvSpPr>
          <p:cNvPr id="31" name="Text 29"/>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2" name="Text 30"/>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9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10</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Database Development</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How databases are designed and documented</a:t>
            </a:r>
            <a:endParaRPr lang="en-US" sz="1250" dirty="0"/>
          </a:p>
        </p:txBody>
      </p:sp>
      <p:sp>
        <p:nvSpPr>
          <p:cNvPr id="6" name="Shape 4"/>
          <p:cNvSpPr/>
          <p:nvPr/>
        </p:nvSpPr>
        <p:spPr>
          <a:xfrm>
            <a:off x="457200" y="1783080"/>
            <a:ext cx="5440680" cy="1417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82296" cy="1417320"/>
          </a:xfrm>
          <a:prstGeom prst="rect">
            <a:avLst/>
          </a:prstGeom>
          <a:solidFill>
            <a:srgbClr val="F2B705"/>
          </a:solidFill>
          <a:ln/>
        </p:spPr>
      </p:sp>
      <p:sp>
        <p:nvSpPr>
          <p:cNvPr id="8" name="Shape 6"/>
          <p:cNvSpPr/>
          <p:nvPr/>
        </p:nvSpPr>
        <p:spPr>
          <a:xfrm>
            <a:off x="694944" y="2075688"/>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900684" y="2281428"/>
            <a:ext cx="411480" cy="411480"/>
          </a:xfrm>
          <a:prstGeom prst="rect">
            <a:avLst/>
          </a:prstGeom>
        </p:spPr>
      </p:pic>
      <p:sp>
        <p:nvSpPr>
          <p:cNvPr id="10" name="Text 7"/>
          <p:cNvSpPr/>
          <p:nvPr/>
        </p:nvSpPr>
        <p:spPr>
          <a:xfrm>
            <a:off x="1645920" y="1965960"/>
            <a:ext cx="4069080" cy="457200"/>
          </a:xfrm>
          <a:prstGeom prst="rect">
            <a:avLst/>
          </a:prstGeom>
          <a:noFill/>
          <a:ln/>
        </p:spPr>
        <p:txBody>
          <a:bodyPr wrap="square" lIns="0" tIns="0" rIns="0" bIns="0" rtlCol="0" anchor="ctr"/>
          <a:lstStyle/>
          <a:p>
            <a:pPr indent="0" marL="0">
              <a:buNone/>
            </a:pPr>
            <a:r>
              <a:rPr lang="en-US" sz="1450" b="1" dirty="0">
                <a:solidFill>
                  <a:srgbClr val="0D3D78"/>
                </a:solidFill>
              </a:rPr>
              <a:t>Database Administrator (DBA)</a:t>
            </a:r>
            <a:endParaRPr lang="en-US" sz="1450" dirty="0"/>
          </a:p>
        </p:txBody>
      </p:sp>
      <p:sp>
        <p:nvSpPr>
          <p:cNvPr id="11" name="Text 8"/>
          <p:cNvSpPr/>
          <p:nvPr/>
        </p:nvSpPr>
        <p:spPr>
          <a:xfrm>
            <a:off x="1645920" y="2404872"/>
            <a:ext cx="4069080" cy="685800"/>
          </a:xfrm>
          <a:prstGeom prst="rect">
            <a:avLst/>
          </a:prstGeom>
          <a:noFill/>
          <a:ln/>
        </p:spPr>
        <p:txBody>
          <a:bodyPr wrap="square" lIns="0" tIns="0" rIns="0" bIns="0" rtlCol="0" anchor="t"/>
          <a:lstStyle/>
          <a:p>
            <a:pPr indent="0" marL="0">
              <a:lnSpc>
                <a:spcPct val="102000"/>
              </a:lnSpc>
              <a:buNone/>
            </a:pPr>
            <a:r>
              <a:rPr lang="en-US" sz="1150" dirty="0">
                <a:solidFill>
                  <a:srgbClr val="566779"/>
                </a:solidFill>
              </a:rPr>
              <a:t>Leads enterprise-wide database development and safeguards integrity and security.</a:t>
            </a:r>
            <a:endParaRPr lang="en-US" sz="1150" dirty="0"/>
          </a:p>
        </p:txBody>
      </p:sp>
      <p:sp>
        <p:nvSpPr>
          <p:cNvPr id="12" name="Shape 9"/>
          <p:cNvSpPr/>
          <p:nvPr/>
        </p:nvSpPr>
        <p:spPr>
          <a:xfrm>
            <a:off x="6217920" y="1783080"/>
            <a:ext cx="5440680" cy="1417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6217920" y="1783080"/>
            <a:ext cx="82296" cy="1417320"/>
          </a:xfrm>
          <a:prstGeom prst="rect">
            <a:avLst/>
          </a:prstGeom>
          <a:solidFill>
            <a:srgbClr val="F2B705"/>
          </a:solidFill>
          <a:ln/>
        </p:spPr>
      </p:sp>
      <p:sp>
        <p:nvSpPr>
          <p:cNvPr id="14" name="Shape 11"/>
          <p:cNvSpPr/>
          <p:nvPr/>
        </p:nvSpPr>
        <p:spPr>
          <a:xfrm>
            <a:off x="6455664" y="2075688"/>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6661404" y="2281428"/>
            <a:ext cx="411480" cy="411480"/>
          </a:xfrm>
          <a:prstGeom prst="rect">
            <a:avLst/>
          </a:prstGeom>
        </p:spPr>
      </p:pic>
      <p:sp>
        <p:nvSpPr>
          <p:cNvPr id="16" name="Text 12"/>
          <p:cNvSpPr/>
          <p:nvPr/>
        </p:nvSpPr>
        <p:spPr>
          <a:xfrm>
            <a:off x="7406640" y="1965960"/>
            <a:ext cx="4069080" cy="457200"/>
          </a:xfrm>
          <a:prstGeom prst="rect">
            <a:avLst/>
          </a:prstGeom>
          <a:noFill/>
          <a:ln/>
        </p:spPr>
        <p:txBody>
          <a:bodyPr wrap="square" lIns="0" tIns="0" rIns="0" bIns="0" rtlCol="0" anchor="ctr"/>
          <a:lstStyle/>
          <a:p>
            <a:pPr indent="0" marL="0">
              <a:buNone/>
            </a:pPr>
            <a:r>
              <a:rPr lang="en-US" sz="1450" b="1" dirty="0">
                <a:solidFill>
                  <a:srgbClr val="0D3D78"/>
                </a:solidFill>
              </a:rPr>
              <a:t>Data Definition Language (DDL)</a:t>
            </a:r>
            <a:endParaRPr lang="en-US" sz="1450" dirty="0"/>
          </a:p>
        </p:txBody>
      </p:sp>
      <p:sp>
        <p:nvSpPr>
          <p:cNvPr id="17" name="Text 13"/>
          <p:cNvSpPr/>
          <p:nvPr/>
        </p:nvSpPr>
        <p:spPr>
          <a:xfrm>
            <a:off x="7406640" y="2404872"/>
            <a:ext cx="4069080" cy="685800"/>
          </a:xfrm>
          <a:prstGeom prst="rect">
            <a:avLst/>
          </a:prstGeom>
          <a:noFill/>
          <a:ln/>
        </p:spPr>
        <p:txBody>
          <a:bodyPr wrap="square" lIns="0" tIns="0" rIns="0" bIns="0" rtlCol="0" anchor="t"/>
          <a:lstStyle/>
          <a:p>
            <a:pPr indent="0" marL="0">
              <a:lnSpc>
                <a:spcPct val="102000"/>
              </a:lnSpc>
              <a:buNone/>
            </a:pPr>
            <a:r>
              <a:rPr lang="en-US" sz="1150" dirty="0">
                <a:solidFill>
                  <a:srgbClr val="566779"/>
                </a:solidFill>
              </a:rPr>
              <a:t>Used by the DBA to define data content, relationships, and structure (the schema).</a:t>
            </a:r>
            <a:endParaRPr lang="en-US" sz="1150" dirty="0"/>
          </a:p>
        </p:txBody>
      </p:sp>
      <p:sp>
        <p:nvSpPr>
          <p:cNvPr id="18" name="Shape 14"/>
          <p:cNvSpPr/>
          <p:nvPr/>
        </p:nvSpPr>
        <p:spPr>
          <a:xfrm>
            <a:off x="457200" y="3456432"/>
            <a:ext cx="5440680" cy="1417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457200" y="3456432"/>
            <a:ext cx="82296" cy="1417320"/>
          </a:xfrm>
          <a:prstGeom prst="rect">
            <a:avLst/>
          </a:prstGeom>
          <a:solidFill>
            <a:srgbClr val="F2B705"/>
          </a:solidFill>
          <a:ln/>
        </p:spPr>
      </p:sp>
      <p:sp>
        <p:nvSpPr>
          <p:cNvPr id="20" name="Shape 16"/>
          <p:cNvSpPr/>
          <p:nvPr/>
        </p:nvSpPr>
        <p:spPr>
          <a:xfrm>
            <a:off x="694944" y="3749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900684" y="3954780"/>
            <a:ext cx="411480" cy="411480"/>
          </a:xfrm>
          <a:prstGeom prst="rect">
            <a:avLst/>
          </a:prstGeom>
        </p:spPr>
      </p:pic>
      <p:sp>
        <p:nvSpPr>
          <p:cNvPr id="22" name="Text 17"/>
          <p:cNvSpPr/>
          <p:nvPr/>
        </p:nvSpPr>
        <p:spPr>
          <a:xfrm>
            <a:off x="1645920" y="3639312"/>
            <a:ext cx="4069080" cy="457200"/>
          </a:xfrm>
          <a:prstGeom prst="rect">
            <a:avLst/>
          </a:prstGeom>
          <a:noFill/>
          <a:ln/>
        </p:spPr>
        <p:txBody>
          <a:bodyPr wrap="square" lIns="0" tIns="0" rIns="0" bIns="0" rtlCol="0" anchor="ctr"/>
          <a:lstStyle/>
          <a:p>
            <a:pPr indent="0" marL="0">
              <a:buNone/>
            </a:pPr>
            <a:r>
              <a:rPr lang="en-US" sz="1450" b="1" dirty="0">
                <a:solidFill>
                  <a:srgbClr val="0D3D78"/>
                </a:solidFill>
              </a:rPr>
              <a:t>Data Dictionary</a:t>
            </a:r>
            <a:endParaRPr lang="en-US" sz="1450" dirty="0"/>
          </a:p>
        </p:txBody>
      </p:sp>
      <p:sp>
        <p:nvSpPr>
          <p:cNvPr id="23" name="Text 18"/>
          <p:cNvSpPr/>
          <p:nvPr/>
        </p:nvSpPr>
        <p:spPr>
          <a:xfrm>
            <a:off x="1645920" y="4078224"/>
            <a:ext cx="4069080" cy="685800"/>
          </a:xfrm>
          <a:prstGeom prst="rect">
            <a:avLst/>
          </a:prstGeom>
          <a:noFill/>
          <a:ln/>
        </p:spPr>
        <p:txBody>
          <a:bodyPr wrap="square" lIns="0" tIns="0" rIns="0" bIns="0" rtlCol="0" anchor="t"/>
          <a:lstStyle/>
          <a:p>
            <a:pPr indent="0" marL="0">
              <a:lnSpc>
                <a:spcPct val="102000"/>
              </a:lnSpc>
              <a:buNone/>
            </a:pPr>
            <a:r>
              <a:rPr lang="en-US" sz="1150" dirty="0">
                <a:solidFill>
                  <a:srgbClr val="566779"/>
                </a:solidFill>
              </a:rPr>
              <a:t>A repository of metadata - data about the data: definitions, security, and usage rules.</a:t>
            </a:r>
            <a:endParaRPr lang="en-US" sz="1150" dirty="0"/>
          </a:p>
        </p:txBody>
      </p:sp>
      <p:sp>
        <p:nvSpPr>
          <p:cNvPr id="24" name="Shape 19"/>
          <p:cNvSpPr/>
          <p:nvPr/>
        </p:nvSpPr>
        <p:spPr>
          <a:xfrm>
            <a:off x="6217920" y="3456432"/>
            <a:ext cx="5440680" cy="14173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5" name="Shape 20"/>
          <p:cNvSpPr/>
          <p:nvPr/>
        </p:nvSpPr>
        <p:spPr>
          <a:xfrm>
            <a:off x="6217920" y="3456432"/>
            <a:ext cx="82296" cy="1417320"/>
          </a:xfrm>
          <a:prstGeom prst="rect">
            <a:avLst/>
          </a:prstGeom>
          <a:solidFill>
            <a:srgbClr val="F2B705"/>
          </a:solidFill>
          <a:ln/>
        </p:spPr>
      </p:sp>
      <p:sp>
        <p:nvSpPr>
          <p:cNvPr id="26" name="Shape 21"/>
          <p:cNvSpPr/>
          <p:nvPr/>
        </p:nvSpPr>
        <p:spPr>
          <a:xfrm>
            <a:off x="6455664" y="3749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7" name="Image 3" descr="preencoded.png">    </p:cNvPr>
          <p:cNvPicPr>
            <a:picLocks noChangeAspect="1"/>
          </p:cNvPicPr>
          <p:nvPr/>
        </p:nvPicPr>
        <p:blipFill>
          <a:blip r:embed="rId4"/>
          <a:stretch>
            <a:fillRect/>
          </a:stretch>
        </p:blipFill>
        <p:spPr>
          <a:xfrm>
            <a:off x="6661404" y="3954780"/>
            <a:ext cx="411480" cy="411480"/>
          </a:xfrm>
          <a:prstGeom prst="rect">
            <a:avLst/>
          </a:prstGeom>
        </p:spPr>
      </p:pic>
      <p:sp>
        <p:nvSpPr>
          <p:cNvPr id="28" name="Text 22"/>
          <p:cNvSpPr/>
          <p:nvPr/>
        </p:nvSpPr>
        <p:spPr>
          <a:xfrm>
            <a:off x="7406640" y="3639312"/>
            <a:ext cx="4069080" cy="457200"/>
          </a:xfrm>
          <a:prstGeom prst="rect">
            <a:avLst/>
          </a:prstGeom>
          <a:noFill/>
          <a:ln/>
        </p:spPr>
        <p:txBody>
          <a:bodyPr wrap="square" lIns="0" tIns="0" rIns="0" bIns="0" rtlCol="0" anchor="ctr"/>
          <a:lstStyle/>
          <a:p>
            <a:pPr indent="0" marL="0">
              <a:buNone/>
            </a:pPr>
            <a:r>
              <a:rPr lang="en-US" sz="1450" b="1" dirty="0">
                <a:solidFill>
                  <a:srgbClr val="0D3D78"/>
                </a:solidFill>
              </a:rPr>
              <a:t>Entity Relationship Diagram</a:t>
            </a:r>
            <a:endParaRPr lang="en-US" sz="1450" dirty="0"/>
          </a:p>
        </p:txBody>
      </p:sp>
      <p:sp>
        <p:nvSpPr>
          <p:cNvPr id="29" name="Text 23"/>
          <p:cNvSpPr/>
          <p:nvPr/>
        </p:nvSpPr>
        <p:spPr>
          <a:xfrm>
            <a:off x="7406640" y="4078224"/>
            <a:ext cx="4069080" cy="685800"/>
          </a:xfrm>
          <a:prstGeom prst="rect">
            <a:avLst/>
          </a:prstGeom>
          <a:noFill/>
          <a:ln/>
        </p:spPr>
        <p:txBody>
          <a:bodyPr wrap="square" lIns="0" tIns="0" rIns="0" bIns="0" rtlCol="0" anchor="t"/>
          <a:lstStyle/>
          <a:p>
            <a:pPr indent="0" marL="0">
              <a:lnSpc>
                <a:spcPct val="102000"/>
              </a:lnSpc>
              <a:buNone/>
            </a:pPr>
            <a:r>
              <a:rPr lang="en-US" sz="1150" dirty="0">
                <a:solidFill>
                  <a:srgbClr val="566779"/>
                </a:solidFill>
              </a:rPr>
              <a:t>Models entities and how they relate before the database is built.</a:t>
            </a:r>
            <a:endParaRPr lang="en-US" sz="1150" dirty="0"/>
          </a:p>
        </p:txBody>
      </p:sp>
      <p:sp>
        <p:nvSpPr>
          <p:cNvPr id="30" name="Shape 24"/>
          <p:cNvSpPr/>
          <p:nvPr/>
        </p:nvSpPr>
        <p:spPr>
          <a:xfrm>
            <a:off x="457200" y="5129784"/>
            <a:ext cx="11247120" cy="713232"/>
          </a:xfrm>
          <a:prstGeom prst="rect">
            <a:avLst/>
          </a:prstGeom>
          <a:solidFill>
            <a:srgbClr val="0E2A47"/>
          </a:solidFill>
          <a:ln/>
        </p:spPr>
      </p:sp>
      <p:sp>
        <p:nvSpPr>
          <p:cNvPr id="31" name="Text 25"/>
          <p:cNvSpPr/>
          <p:nvPr/>
        </p:nvSpPr>
        <p:spPr>
          <a:xfrm>
            <a:off x="731520" y="5129784"/>
            <a:ext cx="10789920" cy="713232"/>
          </a:xfrm>
          <a:prstGeom prst="rect">
            <a:avLst/>
          </a:prstGeom>
          <a:noFill/>
          <a:ln/>
        </p:spPr>
        <p:txBody>
          <a:bodyPr wrap="square" lIns="0" tIns="0" rIns="0" bIns="0" rtlCol="0" anchor="ctr"/>
          <a:lstStyle/>
          <a:p>
            <a:pPr indent="0" marL="0">
              <a:buNone/>
            </a:pPr>
            <a:r>
              <a:rPr lang="en-US" sz="1250" b="1" dirty="0">
                <a:solidFill>
                  <a:srgbClr val="F2B705"/>
                </a:solidFill>
              </a:rPr>
              <a:t>Logical view </a:t>
            </a:r>
            <a:pPr indent="0" marL="0">
              <a:buNone/>
            </a:pPr>
            <a:r>
              <a:rPr lang="en-US" sz="1250" dirty="0">
                <a:solidFill>
                  <a:srgbClr val="FFFFFF"/>
                </a:solidFill>
              </a:rPr>
              <a:t>= how end users see the data;   </a:t>
            </a:r>
            <a:pPr indent="0" marL="0">
              <a:buNone/>
            </a:pPr>
            <a:r>
              <a:rPr lang="en-US" sz="1250" b="1" dirty="0">
                <a:solidFill>
                  <a:srgbClr val="F2B705"/>
                </a:solidFill>
              </a:rPr>
              <a:t>Physical view </a:t>
            </a:r>
            <a:pPr indent="0" marL="0">
              <a:buNone/>
            </a:pPr>
            <a:r>
              <a:rPr lang="en-US" sz="1250" dirty="0">
                <a:solidFill>
                  <a:srgbClr val="CDE0F5"/>
                </a:solidFill>
              </a:rPr>
              <a:t>= how the data is actually stored on hardware. The DBMS bridges the two.</a:t>
            </a:r>
            <a:endParaRPr lang="en-US" sz="1250" dirty="0"/>
          </a:p>
        </p:txBody>
      </p:sp>
      <p:sp>
        <p:nvSpPr>
          <p:cNvPr id="32" name="Shape 26"/>
          <p:cNvSpPr/>
          <p:nvPr/>
        </p:nvSpPr>
        <p:spPr>
          <a:xfrm>
            <a:off x="0" y="6547104"/>
            <a:ext cx="12161520" cy="310896"/>
          </a:xfrm>
          <a:prstGeom prst="rect">
            <a:avLst/>
          </a:prstGeom>
          <a:solidFill>
            <a:srgbClr val="0E2A47"/>
          </a:solidFill>
          <a:ln/>
        </p:spPr>
      </p:sp>
      <p:sp>
        <p:nvSpPr>
          <p:cNvPr id="33" name="Text 27"/>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4" name="Text 28"/>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10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Types of Databases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The major categories found across an organization</a:t>
            </a:r>
            <a:endParaRPr lang="en-US" sz="1250" dirty="0"/>
          </a:p>
        </p:txBody>
      </p:sp>
      <p:sp>
        <p:nvSpPr>
          <p:cNvPr id="6" name="Shape 4"/>
          <p:cNvSpPr/>
          <p:nvPr/>
        </p:nvSpPr>
        <p:spPr>
          <a:xfrm>
            <a:off x="457200" y="2240280"/>
            <a:ext cx="2084832" cy="3063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2240280"/>
            <a:ext cx="2084832" cy="109728"/>
          </a:xfrm>
          <a:prstGeom prst="rect">
            <a:avLst/>
          </a:prstGeom>
          <a:solidFill>
            <a:srgbClr val="F2B705"/>
          </a:solidFill>
          <a:ln/>
        </p:spPr>
      </p:sp>
      <p:sp>
        <p:nvSpPr>
          <p:cNvPr id="8" name="Shape 6"/>
          <p:cNvSpPr/>
          <p:nvPr/>
        </p:nvSpPr>
        <p:spPr>
          <a:xfrm>
            <a:off x="1042416"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1271016" y="2788920"/>
            <a:ext cx="457200" cy="457200"/>
          </a:xfrm>
          <a:prstGeom prst="rect">
            <a:avLst/>
          </a:prstGeom>
        </p:spPr>
      </p:pic>
      <p:sp>
        <p:nvSpPr>
          <p:cNvPr id="10" name="Text 7"/>
          <p:cNvSpPr/>
          <p:nvPr/>
        </p:nvSpPr>
        <p:spPr>
          <a:xfrm>
            <a:off x="530352" y="3566160"/>
            <a:ext cx="1938528" cy="59436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Operational</a:t>
            </a:r>
            <a:endParaRPr lang="en-US" sz="1350" dirty="0"/>
          </a:p>
        </p:txBody>
      </p:sp>
      <p:sp>
        <p:nvSpPr>
          <p:cNvPr id="11" name="Text 8"/>
          <p:cNvSpPr/>
          <p:nvPr/>
        </p:nvSpPr>
        <p:spPr>
          <a:xfrm>
            <a:off x="566928" y="4114800"/>
            <a:ext cx="1865376" cy="105156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Detailed data that runs day-to-day operations (customer, inventory, HR).</a:t>
            </a:r>
            <a:endParaRPr lang="en-US" sz="1050" dirty="0"/>
          </a:p>
        </p:txBody>
      </p:sp>
      <p:sp>
        <p:nvSpPr>
          <p:cNvPr id="12" name="Shape 9"/>
          <p:cNvSpPr/>
          <p:nvPr/>
        </p:nvSpPr>
        <p:spPr>
          <a:xfrm>
            <a:off x="2747772" y="2240280"/>
            <a:ext cx="2084832" cy="3063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2747772" y="2240280"/>
            <a:ext cx="2084832" cy="109728"/>
          </a:xfrm>
          <a:prstGeom prst="rect">
            <a:avLst/>
          </a:prstGeom>
          <a:solidFill>
            <a:srgbClr val="F2B705"/>
          </a:solidFill>
          <a:ln/>
        </p:spPr>
      </p:sp>
      <p:sp>
        <p:nvSpPr>
          <p:cNvPr id="14" name="Shape 11"/>
          <p:cNvSpPr/>
          <p:nvPr/>
        </p:nvSpPr>
        <p:spPr>
          <a:xfrm>
            <a:off x="3332988"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3561588" y="2788920"/>
            <a:ext cx="457200" cy="457200"/>
          </a:xfrm>
          <a:prstGeom prst="rect">
            <a:avLst/>
          </a:prstGeom>
        </p:spPr>
      </p:pic>
      <p:sp>
        <p:nvSpPr>
          <p:cNvPr id="16" name="Text 12"/>
          <p:cNvSpPr/>
          <p:nvPr/>
        </p:nvSpPr>
        <p:spPr>
          <a:xfrm>
            <a:off x="2820924" y="3566160"/>
            <a:ext cx="1938528" cy="59436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Distributed</a:t>
            </a:r>
            <a:endParaRPr lang="en-US" sz="1350" dirty="0"/>
          </a:p>
        </p:txBody>
      </p:sp>
      <p:sp>
        <p:nvSpPr>
          <p:cNvPr id="17" name="Text 13"/>
          <p:cNvSpPr/>
          <p:nvPr/>
        </p:nvSpPr>
        <p:spPr>
          <a:xfrm>
            <a:off x="2857500" y="4114800"/>
            <a:ext cx="1865376" cy="105156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Copies or parts of databases held on servers in multiple locations.</a:t>
            </a:r>
            <a:endParaRPr lang="en-US" sz="1050" dirty="0"/>
          </a:p>
        </p:txBody>
      </p:sp>
      <p:sp>
        <p:nvSpPr>
          <p:cNvPr id="18" name="Shape 14"/>
          <p:cNvSpPr/>
          <p:nvPr/>
        </p:nvSpPr>
        <p:spPr>
          <a:xfrm>
            <a:off x="5038344" y="2240280"/>
            <a:ext cx="2084832" cy="3063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5038344" y="2240280"/>
            <a:ext cx="2084832" cy="109728"/>
          </a:xfrm>
          <a:prstGeom prst="rect">
            <a:avLst/>
          </a:prstGeom>
          <a:solidFill>
            <a:srgbClr val="F2B705"/>
          </a:solidFill>
          <a:ln/>
        </p:spPr>
      </p:sp>
      <p:sp>
        <p:nvSpPr>
          <p:cNvPr id="20" name="Shape 16"/>
          <p:cNvSpPr/>
          <p:nvPr/>
        </p:nvSpPr>
        <p:spPr>
          <a:xfrm>
            <a:off x="5623560"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5852160" y="2788920"/>
            <a:ext cx="457200" cy="457200"/>
          </a:xfrm>
          <a:prstGeom prst="rect">
            <a:avLst/>
          </a:prstGeom>
        </p:spPr>
      </p:pic>
      <p:sp>
        <p:nvSpPr>
          <p:cNvPr id="22" name="Text 17"/>
          <p:cNvSpPr/>
          <p:nvPr/>
        </p:nvSpPr>
        <p:spPr>
          <a:xfrm>
            <a:off x="5111496" y="3566160"/>
            <a:ext cx="1938528" cy="59436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External</a:t>
            </a:r>
            <a:endParaRPr lang="en-US" sz="1350" dirty="0"/>
          </a:p>
        </p:txBody>
      </p:sp>
      <p:sp>
        <p:nvSpPr>
          <p:cNvPr id="23" name="Text 18"/>
          <p:cNvSpPr/>
          <p:nvPr/>
        </p:nvSpPr>
        <p:spPr>
          <a:xfrm>
            <a:off x="5148072" y="4114800"/>
            <a:ext cx="1865376" cy="105156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Data from the web or paid online services (search engines, statistics).</a:t>
            </a:r>
            <a:endParaRPr lang="en-US" sz="1050" dirty="0"/>
          </a:p>
        </p:txBody>
      </p:sp>
      <p:sp>
        <p:nvSpPr>
          <p:cNvPr id="24" name="Shape 19"/>
          <p:cNvSpPr/>
          <p:nvPr/>
        </p:nvSpPr>
        <p:spPr>
          <a:xfrm>
            <a:off x="7328916" y="2240280"/>
            <a:ext cx="2084832" cy="3063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5" name="Shape 20"/>
          <p:cNvSpPr/>
          <p:nvPr/>
        </p:nvSpPr>
        <p:spPr>
          <a:xfrm>
            <a:off x="7328916" y="2240280"/>
            <a:ext cx="2084832" cy="109728"/>
          </a:xfrm>
          <a:prstGeom prst="rect">
            <a:avLst/>
          </a:prstGeom>
          <a:solidFill>
            <a:srgbClr val="F2B705"/>
          </a:solidFill>
          <a:ln/>
        </p:spPr>
      </p:sp>
      <p:sp>
        <p:nvSpPr>
          <p:cNvPr id="26" name="Shape 21"/>
          <p:cNvSpPr/>
          <p:nvPr/>
        </p:nvSpPr>
        <p:spPr>
          <a:xfrm>
            <a:off x="7914132" y="2560320"/>
            <a:ext cx="914400" cy="9144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7" name="Image 3" descr="preencoded.png">    </p:cNvPr>
          <p:cNvPicPr>
            <a:picLocks noChangeAspect="1"/>
          </p:cNvPicPr>
          <p:nvPr/>
        </p:nvPicPr>
        <p:blipFill>
          <a:blip r:embed="rId4"/>
          <a:stretch>
            <a:fillRect/>
          </a:stretch>
        </p:blipFill>
        <p:spPr>
          <a:xfrm>
            <a:off x="8142732" y="2788920"/>
            <a:ext cx="457200" cy="457200"/>
          </a:xfrm>
          <a:prstGeom prst="rect">
            <a:avLst/>
          </a:prstGeom>
        </p:spPr>
      </p:pic>
      <p:sp>
        <p:nvSpPr>
          <p:cNvPr id="28" name="Text 22"/>
          <p:cNvSpPr/>
          <p:nvPr/>
        </p:nvSpPr>
        <p:spPr>
          <a:xfrm>
            <a:off x="7402068" y="3566160"/>
            <a:ext cx="1938528" cy="594360"/>
          </a:xfrm>
          <a:prstGeom prst="rect">
            <a:avLst/>
          </a:prstGeom>
          <a:noFill/>
          <a:ln/>
        </p:spPr>
        <p:txBody>
          <a:bodyPr wrap="square" lIns="0" tIns="0" rIns="0" bIns="0" rtlCol="0" anchor="t"/>
          <a:lstStyle/>
          <a:p>
            <a:pPr algn="ctr" indent="0" marL="0">
              <a:buNone/>
            </a:pPr>
            <a:r>
              <a:rPr lang="en-US" sz="1350" b="1" dirty="0">
                <a:solidFill>
                  <a:srgbClr val="0D3D78"/>
                </a:solidFill>
                <a:latin typeface="Georgia" pitchFamily="34" charset="0"/>
                <a:ea typeface="Georgia" pitchFamily="34" charset="-122"/>
                <a:cs typeface="Georgia" pitchFamily="34" charset="-120"/>
              </a:rPr>
              <a:t>Hypermedia</a:t>
            </a:r>
            <a:endParaRPr lang="en-US" sz="1350" dirty="0"/>
          </a:p>
        </p:txBody>
      </p:sp>
      <p:sp>
        <p:nvSpPr>
          <p:cNvPr id="29" name="Text 23"/>
          <p:cNvSpPr/>
          <p:nvPr/>
        </p:nvSpPr>
        <p:spPr>
          <a:xfrm>
            <a:off x="7438644" y="4114800"/>
            <a:ext cx="1865376" cy="1051560"/>
          </a:xfrm>
          <a:prstGeom prst="rect">
            <a:avLst/>
          </a:prstGeom>
          <a:noFill/>
          <a:ln/>
        </p:spPr>
        <p:txBody>
          <a:bodyPr wrap="square" lIns="0" tIns="0" rIns="0" bIns="0" rtlCol="0" anchor="t"/>
          <a:lstStyle/>
          <a:p>
            <a:pPr algn="ctr" indent="0" marL="0">
              <a:lnSpc>
                <a:spcPct val="103000"/>
              </a:lnSpc>
              <a:buNone/>
            </a:pPr>
            <a:r>
              <a:rPr lang="en-US" sz="1050" dirty="0">
                <a:solidFill>
                  <a:srgbClr val="566779"/>
                </a:solidFill>
              </a:rPr>
              <a:t>Hyperlinked pages of multimedia rather than interrelated data records.</a:t>
            </a:r>
            <a:endParaRPr lang="en-US" sz="1050" dirty="0"/>
          </a:p>
        </p:txBody>
      </p:sp>
      <p:sp>
        <p:nvSpPr>
          <p:cNvPr id="30" name="Shape 24"/>
          <p:cNvSpPr/>
          <p:nvPr/>
        </p:nvSpPr>
        <p:spPr>
          <a:xfrm>
            <a:off x="9619488" y="2240280"/>
            <a:ext cx="2084832" cy="3063240"/>
          </a:xfrm>
          <a:prstGeom prst="rect">
            <a:avLst/>
          </a:prstGeom>
          <a:solidFill>
            <a:srgbClr val="1565C0"/>
          </a:solidFill>
          <a:ln w="12700">
            <a:solidFill>
              <a:srgbClr val="1565C0"/>
            </a:solidFill>
            <a:prstDash val="solid"/>
          </a:ln>
          <a:effectLst>
            <a:outerShdw sx="100000" sy="100000" kx="0" ky="0" algn="bl" rotWithShape="0" blurRad="88900" dist="38100" dir="8100000">
              <a:srgbClr val="000000">
                <a:alpha val="12000"/>
              </a:srgbClr>
            </a:outerShdw>
          </a:effectLst>
        </p:spPr>
      </p:sp>
      <p:sp>
        <p:nvSpPr>
          <p:cNvPr id="31" name="Shape 25"/>
          <p:cNvSpPr/>
          <p:nvPr/>
        </p:nvSpPr>
        <p:spPr>
          <a:xfrm>
            <a:off x="9619488" y="2240280"/>
            <a:ext cx="2084832" cy="109728"/>
          </a:xfrm>
          <a:prstGeom prst="rect">
            <a:avLst/>
          </a:prstGeom>
          <a:solidFill>
            <a:srgbClr val="F2B705"/>
          </a:solidFill>
          <a:ln/>
        </p:spPr>
      </p:sp>
      <p:sp>
        <p:nvSpPr>
          <p:cNvPr id="32" name="Shape 26"/>
          <p:cNvSpPr/>
          <p:nvPr/>
        </p:nvSpPr>
        <p:spPr>
          <a:xfrm>
            <a:off x="10204704" y="2560320"/>
            <a:ext cx="914400" cy="91440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33" name="Image 4" descr="preencoded.png">    </p:cNvPr>
          <p:cNvPicPr>
            <a:picLocks noChangeAspect="1"/>
          </p:cNvPicPr>
          <p:nvPr/>
        </p:nvPicPr>
        <p:blipFill>
          <a:blip r:embed="rId5"/>
          <a:stretch>
            <a:fillRect/>
          </a:stretch>
        </p:blipFill>
        <p:spPr>
          <a:xfrm>
            <a:off x="10433304" y="2788920"/>
            <a:ext cx="457200" cy="457200"/>
          </a:xfrm>
          <a:prstGeom prst="rect">
            <a:avLst/>
          </a:prstGeom>
        </p:spPr>
      </p:pic>
      <p:sp>
        <p:nvSpPr>
          <p:cNvPr id="34" name="Text 27"/>
          <p:cNvSpPr/>
          <p:nvPr/>
        </p:nvSpPr>
        <p:spPr>
          <a:xfrm>
            <a:off x="9692640" y="3566160"/>
            <a:ext cx="1938528" cy="594360"/>
          </a:xfrm>
          <a:prstGeom prst="rect">
            <a:avLst/>
          </a:prstGeom>
          <a:noFill/>
          <a:ln/>
        </p:spPr>
        <p:txBody>
          <a:bodyPr wrap="square" lIns="0" tIns="0" rIns="0" bIns="0" rtlCol="0" anchor="t"/>
          <a:lstStyle/>
          <a:p>
            <a:pPr algn="ctr" indent="0" marL="0">
              <a:buNone/>
            </a:pPr>
            <a:r>
              <a:rPr lang="en-US" sz="1350" b="1" dirty="0">
                <a:solidFill>
                  <a:srgbClr val="FFFFFF"/>
                </a:solidFill>
                <a:latin typeface="Georgia" pitchFamily="34" charset="0"/>
                <a:ea typeface="Georgia" pitchFamily="34" charset="-122"/>
                <a:cs typeface="Georgia" pitchFamily="34" charset="-120"/>
              </a:rPr>
              <a:t>Data Warehouse</a:t>
            </a:r>
            <a:endParaRPr lang="en-US" sz="1350" dirty="0"/>
          </a:p>
        </p:txBody>
      </p:sp>
      <p:sp>
        <p:nvSpPr>
          <p:cNvPr id="35" name="Text 28"/>
          <p:cNvSpPr/>
          <p:nvPr/>
        </p:nvSpPr>
        <p:spPr>
          <a:xfrm>
            <a:off x="9729216" y="4114800"/>
            <a:ext cx="1865376" cy="1051560"/>
          </a:xfrm>
          <a:prstGeom prst="rect">
            <a:avLst/>
          </a:prstGeom>
          <a:noFill/>
          <a:ln/>
        </p:spPr>
        <p:txBody>
          <a:bodyPr wrap="square" lIns="0" tIns="0" rIns="0" bIns="0" rtlCol="0" anchor="t"/>
          <a:lstStyle/>
          <a:p>
            <a:pPr algn="ctr" indent="0" marL="0">
              <a:lnSpc>
                <a:spcPct val="103000"/>
              </a:lnSpc>
              <a:buNone/>
            </a:pPr>
            <a:r>
              <a:rPr lang="en-US" sz="1050" dirty="0">
                <a:solidFill>
                  <a:srgbClr val="EAF1FB"/>
                </a:solidFill>
              </a:rPr>
              <a:t>Cleaned, integrated, historical data used for analysis and decisions.</a:t>
            </a:r>
            <a:endParaRPr lang="en-US" sz="1050" dirty="0"/>
          </a:p>
        </p:txBody>
      </p:sp>
      <p:sp>
        <p:nvSpPr>
          <p:cNvPr id="36" name="Shape 29"/>
          <p:cNvSpPr/>
          <p:nvPr/>
        </p:nvSpPr>
        <p:spPr>
          <a:xfrm>
            <a:off x="0" y="6547104"/>
            <a:ext cx="12161520" cy="310896"/>
          </a:xfrm>
          <a:prstGeom prst="rect">
            <a:avLst/>
          </a:prstGeom>
          <a:solidFill>
            <a:srgbClr val="0E2A47"/>
          </a:solidFill>
          <a:ln/>
        </p:spPr>
      </p:sp>
      <p:sp>
        <p:nvSpPr>
          <p:cNvPr id="37" name="Text 30"/>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8" name="Text 31"/>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11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12</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Operational &amp; Distributed Databases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Running the business, across many locations</a:t>
            </a:r>
            <a:endParaRPr lang="en-US" sz="1250" dirty="0"/>
          </a:p>
        </p:txBody>
      </p:sp>
      <p:sp>
        <p:nvSpPr>
          <p:cNvPr id="6" name="Shape 4"/>
          <p:cNvSpPr/>
          <p:nvPr/>
        </p:nvSpPr>
        <p:spPr>
          <a:xfrm>
            <a:off x="457200" y="1783080"/>
            <a:ext cx="5532120" cy="1691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5532120" cy="566928"/>
          </a:xfrm>
          <a:prstGeom prst="rect">
            <a:avLst/>
          </a:prstGeom>
          <a:solidFill>
            <a:srgbClr val="1565C0"/>
          </a:solidFill>
          <a:ln/>
        </p:spPr>
      </p:sp>
      <p:sp>
        <p:nvSpPr>
          <p:cNvPr id="8" name="Text 6"/>
          <p:cNvSpPr/>
          <p:nvPr/>
        </p:nvSpPr>
        <p:spPr>
          <a:xfrm>
            <a:off x="685800" y="1783080"/>
            <a:ext cx="5120640" cy="566928"/>
          </a:xfrm>
          <a:prstGeom prst="rect">
            <a:avLst/>
          </a:prstGeom>
          <a:noFill/>
          <a:ln/>
        </p:spPr>
        <p:txBody>
          <a:bodyPr wrap="square" lIns="0" tIns="0" rIns="0" bIns="0" rtlCol="0" anchor="ctr"/>
          <a:lstStyle/>
          <a:p>
            <a:pPr indent="0" marL="0">
              <a:buNone/>
            </a:pPr>
            <a:r>
              <a:rPr lang="en-US" sz="1550" b="1" dirty="0">
                <a:solidFill>
                  <a:srgbClr val="FFFFFF"/>
                </a:solidFill>
              </a:rPr>
              <a:t>Operational Databases</a:t>
            </a:r>
            <a:endParaRPr lang="en-US" sz="1550" dirty="0"/>
          </a:p>
        </p:txBody>
      </p:sp>
      <p:sp>
        <p:nvSpPr>
          <p:cNvPr id="9" name="Text 7"/>
          <p:cNvSpPr/>
          <p:nvPr/>
        </p:nvSpPr>
        <p:spPr>
          <a:xfrm>
            <a:off x="731520" y="2468880"/>
            <a:ext cx="5029200" cy="9144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3283F"/>
                </a:solidFill>
              </a:rPr>
              <a:t>Store detailed data that supports daily operations</a:t>
            </a:r>
            <a:endParaRPr lang="en-US" sz="1150" dirty="0"/>
          </a:p>
          <a:p>
            <a:pPr marL="152400" indent="-152400">
              <a:spcAft>
                <a:spcPts val="500"/>
              </a:spcAft>
              <a:buSzPct val="100000"/>
              <a:buChar char="•"/>
            </a:pPr>
            <a:r>
              <a:rPr lang="en-US" sz="1150" dirty="0">
                <a:solidFill>
                  <a:srgbClr val="13283F"/>
                </a:solidFill>
              </a:rPr>
              <a:t>Also called subject area, transaction, or production databases</a:t>
            </a:r>
            <a:endParaRPr lang="en-US" sz="1150" dirty="0"/>
          </a:p>
          <a:p>
            <a:pPr marL="152400" indent="-152400">
              <a:spcAft>
                <a:spcPts val="500"/>
              </a:spcAft>
              <a:buSzPct val="100000"/>
              <a:buChar char="•"/>
            </a:pPr>
            <a:r>
              <a:rPr lang="en-US" sz="1150" dirty="0">
                <a:solidFill>
                  <a:srgbClr val="13283F"/>
                </a:solidFill>
              </a:rPr>
              <a:t>Examples: customer, inventory, and human-resource databases</a:t>
            </a:r>
            <a:endParaRPr lang="en-US" sz="1150" dirty="0"/>
          </a:p>
        </p:txBody>
      </p:sp>
      <p:sp>
        <p:nvSpPr>
          <p:cNvPr id="10" name="Shape 8"/>
          <p:cNvSpPr/>
          <p:nvPr/>
        </p:nvSpPr>
        <p:spPr>
          <a:xfrm>
            <a:off x="6355080" y="1783080"/>
            <a:ext cx="5532120" cy="16916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1" name="Shape 9"/>
          <p:cNvSpPr/>
          <p:nvPr/>
        </p:nvSpPr>
        <p:spPr>
          <a:xfrm>
            <a:off x="6355080" y="1783080"/>
            <a:ext cx="5532120" cy="566928"/>
          </a:xfrm>
          <a:prstGeom prst="rect">
            <a:avLst/>
          </a:prstGeom>
          <a:solidFill>
            <a:srgbClr val="0E2A47"/>
          </a:solidFill>
          <a:ln/>
        </p:spPr>
      </p:sp>
      <p:sp>
        <p:nvSpPr>
          <p:cNvPr id="12" name="Text 10"/>
          <p:cNvSpPr/>
          <p:nvPr/>
        </p:nvSpPr>
        <p:spPr>
          <a:xfrm>
            <a:off x="6583680" y="1783080"/>
            <a:ext cx="5120640" cy="566928"/>
          </a:xfrm>
          <a:prstGeom prst="rect">
            <a:avLst/>
          </a:prstGeom>
          <a:noFill/>
          <a:ln/>
        </p:spPr>
        <p:txBody>
          <a:bodyPr wrap="square" lIns="0" tIns="0" rIns="0" bIns="0" rtlCol="0" anchor="ctr"/>
          <a:lstStyle/>
          <a:p>
            <a:pPr indent="0" marL="0">
              <a:buNone/>
            </a:pPr>
            <a:r>
              <a:rPr lang="en-US" sz="1550" b="1" dirty="0">
                <a:solidFill>
                  <a:srgbClr val="FFFFFF"/>
                </a:solidFill>
              </a:rPr>
              <a:t>Distributed Databases</a:t>
            </a:r>
            <a:endParaRPr lang="en-US" sz="1550" dirty="0"/>
          </a:p>
        </p:txBody>
      </p:sp>
      <p:sp>
        <p:nvSpPr>
          <p:cNvPr id="13" name="Text 11"/>
          <p:cNvSpPr/>
          <p:nvPr/>
        </p:nvSpPr>
        <p:spPr>
          <a:xfrm>
            <a:off x="6629400" y="2468880"/>
            <a:ext cx="5029200" cy="9144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3283F"/>
                </a:solidFill>
              </a:rPr>
              <a:t>Copies or parts of databases on servers in many locations</a:t>
            </a:r>
            <a:endParaRPr lang="en-US" sz="1150" dirty="0"/>
          </a:p>
          <a:p>
            <a:pPr marL="152400" indent="-152400">
              <a:spcAft>
                <a:spcPts val="500"/>
              </a:spcAft>
              <a:buSzPct val="100000"/>
              <a:buChar char="•"/>
            </a:pPr>
            <a:r>
              <a:rPr lang="en-US" sz="1150" dirty="0">
                <a:solidFill>
                  <a:srgbClr val="13283F"/>
                </a:solidFill>
              </a:rPr>
              <a:t>Pros: local control, better performance, data protection</a:t>
            </a:r>
            <a:endParaRPr lang="en-US" sz="1150" dirty="0"/>
          </a:p>
          <a:p>
            <a:pPr marL="152400" indent="-152400">
              <a:spcAft>
                <a:spcPts val="500"/>
              </a:spcAft>
              <a:buSzPct val="100000"/>
              <a:buChar char="•"/>
            </a:pPr>
            <a:r>
              <a:rPr lang="en-US" sz="1150" dirty="0">
                <a:solidFill>
                  <a:srgbClr val="13283F"/>
                </a:solidFill>
              </a:rPr>
              <a:t>Cons: keeping every copy accurate and consistent is hard</a:t>
            </a:r>
            <a:endParaRPr lang="en-US" sz="1150" dirty="0"/>
          </a:p>
        </p:txBody>
      </p:sp>
      <p:sp>
        <p:nvSpPr>
          <p:cNvPr id="14" name="Shape 12"/>
          <p:cNvSpPr/>
          <p:nvPr/>
        </p:nvSpPr>
        <p:spPr>
          <a:xfrm>
            <a:off x="457200" y="3703320"/>
            <a:ext cx="5532120" cy="1920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5" name="Shape 13"/>
          <p:cNvSpPr/>
          <p:nvPr/>
        </p:nvSpPr>
        <p:spPr>
          <a:xfrm>
            <a:off x="457200" y="3703320"/>
            <a:ext cx="82296" cy="1920240"/>
          </a:xfrm>
          <a:prstGeom prst="rect">
            <a:avLst/>
          </a:prstGeom>
          <a:solidFill>
            <a:srgbClr val="1565C0"/>
          </a:solidFill>
          <a:ln/>
        </p:spPr>
      </p:sp>
      <p:sp>
        <p:nvSpPr>
          <p:cNvPr id="16" name="Shape 14"/>
          <p:cNvSpPr/>
          <p:nvPr/>
        </p:nvSpPr>
        <p:spPr>
          <a:xfrm>
            <a:off x="713232" y="3995928"/>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7" name="Image 0" descr="preencoded.png">    </p:cNvPr>
          <p:cNvPicPr>
            <a:picLocks noChangeAspect="1"/>
          </p:cNvPicPr>
          <p:nvPr/>
        </p:nvPicPr>
        <p:blipFill>
          <a:blip r:embed="rId1"/>
          <a:stretch>
            <a:fillRect/>
          </a:stretch>
        </p:blipFill>
        <p:spPr>
          <a:xfrm>
            <a:off x="918972" y="4201668"/>
            <a:ext cx="411480" cy="411480"/>
          </a:xfrm>
          <a:prstGeom prst="rect">
            <a:avLst/>
          </a:prstGeom>
        </p:spPr>
      </p:pic>
      <p:sp>
        <p:nvSpPr>
          <p:cNvPr id="18" name="Text 15"/>
          <p:cNvSpPr/>
          <p:nvPr/>
        </p:nvSpPr>
        <p:spPr>
          <a:xfrm>
            <a:off x="1645920" y="3959352"/>
            <a:ext cx="4206240" cy="457200"/>
          </a:xfrm>
          <a:prstGeom prst="rect">
            <a:avLst/>
          </a:prstGeom>
          <a:noFill/>
          <a:ln/>
        </p:spPr>
        <p:txBody>
          <a:bodyPr wrap="square" lIns="0" tIns="0" rIns="0" bIns="0" rtlCol="0" anchor="ctr"/>
          <a:lstStyle/>
          <a:p>
            <a:pPr indent="0" marL="0">
              <a:buNone/>
            </a:pPr>
            <a:r>
              <a:rPr lang="en-US" sz="1600" b="1" dirty="0">
                <a:solidFill>
                  <a:srgbClr val="0D3D78"/>
                </a:solidFill>
              </a:rPr>
              <a:t>Replication</a:t>
            </a:r>
            <a:endParaRPr lang="en-US" sz="1600" dirty="0"/>
          </a:p>
        </p:txBody>
      </p:sp>
      <p:sp>
        <p:nvSpPr>
          <p:cNvPr id="19" name="Text 16"/>
          <p:cNvSpPr/>
          <p:nvPr/>
        </p:nvSpPr>
        <p:spPr>
          <a:xfrm>
            <a:off x="1645920" y="4434840"/>
            <a:ext cx="4160520" cy="1051560"/>
          </a:xfrm>
          <a:prstGeom prst="rect">
            <a:avLst/>
          </a:prstGeom>
          <a:noFill/>
          <a:ln/>
        </p:spPr>
        <p:txBody>
          <a:bodyPr wrap="square" lIns="0" tIns="0" rIns="0" bIns="0" rtlCol="0" anchor="t"/>
          <a:lstStyle/>
          <a:p>
            <a:pPr indent="0" marL="0">
              <a:lnSpc>
                <a:spcPct val="105000"/>
              </a:lnSpc>
              <a:buNone/>
            </a:pPr>
            <a:r>
              <a:rPr lang="en-US" sz="1150" dirty="0">
                <a:solidFill>
                  <a:srgbClr val="566779"/>
                </a:solidFill>
              </a:rPr>
              <a:t>Find changes in each distributed copy and apply them to all the others. Very complex; needs extra computing power and bandwidth, but stays current.</a:t>
            </a:r>
            <a:endParaRPr lang="en-US" sz="1150" dirty="0"/>
          </a:p>
        </p:txBody>
      </p:sp>
      <p:sp>
        <p:nvSpPr>
          <p:cNvPr id="20" name="Shape 17"/>
          <p:cNvSpPr/>
          <p:nvPr/>
        </p:nvSpPr>
        <p:spPr>
          <a:xfrm>
            <a:off x="6355080" y="3703320"/>
            <a:ext cx="5532120" cy="19202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1" name="Shape 18"/>
          <p:cNvSpPr/>
          <p:nvPr/>
        </p:nvSpPr>
        <p:spPr>
          <a:xfrm>
            <a:off x="6355080" y="3703320"/>
            <a:ext cx="82296" cy="1920240"/>
          </a:xfrm>
          <a:prstGeom prst="rect">
            <a:avLst/>
          </a:prstGeom>
          <a:solidFill>
            <a:srgbClr val="1E7A4D"/>
          </a:solidFill>
          <a:ln/>
        </p:spPr>
      </p:sp>
      <p:sp>
        <p:nvSpPr>
          <p:cNvPr id="22" name="Shape 19"/>
          <p:cNvSpPr/>
          <p:nvPr/>
        </p:nvSpPr>
        <p:spPr>
          <a:xfrm>
            <a:off x="6611112" y="3995928"/>
            <a:ext cx="822960" cy="822960"/>
          </a:xfrm>
          <a:prstGeom prst="ellipse">
            <a:avLst/>
          </a:prstGeom>
          <a:solidFill>
            <a:srgbClr val="1E7A4D"/>
          </a:solidFill>
          <a:ln/>
          <a:effectLst>
            <a:outerShdw sx="100000" sy="100000" kx="0" ky="0" algn="bl" rotWithShape="0" blurRad="88900" dist="38100" dir="8100000">
              <a:srgbClr val="000000">
                <a:alpha val="12000"/>
              </a:srgbClr>
            </a:outerShdw>
          </a:effectLst>
        </p:spPr>
      </p:sp>
      <p:pic>
        <p:nvPicPr>
          <p:cNvPr id="23" name="Image 1" descr="preencoded.png">    </p:cNvPr>
          <p:cNvPicPr>
            <a:picLocks noChangeAspect="1"/>
          </p:cNvPicPr>
          <p:nvPr/>
        </p:nvPicPr>
        <p:blipFill>
          <a:blip r:embed="rId2"/>
          <a:stretch>
            <a:fillRect/>
          </a:stretch>
        </p:blipFill>
        <p:spPr>
          <a:xfrm>
            <a:off x="6816852" y="4201668"/>
            <a:ext cx="411480" cy="411480"/>
          </a:xfrm>
          <a:prstGeom prst="rect">
            <a:avLst/>
          </a:prstGeom>
        </p:spPr>
      </p:pic>
      <p:sp>
        <p:nvSpPr>
          <p:cNvPr id="24" name="Text 20"/>
          <p:cNvSpPr/>
          <p:nvPr/>
        </p:nvSpPr>
        <p:spPr>
          <a:xfrm>
            <a:off x="7543800" y="3959352"/>
            <a:ext cx="4206240" cy="457200"/>
          </a:xfrm>
          <a:prstGeom prst="rect">
            <a:avLst/>
          </a:prstGeom>
          <a:noFill/>
          <a:ln/>
        </p:spPr>
        <p:txBody>
          <a:bodyPr wrap="square" lIns="0" tIns="0" rIns="0" bIns="0" rtlCol="0" anchor="ctr"/>
          <a:lstStyle/>
          <a:p>
            <a:pPr indent="0" marL="0">
              <a:buNone/>
            </a:pPr>
            <a:r>
              <a:rPr lang="en-US" sz="1600" b="1" dirty="0">
                <a:solidFill>
                  <a:srgbClr val="0D3D78"/>
                </a:solidFill>
              </a:rPr>
              <a:t>Duplication</a:t>
            </a:r>
            <a:endParaRPr lang="en-US" sz="1600" dirty="0"/>
          </a:p>
        </p:txBody>
      </p:sp>
      <p:sp>
        <p:nvSpPr>
          <p:cNvPr id="25" name="Text 21"/>
          <p:cNvSpPr/>
          <p:nvPr/>
        </p:nvSpPr>
        <p:spPr>
          <a:xfrm>
            <a:off x="7543800" y="4434840"/>
            <a:ext cx="4160520" cy="1051560"/>
          </a:xfrm>
          <a:prstGeom prst="rect">
            <a:avLst/>
          </a:prstGeom>
          <a:noFill/>
          <a:ln/>
        </p:spPr>
        <p:txBody>
          <a:bodyPr wrap="square" lIns="0" tIns="0" rIns="0" bIns="0" rtlCol="0" anchor="t"/>
          <a:lstStyle/>
          <a:p>
            <a:pPr indent="0" marL="0">
              <a:lnSpc>
                <a:spcPct val="105000"/>
              </a:lnSpc>
              <a:buNone/>
            </a:pPr>
            <a:r>
              <a:rPr lang="en-US" sz="1150" dirty="0">
                <a:solidFill>
                  <a:srgbClr val="566779"/>
                </a:solidFill>
              </a:rPr>
              <a:t>Treat one database as the master and copy it to all locations after hours. Much easier to accomplish, but copies lag the master.</a:t>
            </a:r>
            <a:endParaRPr lang="en-US" sz="1150" dirty="0"/>
          </a:p>
        </p:txBody>
      </p:sp>
      <p:sp>
        <p:nvSpPr>
          <p:cNvPr id="26" name="Shape 22"/>
          <p:cNvSpPr/>
          <p:nvPr/>
        </p:nvSpPr>
        <p:spPr>
          <a:xfrm>
            <a:off x="0" y="6547104"/>
            <a:ext cx="12161520" cy="310896"/>
          </a:xfrm>
          <a:prstGeom prst="rect">
            <a:avLst/>
          </a:prstGeom>
          <a:solidFill>
            <a:srgbClr val="0E2A47"/>
          </a:solidFill>
          <a:ln/>
        </p:spPr>
      </p:sp>
      <p:sp>
        <p:nvSpPr>
          <p:cNvPr id="27" name="Text 23"/>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8" name="Text 24"/>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12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13</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External &amp; Hypermedia Databases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Data beyond the organization's own systems</a:t>
            </a:r>
            <a:endParaRPr lang="en-US" sz="1250" dirty="0"/>
          </a:p>
        </p:txBody>
      </p:sp>
      <p:sp>
        <p:nvSpPr>
          <p:cNvPr id="6" name="Shape 4"/>
          <p:cNvSpPr/>
          <p:nvPr/>
        </p:nvSpPr>
        <p:spPr>
          <a:xfrm>
            <a:off x="457200" y="1828800"/>
            <a:ext cx="5532120" cy="388620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828800"/>
            <a:ext cx="5532120" cy="603504"/>
          </a:xfrm>
          <a:prstGeom prst="rect">
            <a:avLst/>
          </a:prstGeom>
          <a:solidFill>
            <a:srgbClr val="1565C0"/>
          </a:solidFill>
          <a:ln/>
        </p:spPr>
      </p:sp>
      <p:sp>
        <p:nvSpPr>
          <p:cNvPr id="8" name="Shape 6"/>
          <p:cNvSpPr/>
          <p:nvPr/>
        </p:nvSpPr>
        <p:spPr>
          <a:xfrm>
            <a:off x="621792" y="194767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704088" y="2029968"/>
            <a:ext cx="201168" cy="201168"/>
          </a:xfrm>
          <a:prstGeom prst="rect">
            <a:avLst/>
          </a:prstGeom>
        </p:spPr>
      </p:pic>
      <p:sp>
        <p:nvSpPr>
          <p:cNvPr id="10" name="Text 7"/>
          <p:cNvSpPr/>
          <p:nvPr/>
        </p:nvSpPr>
        <p:spPr>
          <a:xfrm>
            <a:off x="1097280" y="1828800"/>
            <a:ext cx="4754880" cy="603504"/>
          </a:xfrm>
          <a:prstGeom prst="rect">
            <a:avLst/>
          </a:prstGeom>
          <a:noFill/>
          <a:ln/>
        </p:spPr>
        <p:txBody>
          <a:bodyPr wrap="square" lIns="0" tIns="0" rIns="0" bIns="0" rtlCol="0" anchor="ctr"/>
          <a:lstStyle/>
          <a:p>
            <a:pPr indent="0" marL="0">
              <a:buNone/>
            </a:pPr>
            <a:r>
              <a:rPr lang="en-US" sz="1700" b="1" dirty="0">
                <a:solidFill>
                  <a:srgbClr val="FFFFFF"/>
                </a:solidFill>
              </a:rPr>
              <a:t>External Databases</a:t>
            </a:r>
            <a:endParaRPr lang="en-US" sz="1700" dirty="0"/>
          </a:p>
        </p:txBody>
      </p:sp>
      <p:sp>
        <p:nvSpPr>
          <p:cNvPr id="11" name="Text 8"/>
          <p:cNvSpPr/>
          <p:nvPr/>
        </p:nvSpPr>
        <p:spPr>
          <a:xfrm>
            <a:off x="749808" y="2670048"/>
            <a:ext cx="4983480" cy="2880360"/>
          </a:xfrm>
          <a:prstGeom prst="rect">
            <a:avLst/>
          </a:prstGeom>
          <a:noFill/>
          <a:ln/>
        </p:spPr>
        <p:txBody>
          <a:bodyPr wrap="square" lIns="0" tIns="0" rIns="0" bIns="0" rtlCol="0" anchor="t"/>
          <a:lstStyle/>
          <a:p>
            <a:pPr marL="152400" indent="-152400">
              <a:lnSpc>
                <a:spcPct val="104000"/>
              </a:lnSpc>
              <a:spcAft>
                <a:spcPts val="1000"/>
              </a:spcAft>
              <a:buSzPct val="100000"/>
              <a:buChar char="•"/>
            </a:pPr>
            <a:r>
              <a:rPr lang="en-US" sz="1250" dirty="0">
                <a:solidFill>
                  <a:srgbClr val="13283F"/>
                </a:solidFill>
              </a:rPr>
              <a:t>Available on the web, often for a fee or via online services</a:t>
            </a:r>
            <a:endParaRPr lang="en-US" sz="1250" dirty="0"/>
          </a:p>
          <a:p>
            <a:pPr marL="152400" indent="-152400">
              <a:lnSpc>
                <a:spcPct val="104000"/>
              </a:lnSpc>
              <a:spcAft>
                <a:spcPts val="1000"/>
              </a:spcAft>
              <a:buSzPct val="100000"/>
              <a:buChar char="•"/>
            </a:pPr>
            <a:r>
              <a:rPr lang="en-US" sz="1250" dirty="0">
                <a:solidFill>
                  <a:srgbClr val="13283F"/>
                </a:solidFill>
              </a:rPr>
              <a:t>Search engines such as Google index huge external databases</a:t>
            </a:r>
            <a:endParaRPr lang="en-US" sz="1250" dirty="0"/>
          </a:p>
          <a:p>
            <a:pPr marL="152400" indent="-152400">
              <a:lnSpc>
                <a:spcPct val="104000"/>
              </a:lnSpc>
              <a:spcAft>
                <a:spcPts val="1000"/>
              </a:spcAft>
              <a:buSzPct val="100000"/>
              <a:buChar char="•"/>
            </a:pPr>
            <a:r>
              <a:rPr lang="en-US" sz="1250" dirty="0">
                <a:solidFill>
                  <a:srgbClr val="13283F"/>
                </a:solidFill>
              </a:rPr>
              <a:t>Include statistical, bibliographic, and full-text databases</a:t>
            </a:r>
            <a:endParaRPr lang="en-US" sz="1250" dirty="0"/>
          </a:p>
          <a:p>
            <a:pPr marL="152400" indent="-152400">
              <a:lnSpc>
                <a:spcPct val="104000"/>
              </a:lnSpc>
              <a:spcAft>
                <a:spcPts val="1000"/>
              </a:spcAft>
              <a:buSzPct val="100000"/>
              <a:buChar char="•"/>
            </a:pPr>
            <a:r>
              <a:rPr lang="en-US" sz="1250" dirty="0">
                <a:solidFill>
                  <a:srgbClr val="13283F"/>
                </a:solidFill>
              </a:rPr>
              <a:t>Give the business access to data it does not own or produce</a:t>
            </a:r>
            <a:endParaRPr lang="en-US" sz="1250" dirty="0"/>
          </a:p>
        </p:txBody>
      </p:sp>
      <p:sp>
        <p:nvSpPr>
          <p:cNvPr id="12" name="Shape 9"/>
          <p:cNvSpPr/>
          <p:nvPr/>
        </p:nvSpPr>
        <p:spPr>
          <a:xfrm>
            <a:off x="6309360" y="1828800"/>
            <a:ext cx="5532120" cy="388620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6309360" y="1828800"/>
            <a:ext cx="5532120" cy="603504"/>
          </a:xfrm>
          <a:prstGeom prst="rect">
            <a:avLst/>
          </a:prstGeom>
          <a:solidFill>
            <a:srgbClr val="0E2A47"/>
          </a:solidFill>
          <a:ln/>
        </p:spPr>
      </p:sp>
      <p:sp>
        <p:nvSpPr>
          <p:cNvPr id="14" name="Shape 11"/>
          <p:cNvSpPr/>
          <p:nvPr/>
        </p:nvSpPr>
        <p:spPr>
          <a:xfrm>
            <a:off x="6473952" y="194767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6556248" y="2029968"/>
            <a:ext cx="201168" cy="201168"/>
          </a:xfrm>
          <a:prstGeom prst="rect">
            <a:avLst/>
          </a:prstGeom>
        </p:spPr>
      </p:pic>
      <p:sp>
        <p:nvSpPr>
          <p:cNvPr id="16" name="Text 12"/>
          <p:cNvSpPr/>
          <p:nvPr/>
        </p:nvSpPr>
        <p:spPr>
          <a:xfrm>
            <a:off x="6949440" y="1828800"/>
            <a:ext cx="4754880" cy="603504"/>
          </a:xfrm>
          <a:prstGeom prst="rect">
            <a:avLst/>
          </a:prstGeom>
          <a:noFill/>
          <a:ln/>
        </p:spPr>
        <p:txBody>
          <a:bodyPr wrap="square" lIns="0" tIns="0" rIns="0" bIns="0" rtlCol="0" anchor="ctr"/>
          <a:lstStyle/>
          <a:p>
            <a:pPr indent="0" marL="0">
              <a:buNone/>
            </a:pPr>
            <a:r>
              <a:rPr lang="en-US" sz="1700" b="1" dirty="0">
                <a:solidFill>
                  <a:srgbClr val="FFFFFF"/>
                </a:solidFill>
              </a:rPr>
              <a:t>Hypermedia Databases</a:t>
            </a:r>
            <a:endParaRPr lang="en-US" sz="1700" dirty="0"/>
          </a:p>
        </p:txBody>
      </p:sp>
      <p:sp>
        <p:nvSpPr>
          <p:cNvPr id="17" name="Text 13"/>
          <p:cNvSpPr/>
          <p:nvPr/>
        </p:nvSpPr>
        <p:spPr>
          <a:xfrm>
            <a:off x="6601968" y="2670048"/>
            <a:ext cx="4983480" cy="2880360"/>
          </a:xfrm>
          <a:prstGeom prst="rect">
            <a:avLst/>
          </a:prstGeom>
          <a:noFill/>
          <a:ln/>
        </p:spPr>
        <p:txBody>
          <a:bodyPr wrap="square" lIns="0" tIns="0" rIns="0" bIns="0" rtlCol="0" anchor="t"/>
          <a:lstStyle/>
          <a:p>
            <a:pPr marL="152400" indent="-152400">
              <a:lnSpc>
                <a:spcPct val="104000"/>
              </a:lnSpc>
              <a:spcAft>
                <a:spcPts val="1000"/>
              </a:spcAft>
              <a:buSzPct val="100000"/>
              <a:buChar char="•"/>
            </a:pPr>
            <a:r>
              <a:rPr lang="en-US" sz="1250" dirty="0">
                <a:solidFill>
                  <a:srgbClr val="13283F"/>
                </a:solidFill>
              </a:rPr>
              <a:t>Power web-based information systems</a:t>
            </a:r>
            <a:endParaRPr lang="en-US" sz="1250" dirty="0"/>
          </a:p>
          <a:p>
            <a:pPr marL="152400" indent="-152400">
              <a:lnSpc>
                <a:spcPct val="104000"/>
              </a:lnSpc>
              <a:spcAft>
                <a:spcPts val="1000"/>
              </a:spcAft>
              <a:buSzPct val="100000"/>
              <a:buChar char="•"/>
            </a:pPr>
            <a:r>
              <a:rPr lang="en-US" sz="1250" dirty="0">
                <a:solidFill>
                  <a:srgbClr val="13283F"/>
                </a:solidFill>
              </a:rPr>
              <a:t>Hold hyperlinked pages of multimedia content</a:t>
            </a:r>
            <a:endParaRPr lang="en-US" sz="1250" dirty="0"/>
          </a:p>
          <a:p>
            <a:pPr marL="152400" indent="-152400">
              <a:lnSpc>
                <a:spcPct val="104000"/>
              </a:lnSpc>
              <a:spcAft>
                <a:spcPts val="1000"/>
              </a:spcAft>
              <a:buSzPct val="100000"/>
              <a:buChar char="•"/>
            </a:pPr>
            <a:r>
              <a:rPr lang="en-US" sz="1250" dirty="0">
                <a:solidFill>
                  <a:srgbClr val="13283F"/>
                </a:solidFill>
              </a:rPr>
              <a:t>Interrelate hypermedia page elements, not data records</a:t>
            </a:r>
            <a:endParaRPr lang="en-US" sz="1250" dirty="0"/>
          </a:p>
          <a:p>
            <a:pPr marL="152400" indent="-152400">
              <a:lnSpc>
                <a:spcPct val="104000"/>
              </a:lnSpc>
              <a:spcAft>
                <a:spcPts val="1000"/>
              </a:spcAft>
              <a:buSzPct val="100000"/>
              <a:buChar char="•"/>
            </a:pPr>
            <a:r>
              <a:rPr lang="en-US" sz="1250" dirty="0">
                <a:solidFill>
                  <a:srgbClr val="13283F"/>
                </a:solidFill>
              </a:rPr>
              <a:t>Underlie websites, intranets, and extranets</a:t>
            </a:r>
            <a:endParaRPr lang="en-US" sz="1250" dirty="0"/>
          </a:p>
        </p:txBody>
      </p:sp>
      <p:sp>
        <p:nvSpPr>
          <p:cNvPr id="18" name="Shape 14"/>
          <p:cNvSpPr/>
          <p:nvPr/>
        </p:nvSpPr>
        <p:spPr>
          <a:xfrm>
            <a:off x="0" y="6547104"/>
            <a:ext cx="12161520" cy="310896"/>
          </a:xfrm>
          <a:prstGeom prst="rect">
            <a:avLst/>
          </a:prstGeom>
          <a:solidFill>
            <a:srgbClr val="0E2A47"/>
          </a:solidFill>
          <a:ln/>
        </p:spPr>
      </p:sp>
      <p:sp>
        <p:nvSpPr>
          <p:cNvPr id="19" name="Text 15"/>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0" name="Text 16"/>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13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14</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Data Warehouses &amp; Data Marts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A clean, central store of historical data for analysis</a:t>
            </a:r>
            <a:endParaRPr lang="en-US" sz="1250" dirty="0"/>
          </a:p>
        </p:txBody>
      </p:sp>
      <p:sp>
        <p:nvSpPr>
          <p:cNvPr id="6" name="Text 4"/>
          <p:cNvSpPr/>
          <p:nvPr/>
        </p:nvSpPr>
        <p:spPr>
          <a:xfrm>
            <a:off x="457200" y="1298448"/>
            <a:ext cx="11247120" cy="868680"/>
          </a:xfrm>
          <a:prstGeom prst="rect">
            <a:avLst/>
          </a:prstGeom>
          <a:noFill/>
          <a:ln/>
        </p:spPr>
        <p:txBody>
          <a:bodyPr wrap="square" lIns="0" tIns="0" rIns="0" bIns="0" rtlCol="0" anchor="t"/>
          <a:lstStyle/>
          <a:p>
            <a:pPr indent="0" marL="0">
              <a:lnSpc>
                <a:spcPct val="105000"/>
              </a:lnSpc>
              <a:buNone/>
            </a:pPr>
            <a:r>
              <a:rPr lang="en-US" sz="1400" dirty="0">
                <a:solidFill>
                  <a:srgbClr val="13283F"/>
                </a:solidFill>
              </a:rPr>
              <a:t>A data warehouse is a central source of data that has been extracted from other databases, then cleaned, transformed, and cataloged. It stores static, historical data for analysis, research, and decision support. Subsets focused on one department or process are called data marts.</a:t>
            </a:r>
            <a:endParaRPr lang="en-US" sz="1400" dirty="0"/>
          </a:p>
        </p:txBody>
      </p:sp>
      <p:sp>
        <p:nvSpPr>
          <p:cNvPr id="7" name="Shape 5"/>
          <p:cNvSpPr/>
          <p:nvPr/>
        </p:nvSpPr>
        <p:spPr>
          <a:xfrm>
            <a:off x="457200" y="2331720"/>
            <a:ext cx="2715768" cy="21488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331720"/>
            <a:ext cx="2715768" cy="91440"/>
          </a:xfrm>
          <a:prstGeom prst="rect">
            <a:avLst/>
          </a:prstGeom>
          <a:solidFill>
            <a:srgbClr val="F2B705"/>
          </a:solidFill>
          <a:ln/>
        </p:spPr>
      </p:sp>
      <p:sp>
        <p:nvSpPr>
          <p:cNvPr id="9" name="Shape 7"/>
          <p:cNvSpPr/>
          <p:nvPr/>
        </p:nvSpPr>
        <p:spPr>
          <a:xfrm>
            <a:off x="1403604" y="2606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1609344" y="2811780"/>
            <a:ext cx="411480" cy="411480"/>
          </a:xfrm>
          <a:prstGeom prst="rect">
            <a:avLst/>
          </a:prstGeom>
        </p:spPr>
      </p:pic>
      <p:sp>
        <p:nvSpPr>
          <p:cNvPr id="11" name="Text 8"/>
          <p:cNvSpPr/>
          <p:nvPr/>
        </p:nvSpPr>
        <p:spPr>
          <a:xfrm>
            <a:off x="566928" y="3520440"/>
            <a:ext cx="2496312" cy="457200"/>
          </a:xfrm>
          <a:prstGeom prst="rect">
            <a:avLst/>
          </a:prstGeom>
          <a:noFill/>
          <a:ln/>
        </p:spPr>
        <p:txBody>
          <a:bodyPr wrap="square" lIns="0" tIns="0" rIns="0" bIns="0" rtlCol="0" anchor="t"/>
          <a:lstStyle/>
          <a:p>
            <a:pPr algn="ctr" indent="0" marL="0">
              <a:buNone/>
            </a:pPr>
            <a:r>
              <a:rPr lang="en-US" sz="1250" b="1" dirty="0">
                <a:solidFill>
                  <a:srgbClr val="0D3D78"/>
                </a:solidFill>
              </a:rPr>
              <a:t>Source Databases</a:t>
            </a:r>
            <a:endParaRPr lang="en-US" sz="1250" dirty="0"/>
          </a:p>
        </p:txBody>
      </p:sp>
      <p:sp>
        <p:nvSpPr>
          <p:cNvPr id="12" name="Text 9"/>
          <p:cNvSpPr/>
          <p:nvPr/>
        </p:nvSpPr>
        <p:spPr>
          <a:xfrm>
            <a:off x="594360" y="3959352"/>
            <a:ext cx="2441448" cy="502920"/>
          </a:xfrm>
          <a:prstGeom prst="rect">
            <a:avLst/>
          </a:prstGeom>
          <a:noFill/>
          <a:ln/>
        </p:spPr>
        <p:txBody>
          <a:bodyPr wrap="square" lIns="0" tIns="0" rIns="0" bIns="0" rtlCol="0" anchor="t"/>
          <a:lstStyle/>
          <a:p>
            <a:pPr algn="ctr" indent="0" marL="0">
              <a:lnSpc>
                <a:spcPct val="102000"/>
              </a:lnSpc>
              <a:buNone/>
            </a:pPr>
            <a:r>
              <a:rPr lang="en-US" sz="1000" dirty="0">
                <a:solidFill>
                  <a:srgbClr val="566779"/>
                </a:solidFill>
              </a:rPr>
              <a:t>Operational and external systems hold the raw, live data.</a:t>
            </a:r>
            <a:endParaRPr lang="en-US" sz="1000" dirty="0"/>
          </a:p>
        </p:txBody>
      </p:sp>
      <p:sp>
        <p:nvSpPr>
          <p:cNvPr id="13" name="Text 10"/>
          <p:cNvSpPr/>
          <p:nvPr/>
        </p:nvSpPr>
        <p:spPr>
          <a:xfrm>
            <a:off x="3154680" y="2880360"/>
            <a:ext cx="201168"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14" name="Shape 11"/>
          <p:cNvSpPr/>
          <p:nvPr/>
        </p:nvSpPr>
        <p:spPr>
          <a:xfrm>
            <a:off x="3374136" y="2331720"/>
            <a:ext cx="2715768" cy="21488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5" name="Shape 12"/>
          <p:cNvSpPr/>
          <p:nvPr/>
        </p:nvSpPr>
        <p:spPr>
          <a:xfrm>
            <a:off x="3374136" y="2331720"/>
            <a:ext cx="2715768" cy="91440"/>
          </a:xfrm>
          <a:prstGeom prst="rect">
            <a:avLst/>
          </a:prstGeom>
          <a:solidFill>
            <a:srgbClr val="F2B705"/>
          </a:solidFill>
          <a:ln/>
        </p:spPr>
      </p:sp>
      <p:sp>
        <p:nvSpPr>
          <p:cNvPr id="16" name="Shape 13"/>
          <p:cNvSpPr/>
          <p:nvPr/>
        </p:nvSpPr>
        <p:spPr>
          <a:xfrm>
            <a:off x="4320540" y="2606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7" name="Image 1" descr="preencoded.png">    </p:cNvPr>
          <p:cNvPicPr>
            <a:picLocks noChangeAspect="1"/>
          </p:cNvPicPr>
          <p:nvPr/>
        </p:nvPicPr>
        <p:blipFill>
          <a:blip r:embed="rId2"/>
          <a:stretch>
            <a:fillRect/>
          </a:stretch>
        </p:blipFill>
        <p:spPr>
          <a:xfrm>
            <a:off x="4526280" y="2811780"/>
            <a:ext cx="411480" cy="411480"/>
          </a:xfrm>
          <a:prstGeom prst="rect">
            <a:avLst/>
          </a:prstGeom>
        </p:spPr>
      </p:pic>
      <p:sp>
        <p:nvSpPr>
          <p:cNvPr id="18" name="Text 14"/>
          <p:cNvSpPr/>
          <p:nvPr/>
        </p:nvSpPr>
        <p:spPr>
          <a:xfrm>
            <a:off x="3483864" y="3520440"/>
            <a:ext cx="2496312" cy="457200"/>
          </a:xfrm>
          <a:prstGeom prst="rect">
            <a:avLst/>
          </a:prstGeom>
          <a:noFill/>
          <a:ln/>
        </p:spPr>
        <p:txBody>
          <a:bodyPr wrap="square" lIns="0" tIns="0" rIns="0" bIns="0" rtlCol="0" anchor="t"/>
          <a:lstStyle/>
          <a:p>
            <a:pPr algn="ctr" indent="0" marL="0">
              <a:buNone/>
            </a:pPr>
            <a:r>
              <a:rPr lang="en-US" sz="1250" b="1" dirty="0">
                <a:solidFill>
                  <a:srgbClr val="0D3D78"/>
                </a:solidFill>
              </a:rPr>
              <a:t>Extract, Clean, Transform</a:t>
            </a:r>
            <a:endParaRPr lang="en-US" sz="1250" dirty="0"/>
          </a:p>
        </p:txBody>
      </p:sp>
      <p:sp>
        <p:nvSpPr>
          <p:cNvPr id="19" name="Text 15"/>
          <p:cNvSpPr/>
          <p:nvPr/>
        </p:nvSpPr>
        <p:spPr>
          <a:xfrm>
            <a:off x="3511296" y="3959352"/>
            <a:ext cx="2441448" cy="502920"/>
          </a:xfrm>
          <a:prstGeom prst="rect">
            <a:avLst/>
          </a:prstGeom>
          <a:noFill/>
          <a:ln/>
        </p:spPr>
        <p:txBody>
          <a:bodyPr wrap="square" lIns="0" tIns="0" rIns="0" bIns="0" rtlCol="0" anchor="t"/>
          <a:lstStyle/>
          <a:p>
            <a:pPr algn="ctr" indent="0" marL="0">
              <a:lnSpc>
                <a:spcPct val="102000"/>
              </a:lnSpc>
              <a:buNone/>
            </a:pPr>
            <a:r>
              <a:rPr lang="en-US" sz="1000" dirty="0">
                <a:solidFill>
                  <a:srgbClr val="566779"/>
                </a:solidFill>
              </a:rPr>
              <a:t>Data is pulled, scrubbed of errors, standardized, and cataloged.</a:t>
            </a:r>
            <a:endParaRPr lang="en-US" sz="1000" dirty="0"/>
          </a:p>
        </p:txBody>
      </p:sp>
      <p:sp>
        <p:nvSpPr>
          <p:cNvPr id="20" name="Text 16"/>
          <p:cNvSpPr/>
          <p:nvPr/>
        </p:nvSpPr>
        <p:spPr>
          <a:xfrm>
            <a:off x="6071616" y="2880360"/>
            <a:ext cx="201168"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21" name="Shape 17"/>
          <p:cNvSpPr/>
          <p:nvPr/>
        </p:nvSpPr>
        <p:spPr>
          <a:xfrm>
            <a:off x="6291072" y="2331720"/>
            <a:ext cx="2715768" cy="21488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2" name="Shape 18"/>
          <p:cNvSpPr/>
          <p:nvPr/>
        </p:nvSpPr>
        <p:spPr>
          <a:xfrm>
            <a:off x="6291072" y="2331720"/>
            <a:ext cx="2715768" cy="91440"/>
          </a:xfrm>
          <a:prstGeom prst="rect">
            <a:avLst/>
          </a:prstGeom>
          <a:solidFill>
            <a:srgbClr val="F2B705"/>
          </a:solidFill>
          <a:ln/>
        </p:spPr>
      </p:sp>
      <p:sp>
        <p:nvSpPr>
          <p:cNvPr id="23" name="Shape 19"/>
          <p:cNvSpPr/>
          <p:nvPr/>
        </p:nvSpPr>
        <p:spPr>
          <a:xfrm>
            <a:off x="7237476" y="2606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4" name="Image 2" descr="preencoded.png">    </p:cNvPr>
          <p:cNvPicPr>
            <a:picLocks noChangeAspect="1"/>
          </p:cNvPicPr>
          <p:nvPr/>
        </p:nvPicPr>
        <p:blipFill>
          <a:blip r:embed="rId3"/>
          <a:stretch>
            <a:fillRect/>
          </a:stretch>
        </p:blipFill>
        <p:spPr>
          <a:xfrm>
            <a:off x="7443216" y="2811780"/>
            <a:ext cx="411480" cy="411480"/>
          </a:xfrm>
          <a:prstGeom prst="rect">
            <a:avLst/>
          </a:prstGeom>
        </p:spPr>
      </p:pic>
      <p:sp>
        <p:nvSpPr>
          <p:cNvPr id="25" name="Text 20"/>
          <p:cNvSpPr/>
          <p:nvPr/>
        </p:nvSpPr>
        <p:spPr>
          <a:xfrm>
            <a:off x="6400800" y="3520440"/>
            <a:ext cx="2496312" cy="457200"/>
          </a:xfrm>
          <a:prstGeom prst="rect">
            <a:avLst/>
          </a:prstGeom>
          <a:noFill/>
          <a:ln/>
        </p:spPr>
        <p:txBody>
          <a:bodyPr wrap="square" lIns="0" tIns="0" rIns="0" bIns="0" rtlCol="0" anchor="t"/>
          <a:lstStyle/>
          <a:p>
            <a:pPr algn="ctr" indent="0" marL="0">
              <a:buNone/>
            </a:pPr>
            <a:r>
              <a:rPr lang="en-US" sz="1250" b="1" dirty="0">
                <a:solidFill>
                  <a:srgbClr val="0D3D78"/>
                </a:solidFill>
              </a:rPr>
              <a:t>Data Warehouse</a:t>
            </a:r>
            <a:endParaRPr lang="en-US" sz="1250" dirty="0"/>
          </a:p>
        </p:txBody>
      </p:sp>
      <p:sp>
        <p:nvSpPr>
          <p:cNvPr id="26" name="Text 21"/>
          <p:cNvSpPr/>
          <p:nvPr/>
        </p:nvSpPr>
        <p:spPr>
          <a:xfrm>
            <a:off x="6428232" y="3959352"/>
            <a:ext cx="2441448" cy="502920"/>
          </a:xfrm>
          <a:prstGeom prst="rect">
            <a:avLst/>
          </a:prstGeom>
          <a:noFill/>
          <a:ln/>
        </p:spPr>
        <p:txBody>
          <a:bodyPr wrap="square" lIns="0" tIns="0" rIns="0" bIns="0" rtlCol="0" anchor="t"/>
          <a:lstStyle/>
          <a:p>
            <a:pPr algn="ctr" indent="0" marL="0">
              <a:lnSpc>
                <a:spcPct val="102000"/>
              </a:lnSpc>
              <a:buNone/>
            </a:pPr>
            <a:r>
              <a:rPr lang="en-US" sz="1000" dirty="0">
                <a:solidFill>
                  <a:srgbClr val="566779"/>
                </a:solidFill>
              </a:rPr>
              <a:t>A single, consistent historical store, often split into data marts.</a:t>
            </a:r>
            <a:endParaRPr lang="en-US" sz="1000" dirty="0"/>
          </a:p>
        </p:txBody>
      </p:sp>
      <p:sp>
        <p:nvSpPr>
          <p:cNvPr id="27" name="Text 22"/>
          <p:cNvSpPr/>
          <p:nvPr/>
        </p:nvSpPr>
        <p:spPr>
          <a:xfrm>
            <a:off x="8988552" y="2880360"/>
            <a:ext cx="201168" cy="548640"/>
          </a:xfrm>
          <a:prstGeom prst="rect">
            <a:avLst/>
          </a:prstGeom>
          <a:noFill/>
          <a:ln/>
        </p:spPr>
        <p:txBody>
          <a:bodyPr wrap="square" lIns="0" tIns="0" rIns="0" bIns="0" rtlCol="0" anchor="ctr"/>
          <a:lstStyle/>
          <a:p>
            <a:pPr algn="ctr" indent="0" marL="0">
              <a:buNone/>
            </a:pPr>
            <a:r>
              <a:rPr lang="en-US" sz="2200" b="1" dirty="0">
                <a:solidFill>
                  <a:srgbClr val="F2B705"/>
                </a:solidFill>
              </a:rPr>
              <a:t>&gt;</a:t>
            </a:r>
            <a:endParaRPr lang="en-US" sz="2200" dirty="0"/>
          </a:p>
        </p:txBody>
      </p:sp>
      <p:sp>
        <p:nvSpPr>
          <p:cNvPr id="28" name="Shape 23"/>
          <p:cNvSpPr/>
          <p:nvPr/>
        </p:nvSpPr>
        <p:spPr>
          <a:xfrm>
            <a:off x="9208008" y="2331720"/>
            <a:ext cx="2715768" cy="214884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9" name="Shape 24"/>
          <p:cNvSpPr/>
          <p:nvPr/>
        </p:nvSpPr>
        <p:spPr>
          <a:xfrm>
            <a:off x="9208008" y="2331720"/>
            <a:ext cx="2715768" cy="91440"/>
          </a:xfrm>
          <a:prstGeom prst="rect">
            <a:avLst/>
          </a:prstGeom>
          <a:solidFill>
            <a:srgbClr val="F2B705"/>
          </a:solidFill>
          <a:ln/>
        </p:spPr>
      </p:sp>
      <p:sp>
        <p:nvSpPr>
          <p:cNvPr id="30" name="Shape 25"/>
          <p:cNvSpPr/>
          <p:nvPr/>
        </p:nvSpPr>
        <p:spPr>
          <a:xfrm>
            <a:off x="10154412" y="2606040"/>
            <a:ext cx="822960" cy="82296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31" name="Image 3" descr="preencoded.png">    </p:cNvPr>
          <p:cNvPicPr>
            <a:picLocks noChangeAspect="1"/>
          </p:cNvPicPr>
          <p:nvPr/>
        </p:nvPicPr>
        <p:blipFill>
          <a:blip r:embed="rId4"/>
          <a:stretch>
            <a:fillRect/>
          </a:stretch>
        </p:blipFill>
        <p:spPr>
          <a:xfrm>
            <a:off x="10360152" y="2811780"/>
            <a:ext cx="411480" cy="411480"/>
          </a:xfrm>
          <a:prstGeom prst="rect">
            <a:avLst/>
          </a:prstGeom>
        </p:spPr>
      </p:pic>
      <p:sp>
        <p:nvSpPr>
          <p:cNvPr id="32" name="Text 26"/>
          <p:cNvSpPr/>
          <p:nvPr/>
        </p:nvSpPr>
        <p:spPr>
          <a:xfrm>
            <a:off x="9317736" y="3520440"/>
            <a:ext cx="2496312" cy="457200"/>
          </a:xfrm>
          <a:prstGeom prst="rect">
            <a:avLst/>
          </a:prstGeom>
          <a:noFill/>
          <a:ln/>
        </p:spPr>
        <p:txBody>
          <a:bodyPr wrap="square" lIns="0" tIns="0" rIns="0" bIns="0" rtlCol="0" anchor="t"/>
          <a:lstStyle/>
          <a:p>
            <a:pPr algn="ctr" indent="0" marL="0">
              <a:buNone/>
            </a:pPr>
            <a:r>
              <a:rPr lang="en-US" sz="1250" b="1" dirty="0">
                <a:solidFill>
                  <a:srgbClr val="0D3D78"/>
                </a:solidFill>
              </a:rPr>
              <a:t>Analysis &amp; Decisions</a:t>
            </a:r>
            <a:endParaRPr lang="en-US" sz="1250" dirty="0"/>
          </a:p>
        </p:txBody>
      </p:sp>
      <p:sp>
        <p:nvSpPr>
          <p:cNvPr id="33" name="Text 27"/>
          <p:cNvSpPr/>
          <p:nvPr/>
        </p:nvSpPr>
        <p:spPr>
          <a:xfrm>
            <a:off x="9345168" y="3959352"/>
            <a:ext cx="2441448" cy="502920"/>
          </a:xfrm>
          <a:prstGeom prst="rect">
            <a:avLst/>
          </a:prstGeom>
          <a:noFill/>
          <a:ln/>
        </p:spPr>
        <p:txBody>
          <a:bodyPr wrap="square" lIns="0" tIns="0" rIns="0" bIns="0" rtlCol="0" anchor="t"/>
          <a:lstStyle/>
          <a:p>
            <a:pPr algn="ctr" indent="0" marL="0">
              <a:lnSpc>
                <a:spcPct val="102000"/>
              </a:lnSpc>
              <a:buNone/>
            </a:pPr>
            <a:r>
              <a:rPr lang="en-US" sz="1000" dirty="0">
                <a:solidFill>
                  <a:srgbClr val="566779"/>
                </a:solidFill>
              </a:rPr>
              <a:t>Feeds mining, OLAP, research, and decision support.</a:t>
            </a:r>
            <a:endParaRPr lang="en-US" sz="1000" dirty="0"/>
          </a:p>
        </p:txBody>
      </p:sp>
      <p:sp>
        <p:nvSpPr>
          <p:cNvPr id="34" name="Shape 28"/>
          <p:cNvSpPr/>
          <p:nvPr/>
        </p:nvSpPr>
        <p:spPr>
          <a:xfrm>
            <a:off x="457200" y="4800600"/>
            <a:ext cx="11247120" cy="841248"/>
          </a:xfrm>
          <a:prstGeom prst="rect">
            <a:avLst/>
          </a:prstGeom>
          <a:solidFill>
            <a:srgbClr val="0E2A47"/>
          </a:solidFill>
          <a:ln/>
        </p:spPr>
      </p:sp>
      <p:sp>
        <p:nvSpPr>
          <p:cNvPr id="35" name="Text 29"/>
          <p:cNvSpPr/>
          <p:nvPr/>
        </p:nvSpPr>
        <p:spPr>
          <a:xfrm>
            <a:off x="731520" y="4800600"/>
            <a:ext cx="10789920" cy="841248"/>
          </a:xfrm>
          <a:prstGeom prst="rect">
            <a:avLst/>
          </a:prstGeom>
          <a:noFill/>
          <a:ln/>
        </p:spPr>
        <p:txBody>
          <a:bodyPr wrap="square" lIns="0" tIns="0" rIns="0" bIns="0" rtlCol="0" anchor="ctr"/>
          <a:lstStyle/>
          <a:p>
            <a:pPr indent="0" marL="0">
              <a:lnSpc>
                <a:spcPct val="104000"/>
              </a:lnSpc>
              <a:buNone/>
            </a:pPr>
            <a:r>
              <a:rPr lang="en-US" sz="1250" b="1" dirty="0">
                <a:solidFill>
                  <a:srgbClr val="F2B705"/>
                </a:solidFill>
              </a:rPr>
              <a:t>In practice:  </a:t>
            </a:r>
            <a:pPr indent="0" marL="0">
              <a:lnSpc>
                <a:spcPct val="104000"/>
              </a:lnSpc>
              <a:buNone/>
            </a:pPr>
            <a:r>
              <a:rPr lang="en-US" sz="1250" dirty="0">
                <a:solidFill>
                  <a:srgbClr val="CDE0F5"/>
                </a:solidFill>
              </a:rPr>
              <a:t>Applebee's analyzes daily sales to decide what to reorder and promote, and Travelocity mined 600,000 customer comments to monitor and respond to issues faster.</a:t>
            </a:r>
            <a:endParaRPr lang="en-US" sz="1250" dirty="0"/>
          </a:p>
        </p:txBody>
      </p:sp>
      <p:sp>
        <p:nvSpPr>
          <p:cNvPr id="36" name="Shape 30"/>
          <p:cNvSpPr/>
          <p:nvPr/>
        </p:nvSpPr>
        <p:spPr>
          <a:xfrm>
            <a:off x="0" y="6547104"/>
            <a:ext cx="12161520" cy="310896"/>
          </a:xfrm>
          <a:prstGeom prst="rect">
            <a:avLst/>
          </a:prstGeom>
          <a:solidFill>
            <a:srgbClr val="0E2A47"/>
          </a:solidFill>
          <a:ln/>
        </p:spPr>
      </p:sp>
      <p:sp>
        <p:nvSpPr>
          <p:cNvPr id="37" name="Text 31"/>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8" name="Text 32"/>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14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15</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Data Mining</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Turning warehoused data into insight</a:t>
            </a:r>
            <a:endParaRPr lang="en-US" sz="1250" dirty="0"/>
          </a:p>
        </p:txBody>
      </p:sp>
      <p:sp>
        <p:nvSpPr>
          <p:cNvPr id="6" name="Text 4"/>
          <p:cNvSpPr/>
          <p:nvPr/>
        </p:nvSpPr>
        <p:spPr>
          <a:xfrm>
            <a:off x="457200" y="1298448"/>
            <a:ext cx="11247120" cy="640080"/>
          </a:xfrm>
          <a:prstGeom prst="rect">
            <a:avLst/>
          </a:prstGeom>
          <a:noFill/>
          <a:ln/>
        </p:spPr>
        <p:txBody>
          <a:bodyPr wrap="square" lIns="0" tIns="0" rIns="0" bIns="0" rtlCol="0" anchor="t"/>
          <a:lstStyle/>
          <a:p>
            <a:pPr indent="0" marL="0">
              <a:lnSpc>
                <a:spcPct val="104000"/>
              </a:lnSpc>
              <a:buNone/>
            </a:pPr>
            <a:r>
              <a:rPr lang="en-US" sz="1450" dirty="0">
                <a:solidFill>
                  <a:srgbClr val="13283F"/>
                </a:solidFill>
              </a:rPr>
              <a:t>Data mining analyzes the large pools of data in a data warehouse to discover hidden patterns, trends, and relationships that support better business decisions.</a:t>
            </a:r>
            <a:endParaRPr lang="en-US" sz="1450" dirty="0"/>
          </a:p>
        </p:txBody>
      </p:sp>
      <p:sp>
        <p:nvSpPr>
          <p:cNvPr id="7" name="Shape 5"/>
          <p:cNvSpPr/>
          <p:nvPr/>
        </p:nvSpPr>
        <p:spPr>
          <a:xfrm>
            <a:off x="457200" y="2148840"/>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148840"/>
            <a:ext cx="82296" cy="1627632"/>
          </a:xfrm>
          <a:prstGeom prst="rect">
            <a:avLst/>
          </a:prstGeom>
          <a:solidFill>
            <a:srgbClr val="F2B705"/>
          </a:solidFill>
          <a:ln/>
        </p:spPr>
      </p:sp>
      <p:sp>
        <p:nvSpPr>
          <p:cNvPr id="9" name="Shape 7"/>
          <p:cNvSpPr/>
          <p:nvPr/>
        </p:nvSpPr>
        <p:spPr>
          <a:xfrm>
            <a:off x="713232" y="251460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930402" y="2731770"/>
            <a:ext cx="434340" cy="434340"/>
          </a:xfrm>
          <a:prstGeom prst="rect">
            <a:avLst/>
          </a:prstGeom>
        </p:spPr>
      </p:pic>
      <p:sp>
        <p:nvSpPr>
          <p:cNvPr id="11" name="Text 8"/>
          <p:cNvSpPr/>
          <p:nvPr/>
        </p:nvSpPr>
        <p:spPr>
          <a:xfrm>
            <a:off x="1737360" y="2386584"/>
            <a:ext cx="3977640" cy="411480"/>
          </a:xfrm>
          <a:prstGeom prst="rect">
            <a:avLst/>
          </a:prstGeom>
          <a:noFill/>
          <a:ln/>
        </p:spPr>
        <p:txBody>
          <a:bodyPr wrap="square" lIns="0" tIns="0" rIns="0" bIns="0" rtlCol="0" anchor="ctr"/>
          <a:lstStyle/>
          <a:p>
            <a:pPr indent="0" marL="0">
              <a:buNone/>
            </a:pPr>
            <a:r>
              <a:rPr lang="en-US" sz="1550" b="1" dirty="0">
                <a:solidFill>
                  <a:srgbClr val="0D3D78"/>
                </a:solidFill>
              </a:rPr>
              <a:t>Find patterns</a:t>
            </a:r>
            <a:endParaRPr lang="en-US" sz="1550" dirty="0"/>
          </a:p>
        </p:txBody>
      </p:sp>
      <p:sp>
        <p:nvSpPr>
          <p:cNvPr id="12" name="Text 9"/>
          <p:cNvSpPr/>
          <p:nvPr/>
        </p:nvSpPr>
        <p:spPr>
          <a:xfrm>
            <a:off x="1737360" y="2825496"/>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Reveals correlations and trends humans would miss in raw data.</a:t>
            </a:r>
            <a:endParaRPr lang="en-US" sz="1200" dirty="0"/>
          </a:p>
        </p:txBody>
      </p:sp>
      <p:sp>
        <p:nvSpPr>
          <p:cNvPr id="13" name="Shape 10"/>
          <p:cNvSpPr/>
          <p:nvPr/>
        </p:nvSpPr>
        <p:spPr>
          <a:xfrm>
            <a:off x="6217920" y="2148840"/>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6217920" y="2148840"/>
            <a:ext cx="82296" cy="1627632"/>
          </a:xfrm>
          <a:prstGeom prst="rect">
            <a:avLst/>
          </a:prstGeom>
          <a:solidFill>
            <a:srgbClr val="F2B705"/>
          </a:solidFill>
          <a:ln/>
        </p:spPr>
      </p:sp>
      <p:sp>
        <p:nvSpPr>
          <p:cNvPr id="15" name="Shape 12"/>
          <p:cNvSpPr/>
          <p:nvPr/>
        </p:nvSpPr>
        <p:spPr>
          <a:xfrm>
            <a:off x="6473952" y="2514600"/>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6691122" y="2731770"/>
            <a:ext cx="434340" cy="434340"/>
          </a:xfrm>
          <a:prstGeom prst="rect">
            <a:avLst/>
          </a:prstGeom>
        </p:spPr>
      </p:pic>
      <p:sp>
        <p:nvSpPr>
          <p:cNvPr id="17" name="Text 13"/>
          <p:cNvSpPr/>
          <p:nvPr/>
        </p:nvSpPr>
        <p:spPr>
          <a:xfrm>
            <a:off x="7498080" y="2386584"/>
            <a:ext cx="3977640" cy="411480"/>
          </a:xfrm>
          <a:prstGeom prst="rect">
            <a:avLst/>
          </a:prstGeom>
          <a:noFill/>
          <a:ln/>
        </p:spPr>
        <p:txBody>
          <a:bodyPr wrap="square" lIns="0" tIns="0" rIns="0" bIns="0" rtlCol="0" anchor="ctr"/>
          <a:lstStyle/>
          <a:p>
            <a:pPr indent="0" marL="0">
              <a:buNone/>
            </a:pPr>
            <a:r>
              <a:rPr lang="en-US" sz="1550" b="1" dirty="0">
                <a:solidFill>
                  <a:srgbClr val="0D3D78"/>
                </a:solidFill>
              </a:rPr>
              <a:t>Market-basket analysis</a:t>
            </a:r>
            <a:endParaRPr lang="en-US" sz="1550" dirty="0"/>
          </a:p>
        </p:txBody>
      </p:sp>
      <p:sp>
        <p:nvSpPr>
          <p:cNvPr id="18" name="Text 14"/>
          <p:cNvSpPr/>
          <p:nvPr/>
        </p:nvSpPr>
        <p:spPr>
          <a:xfrm>
            <a:off x="7498080" y="2825496"/>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Shows which products customers tend to buy together.</a:t>
            </a:r>
            <a:endParaRPr lang="en-US" sz="1200" dirty="0"/>
          </a:p>
        </p:txBody>
      </p:sp>
      <p:sp>
        <p:nvSpPr>
          <p:cNvPr id="19" name="Shape 15"/>
          <p:cNvSpPr/>
          <p:nvPr/>
        </p:nvSpPr>
        <p:spPr>
          <a:xfrm>
            <a:off x="457200" y="4050792"/>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0" name="Shape 16"/>
          <p:cNvSpPr/>
          <p:nvPr/>
        </p:nvSpPr>
        <p:spPr>
          <a:xfrm>
            <a:off x="457200" y="4050792"/>
            <a:ext cx="82296" cy="1627632"/>
          </a:xfrm>
          <a:prstGeom prst="rect">
            <a:avLst/>
          </a:prstGeom>
          <a:solidFill>
            <a:srgbClr val="F2B705"/>
          </a:solidFill>
          <a:ln/>
        </p:spPr>
      </p:sp>
      <p:sp>
        <p:nvSpPr>
          <p:cNvPr id="21" name="Shape 17"/>
          <p:cNvSpPr/>
          <p:nvPr/>
        </p:nvSpPr>
        <p:spPr>
          <a:xfrm>
            <a:off x="713232" y="4416552"/>
            <a:ext cx="868680" cy="8686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930402" y="4633722"/>
            <a:ext cx="434340" cy="434340"/>
          </a:xfrm>
          <a:prstGeom prst="rect">
            <a:avLst/>
          </a:prstGeom>
        </p:spPr>
      </p:pic>
      <p:sp>
        <p:nvSpPr>
          <p:cNvPr id="23" name="Text 18"/>
          <p:cNvSpPr/>
          <p:nvPr/>
        </p:nvSpPr>
        <p:spPr>
          <a:xfrm>
            <a:off x="1737360" y="4288536"/>
            <a:ext cx="3977640" cy="411480"/>
          </a:xfrm>
          <a:prstGeom prst="rect">
            <a:avLst/>
          </a:prstGeom>
          <a:noFill/>
          <a:ln/>
        </p:spPr>
        <p:txBody>
          <a:bodyPr wrap="square" lIns="0" tIns="0" rIns="0" bIns="0" rtlCol="0" anchor="ctr"/>
          <a:lstStyle/>
          <a:p>
            <a:pPr indent="0" marL="0">
              <a:buNone/>
            </a:pPr>
            <a:r>
              <a:rPr lang="en-US" sz="1550" b="1" dirty="0">
                <a:solidFill>
                  <a:srgbClr val="0D3D78"/>
                </a:solidFill>
              </a:rPr>
              <a:t>Segment &amp; target</a:t>
            </a:r>
            <a:endParaRPr lang="en-US" sz="1550" dirty="0"/>
          </a:p>
        </p:txBody>
      </p:sp>
      <p:sp>
        <p:nvSpPr>
          <p:cNvPr id="24" name="Text 19"/>
          <p:cNvSpPr/>
          <p:nvPr/>
        </p:nvSpPr>
        <p:spPr>
          <a:xfrm>
            <a:off x="1737360" y="4727448"/>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Groups customers to personalize offers and marketing.</a:t>
            </a:r>
            <a:endParaRPr lang="en-US" sz="1200" dirty="0"/>
          </a:p>
        </p:txBody>
      </p:sp>
      <p:sp>
        <p:nvSpPr>
          <p:cNvPr id="25" name="Shape 20"/>
          <p:cNvSpPr/>
          <p:nvPr/>
        </p:nvSpPr>
        <p:spPr>
          <a:xfrm>
            <a:off x="6217920" y="4050792"/>
            <a:ext cx="5440680" cy="16276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6" name="Shape 21"/>
          <p:cNvSpPr/>
          <p:nvPr/>
        </p:nvSpPr>
        <p:spPr>
          <a:xfrm>
            <a:off x="6217920" y="4050792"/>
            <a:ext cx="82296" cy="1627632"/>
          </a:xfrm>
          <a:prstGeom prst="rect">
            <a:avLst/>
          </a:prstGeom>
          <a:solidFill>
            <a:srgbClr val="C9852B"/>
          </a:solidFill>
          <a:ln/>
        </p:spPr>
      </p:sp>
      <p:sp>
        <p:nvSpPr>
          <p:cNvPr id="27" name="Shape 22"/>
          <p:cNvSpPr/>
          <p:nvPr/>
        </p:nvSpPr>
        <p:spPr>
          <a:xfrm>
            <a:off x="6473952" y="4416552"/>
            <a:ext cx="868680" cy="868680"/>
          </a:xfrm>
          <a:prstGeom prst="ellipse">
            <a:avLst/>
          </a:prstGeom>
          <a:solidFill>
            <a:srgbClr val="C9852B"/>
          </a:solidFill>
          <a:ln/>
          <a:effectLst>
            <a:outerShdw sx="100000" sy="100000" kx="0" ky="0" algn="bl" rotWithShape="0" blurRad="88900" dist="38100" dir="8100000">
              <a:srgbClr val="000000">
                <a:alpha val="12000"/>
              </a:srgbClr>
            </a:outerShdw>
          </a:effectLst>
        </p:spPr>
      </p:sp>
      <p:pic>
        <p:nvPicPr>
          <p:cNvPr id="28" name="Image 3" descr="preencoded.png">    </p:cNvPr>
          <p:cNvPicPr>
            <a:picLocks noChangeAspect="1"/>
          </p:cNvPicPr>
          <p:nvPr/>
        </p:nvPicPr>
        <p:blipFill>
          <a:blip r:embed="rId4"/>
          <a:stretch>
            <a:fillRect/>
          </a:stretch>
        </p:blipFill>
        <p:spPr>
          <a:xfrm>
            <a:off x="6691122" y="4633722"/>
            <a:ext cx="434340" cy="434340"/>
          </a:xfrm>
          <a:prstGeom prst="rect">
            <a:avLst/>
          </a:prstGeom>
        </p:spPr>
      </p:pic>
      <p:sp>
        <p:nvSpPr>
          <p:cNvPr id="29" name="Text 23"/>
          <p:cNvSpPr/>
          <p:nvPr/>
        </p:nvSpPr>
        <p:spPr>
          <a:xfrm>
            <a:off x="7498080" y="4288536"/>
            <a:ext cx="3977640" cy="411480"/>
          </a:xfrm>
          <a:prstGeom prst="rect">
            <a:avLst/>
          </a:prstGeom>
          <a:noFill/>
          <a:ln/>
        </p:spPr>
        <p:txBody>
          <a:bodyPr wrap="square" lIns="0" tIns="0" rIns="0" bIns="0" rtlCol="0" anchor="ctr"/>
          <a:lstStyle/>
          <a:p>
            <a:pPr indent="0" marL="0">
              <a:buNone/>
            </a:pPr>
            <a:r>
              <a:rPr lang="en-US" sz="1550" b="1" dirty="0">
                <a:solidFill>
                  <a:srgbClr val="0D3D78"/>
                </a:solidFill>
              </a:rPr>
              <a:t>A caution</a:t>
            </a:r>
            <a:endParaRPr lang="en-US" sz="1550" dirty="0"/>
          </a:p>
        </p:txBody>
      </p:sp>
      <p:sp>
        <p:nvSpPr>
          <p:cNvPr id="30" name="Text 24"/>
          <p:cNvSpPr/>
          <p:nvPr/>
        </p:nvSpPr>
        <p:spPr>
          <a:xfrm>
            <a:off x="7498080" y="4727448"/>
            <a:ext cx="3977640" cy="822960"/>
          </a:xfrm>
          <a:prstGeom prst="rect">
            <a:avLst/>
          </a:prstGeom>
          <a:noFill/>
          <a:ln/>
        </p:spPr>
        <p:txBody>
          <a:bodyPr wrap="square" lIns="0" tIns="0" rIns="0" bIns="0" rtlCol="0" anchor="t"/>
          <a:lstStyle/>
          <a:p>
            <a:pPr indent="0" marL="0">
              <a:lnSpc>
                <a:spcPct val="102000"/>
              </a:lnSpc>
              <a:buNone/>
            </a:pPr>
            <a:r>
              <a:rPr lang="en-US" sz="1200" dirty="0">
                <a:solidFill>
                  <a:srgbClr val="566779"/>
                </a:solidFill>
              </a:rPr>
              <a:t>Past-data focus can constrain thinking; pair it with fresh ideas.</a:t>
            </a:r>
            <a:endParaRPr lang="en-US" sz="1200" dirty="0"/>
          </a:p>
        </p:txBody>
      </p:sp>
      <p:sp>
        <p:nvSpPr>
          <p:cNvPr id="31" name="Shape 25"/>
          <p:cNvSpPr/>
          <p:nvPr/>
        </p:nvSpPr>
        <p:spPr>
          <a:xfrm>
            <a:off x="0" y="6547104"/>
            <a:ext cx="12161520" cy="310896"/>
          </a:xfrm>
          <a:prstGeom prst="rect">
            <a:avLst/>
          </a:prstGeom>
          <a:solidFill>
            <a:srgbClr val="0E2A47"/>
          </a:solidFill>
          <a:ln/>
        </p:spPr>
      </p:sp>
      <p:sp>
        <p:nvSpPr>
          <p:cNvPr id="32" name="Text 26"/>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3" name="Text 27"/>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15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16</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Database Interrogation</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How end users ask the database questions</a:t>
            </a:r>
            <a:endParaRPr lang="en-US" sz="1250" dirty="0"/>
          </a:p>
        </p:txBody>
      </p:sp>
      <p:sp>
        <p:nvSpPr>
          <p:cNvPr id="6" name="Shape 4"/>
          <p:cNvSpPr/>
          <p:nvPr/>
        </p:nvSpPr>
        <p:spPr>
          <a:xfrm>
            <a:off x="457200" y="1783080"/>
            <a:ext cx="5532120" cy="39319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5532120" cy="603504"/>
          </a:xfrm>
          <a:prstGeom prst="rect">
            <a:avLst/>
          </a:prstGeom>
          <a:solidFill>
            <a:srgbClr val="1565C0"/>
          </a:solidFill>
          <a:ln/>
        </p:spPr>
      </p:sp>
      <p:sp>
        <p:nvSpPr>
          <p:cNvPr id="8" name="Shape 6"/>
          <p:cNvSpPr/>
          <p:nvPr/>
        </p:nvSpPr>
        <p:spPr>
          <a:xfrm>
            <a:off x="621792" y="190195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704088" y="1984248"/>
            <a:ext cx="201168" cy="201168"/>
          </a:xfrm>
          <a:prstGeom prst="rect">
            <a:avLst/>
          </a:prstGeom>
        </p:spPr>
      </p:pic>
      <p:sp>
        <p:nvSpPr>
          <p:cNvPr id="10" name="Text 7"/>
          <p:cNvSpPr/>
          <p:nvPr/>
        </p:nvSpPr>
        <p:spPr>
          <a:xfrm>
            <a:off x="1060704" y="1783080"/>
            <a:ext cx="4846320" cy="603504"/>
          </a:xfrm>
          <a:prstGeom prst="rect">
            <a:avLst/>
          </a:prstGeom>
          <a:noFill/>
          <a:ln/>
        </p:spPr>
        <p:txBody>
          <a:bodyPr wrap="square" lIns="0" tIns="0" rIns="0" bIns="0" rtlCol="0" anchor="ctr"/>
          <a:lstStyle/>
          <a:p>
            <a:pPr indent="0" marL="0">
              <a:buNone/>
            </a:pPr>
            <a:r>
              <a:rPr lang="en-US" sz="1500" b="1" dirty="0">
                <a:solidFill>
                  <a:srgbClr val="FFFFFF"/>
                </a:solidFill>
              </a:rPr>
              <a:t>SQL - Structured Query Language</a:t>
            </a:r>
            <a:endParaRPr lang="en-US" sz="1500" dirty="0"/>
          </a:p>
        </p:txBody>
      </p:sp>
      <p:sp>
        <p:nvSpPr>
          <p:cNvPr id="11" name="Text 8"/>
          <p:cNvSpPr/>
          <p:nvPr/>
        </p:nvSpPr>
        <p:spPr>
          <a:xfrm>
            <a:off x="713232" y="2505456"/>
            <a:ext cx="5029200" cy="457200"/>
          </a:xfrm>
          <a:prstGeom prst="rect">
            <a:avLst/>
          </a:prstGeom>
          <a:noFill/>
          <a:ln/>
        </p:spPr>
        <p:txBody>
          <a:bodyPr wrap="square" lIns="0" tIns="0" rIns="0" bIns="0" rtlCol="0" anchor="ctr"/>
          <a:lstStyle/>
          <a:p>
            <a:pPr indent="0" marL="0">
              <a:buNone/>
            </a:pPr>
            <a:r>
              <a:rPr lang="en-US" sz="1150" i="1" dirty="0">
                <a:solidFill>
                  <a:srgbClr val="566779"/>
                </a:solidFill>
              </a:rPr>
              <a:t>The international standard query language built into most DBMS packages.</a:t>
            </a:r>
            <a:endParaRPr lang="en-US" sz="1150" dirty="0"/>
          </a:p>
        </p:txBody>
      </p:sp>
      <p:sp>
        <p:nvSpPr>
          <p:cNvPr id="12" name="Shape 9"/>
          <p:cNvSpPr/>
          <p:nvPr/>
        </p:nvSpPr>
        <p:spPr>
          <a:xfrm>
            <a:off x="713232" y="3017520"/>
            <a:ext cx="5029200" cy="1280160"/>
          </a:xfrm>
          <a:prstGeom prst="rect">
            <a:avLst/>
          </a:prstGeom>
          <a:solidFill>
            <a:srgbClr val="0E2A47"/>
          </a:solidFill>
          <a:ln w="12700">
            <a:solidFill>
              <a:srgbClr val="1565C0"/>
            </a:solidFill>
            <a:prstDash val="solid"/>
          </a:ln>
        </p:spPr>
      </p:sp>
      <p:sp>
        <p:nvSpPr>
          <p:cNvPr id="13" name="Text 10"/>
          <p:cNvSpPr/>
          <p:nvPr/>
        </p:nvSpPr>
        <p:spPr>
          <a:xfrm>
            <a:off x="868680" y="3127248"/>
            <a:ext cx="4754880" cy="1097280"/>
          </a:xfrm>
          <a:prstGeom prst="rect">
            <a:avLst/>
          </a:prstGeom>
          <a:noFill/>
          <a:ln/>
        </p:spPr>
        <p:txBody>
          <a:bodyPr wrap="square" lIns="0" tIns="0" rIns="0" bIns="0" rtlCol="0" anchor="t"/>
          <a:lstStyle/>
          <a:p>
            <a:pPr indent="0" marL="0">
              <a:lnSpc>
                <a:spcPct val="115000"/>
              </a:lnSpc>
              <a:buNone/>
            </a:pPr>
            <a:r>
              <a:rPr lang="en-US" sz="1400" b="1" dirty="0">
                <a:solidFill>
                  <a:srgbClr val="F8D374"/>
                </a:solidFill>
                <a:latin typeface="Courier New" pitchFamily="34" charset="0"/>
                <a:ea typeface="Courier New" pitchFamily="34" charset="-122"/>
                <a:cs typeface="Courier New" pitchFamily="34" charset="-120"/>
              </a:rPr>
              <a:t>SELECT</a:t>
            </a:r>
            <a:pPr indent="0" marL="0">
              <a:lnSpc>
                <a:spcPct val="115000"/>
              </a:lnSpc>
              <a:buNone/>
            </a:pPr>
            <a:r>
              <a:rPr lang="en-US" sz="1400" dirty="0">
                <a:solidFill>
                  <a:srgbClr val="FFFFFF"/>
                </a:solidFill>
                <a:latin typeface="Courier New" pitchFamily="34" charset="0"/>
                <a:ea typeface="Courier New" pitchFamily="34" charset="-122"/>
                <a:cs typeface="Courier New" pitchFamily="34" charset="-120"/>
              </a:rPr>
              <a:t>  name, salary
</a:t>
            </a:r>
            <a:pPr indent="0" marL="0">
              <a:lnSpc>
                <a:spcPct val="115000"/>
              </a:lnSpc>
              <a:buNone/>
            </a:pPr>
            <a:r>
              <a:rPr lang="en-US" sz="1400" b="1" dirty="0">
                <a:solidFill>
                  <a:srgbClr val="F8D374"/>
                </a:solidFill>
                <a:latin typeface="Courier New" pitchFamily="34" charset="0"/>
                <a:ea typeface="Courier New" pitchFamily="34" charset="-122"/>
                <a:cs typeface="Courier New" pitchFamily="34" charset="-120"/>
              </a:rPr>
              <a:t>FROM</a:t>
            </a:r>
            <a:pPr indent="0" marL="0">
              <a:lnSpc>
                <a:spcPct val="115000"/>
              </a:lnSpc>
              <a:buNone/>
            </a:pPr>
            <a:r>
              <a:rPr lang="en-US" sz="1400" dirty="0">
                <a:solidFill>
                  <a:srgbClr val="FFFFFF"/>
                </a:solidFill>
                <a:latin typeface="Courier New" pitchFamily="34" charset="0"/>
                <a:ea typeface="Courier New" pitchFamily="34" charset="-122"/>
                <a:cs typeface="Courier New" pitchFamily="34" charset="-120"/>
              </a:rPr>
              <a:t>    employees
</a:t>
            </a:r>
            <a:pPr indent="0" marL="0">
              <a:lnSpc>
                <a:spcPct val="115000"/>
              </a:lnSpc>
              <a:buNone/>
            </a:pPr>
            <a:r>
              <a:rPr lang="en-US" sz="1400" b="1" dirty="0">
                <a:solidFill>
                  <a:srgbClr val="F8D374"/>
                </a:solidFill>
                <a:latin typeface="Courier New" pitchFamily="34" charset="0"/>
                <a:ea typeface="Courier New" pitchFamily="34" charset="-122"/>
                <a:cs typeface="Courier New" pitchFamily="34" charset="-120"/>
              </a:rPr>
              <a:t>WHERE</a:t>
            </a:r>
            <a:pPr indent="0" marL="0">
              <a:lnSpc>
                <a:spcPct val="115000"/>
              </a:lnSpc>
              <a:buNone/>
            </a:pPr>
            <a:r>
              <a:rPr lang="en-US" sz="1400" dirty="0">
                <a:solidFill>
                  <a:srgbClr val="FFFFFF"/>
                </a:solidFill>
                <a:latin typeface="Courier New" pitchFamily="34" charset="0"/>
                <a:ea typeface="Courier New" pitchFamily="34" charset="-122"/>
                <a:cs typeface="Courier New" pitchFamily="34" charset="-120"/>
              </a:rPr>
              <a:t>   dept = 'Sales';</a:t>
            </a:r>
            <a:endParaRPr lang="en-US" sz="1400" dirty="0"/>
          </a:p>
        </p:txBody>
      </p:sp>
      <p:sp>
        <p:nvSpPr>
          <p:cNvPr id="14" name="Text 11"/>
          <p:cNvSpPr/>
          <p:nvPr/>
        </p:nvSpPr>
        <p:spPr>
          <a:xfrm>
            <a:off x="713232" y="4434840"/>
            <a:ext cx="5029200" cy="365760"/>
          </a:xfrm>
          <a:prstGeom prst="rect">
            <a:avLst/>
          </a:prstGeom>
          <a:noFill/>
          <a:ln/>
        </p:spPr>
        <p:txBody>
          <a:bodyPr wrap="square" lIns="0" tIns="0" rIns="0" bIns="0" rtlCol="0" anchor="ctr"/>
          <a:lstStyle/>
          <a:p>
            <a:pPr indent="0" marL="0">
              <a:buNone/>
            </a:pPr>
            <a:r>
              <a:rPr lang="en-US" sz="1100" dirty="0">
                <a:solidFill>
                  <a:srgbClr val="13283F"/>
                </a:solidFill>
              </a:rPr>
              <a:t>Query form:  SELECT (fields) ... FROM (tables) ... WHERE (conditions).</a:t>
            </a:r>
            <a:endParaRPr lang="en-US" sz="1100" dirty="0"/>
          </a:p>
        </p:txBody>
      </p:sp>
      <p:sp>
        <p:nvSpPr>
          <p:cNvPr id="15" name="Text 12"/>
          <p:cNvSpPr/>
          <p:nvPr/>
        </p:nvSpPr>
        <p:spPr>
          <a:xfrm>
            <a:off x="713232" y="4846320"/>
            <a:ext cx="5029200" cy="731520"/>
          </a:xfrm>
          <a:prstGeom prst="rect">
            <a:avLst/>
          </a:prstGeom>
          <a:noFill/>
          <a:ln/>
        </p:spPr>
        <p:txBody>
          <a:bodyPr wrap="square" lIns="0" tIns="0" rIns="0" bIns="0" rtlCol="0" anchor="t"/>
          <a:lstStyle/>
          <a:p>
            <a:pPr indent="0" marL="0">
              <a:lnSpc>
                <a:spcPct val="103000"/>
              </a:lnSpc>
              <a:buNone/>
            </a:pPr>
            <a:r>
              <a:rPr lang="en-US" sz="1150" dirty="0">
                <a:solidFill>
                  <a:srgbClr val="566779"/>
                </a:solidFill>
              </a:rPr>
              <a:t>Report generators let users format results as reports with no programming.</a:t>
            </a:r>
            <a:endParaRPr lang="en-US" sz="1150" dirty="0"/>
          </a:p>
        </p:txBody>
      </p:sp>
      <p:sp>
        <p:nvSpPr>
          <p:cNvPr id="16" name="Shape 13"/>
          <p:cNvSpPr/>
          <p:nvPr/>
        </p:nvSpPr>
        <p:spPr>
          <a:xfrm>
            <a:off x="6355080" y="1783080"/>
            <a:ext cx="5532120" cy="1874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7" name="Shape 14"/>
          <p:cNvSpPr/>
          <p:nvPr/>
        </p:nvSpPr>
        <p:spPr>
          <a:xfrm>
            <a:off x="6355080" y="1783080"/>
            <a:ext cx="82296" cy="1874520"/>
          </a:xfrm>
          <a:prstGeom prst="rect">
            <a:avLst/>
          </a:prstGeom>
          <a:solidFill>
            <a:srgbClr val="F2B705"/>
          </a:solidFill>
          <a:ln/>
        </p:spPr>
      </p:sp>
      <p:sp>
        <p:nvSpPr>
          <p:cNvPr id="18" name="Shape 15"/>
          <p:cNvSpPr/>
          <p:nvPr/>
        </p:nvSpPr>
        <p:spPr>
          <a:xfrm>
            <a:off x="6583680" y="2011680"/>
            <a:ext cx="640080" cy="6400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6743700" y="2171700"/>
            <a:ext cx="320040" cy="320040"/>
          </a:xfrm>
          <a:prstGeom prst="rect">
            <a:avLst/>
          </a:prstGeom>
        </p:spPr>
      </p:pic>
      <p:sp>
        <p:nvSpPr>
          <p:cNvPr id="20" name="Text 16"/>
          <p:cNvSpPr/>
          <p:nvPr/>
        </p:nvSpPr>
        <p:spPr>
          <a:xfrm>
            <a:off x="7406640" y="1938528"/>
            <a:ext cx="4297680" cy="365760"/>
          </a:xfrm>
          <a:prstGeom prst="rect">
            <a:avLst/>
          </a:prstGeom>
          <a:noFill/>
          <a:ln/>
        </p:spPr>
        <p:txBody>
          <a:bodyPr wrap="square" lIns="0" tIns="0" rIns="0" bIns="0" rtlCol="0" anchor="ctr"/>
          <a:lstStyle/>
          <a:p>
            <a:pPr indent="0" marL="0">
              <a:buNone/>
            </a:pPr>
            <a:r>
              <a:rPr lang="en-US" sz="1500" b="1" dirty="0">
                <a:solidFill>
                  <a:srgbClr val="0D3D78"/>
                </a:solidFill>
              </a:rPr>
              <a:t>Boolean Logic</a:t>
            </a:r>
            <a:endParaRPr lang="en-US" sz="1500" dirty="0"/>
          </a:p>
        </p:txBody>
      </p:sp>
      <p:sp>
        <p:nvSpPr>
          <p:cNvPr id="21" name="Text 17"/>
          <p:cNvSpPr/>
          <p:nvPr/>
        </p:nvSpPr>
        <p:spPr>
          <a:xfrm>
            <a:off x="7406640" y="2286000"/>
            <a:ext cx="4206240" cy="640080"/>
          </a:xfrm>
          <a:prstGeom prst="rect">
            <a:avLst/>
          </a:prstGeom>
          <a:noFill/>
          <a:ln/>
        </p:spPr>
        <p:txBody>
          <a:bodyPr wrap="square" lIns="0" tIns="0" rIns="0" bIns="0" rtlCol="0" anchor="t"/>
          <a:lstStyle/>
          <a:p>
            <a:pPr indent="0" marL="0">
              <a:lnSpc>
                <a:spcPct val="103000"/>
              </a:lnSpc>
              <a:buNone/>
            </a:pPr>
            <a:r>
              <a:rPr lang="en-US" sz="1150" dirty="0">
                <a:solidFill>
                  <a:srgbClr val="566779"/>
                </a:solidFill>
              </a:rPr>
              <a:t>Three operators - AND, OR, NOT - refine a search to exactly the data you want.</a:t>
            </a:r>
            <a:endParaRPr lang="en-US" sz="1150" dirty="0"/>
          </a:p>
        </p:txBody>
      </p:sp>
      <p:sp>
        <p:nvSpPr>
          <p:cNvPr id="22" name="Text 18"/>
          <p:cNvSpPr/>
          <p:nvPr/>
        </p:nvSpPr>
        <p:spPr>
          <a:xfrm>
            <a:off x="6583680" y="3072384"/>
            <a:ext cx="5120640" cy="457200"/>
          </a:xfrm>
          <a:prstGeom prst="rect">
            <a:avLst/>
          </a:prstGeom>
          <a:noFill/>
          <a:ln/>
        </p:spPr>
        <p:txBody>
          <a:bodyPr wrap="square" lIns="0" tIns="0" rIns="0" bIns="0" rtlCol="0" anchor="ctr"/>
          <a:lstStyle/>
          <a:p>
            <a:pPr algn="ctr" indent="0" marL="0">
              <a:buNone/>
            </a:pPr>
            <a:r>
              <a:rPr lang="en-US" sz="1150" b="1" i="1" dirty="0">
                <a:solidFill>
                  <a:srgbClr val="13283F"/>
                </a:solidFill>
              </a:rPr>
              <a:t>Example:  cats OR felines AND NOT dogs</a:t>
            </a:r>
            <a:endParaRPr lang="en-US" sz="1150" dirty="0"/>
          </a:p>
        </p:txBody>
      </p:sp>
      <p:sp>
        <p:nvSpPr>
          <p:cNvPr id="23" name="Shape 19"/>
          <p:cNvSpPr/>
          <p:nvPr/>
        </p:nvSpPr>
        <p:spPr>
          <a:xfrm>
            <a:off x="6355080" y="3840480"/>
            <a:ext cx="5532120" cy="187452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4" name="Shape 20"/>
          <p:cNvSpPr/>
          <p:nvPr/>
        </p:nvSpPr>
        <p:spPr>
          <a:xfrm>
            <a:off x="6355080" y="3840480"/>
            <a:ext cx="82296" cy="1874520"/>
          </a:xfrm>
          <a:prstGeom prst="rect">
            <a:avLst/>
          </a:prstGeom>
          <a:solidFill>
            <a:srgbClr val="F2B705"/>
          </a:solidFill>
          <a:ln/>
        </p:spPr>
      </p:sp>
      <p:sp>
        <p:nvSpPr>
          <p:cNvPr id="25" name="Shape 21"/>
          <p:cNvSpPr/>
          <p:nvPr/>
        </p:nvSpPr>
        <p:spPr>
          <a:xfrm>
            <a:off x="6583680" y="4114800"/>
            <a:ext cx="640080" cy="64008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6" name="Image 2" descr="preencoded.png">    </p:cNvPr>
          <p:cNvPicPr>
            <a:picLocks noChangeAspect="1"/>
          </p:cNvPicPr>
          <p:nvPr/>
        </p:nvPicPr>
        <p:blipFill>
          <a:blip r:embed="rId3"/>
          <a:stretch>
            <a:fillRect/>
          </a:stretch>
        </p:blipFill>
        <p:spPr>
          <a:xfrm>
            <a:off x="6743700" y="4274820"/>
            <a:ext cx="320040" cy="320040"/>
          </a:xfrm>
          <a:prstGeom prst="rect">
            <a:avLst/>
          </a:prstGeom>
        </p:spPr>
      </p:pic>
      <p:sp>
        <p:nvSpPr>
          <p:cNvPr id="27" name="Text 22"/>
          <p:cNvSpPr/>
          <p:nvPr/>
        </p:nvSpPr>
        <p:spPr>
          <a:xfrm>
            <a:off x="7406640" y="4041648"/>
            <a:ext cx="4297680" cy="365760"/>
          </a:xfrm>
          <a:prstGeom prst="rect">
            <a:avLst/>
          </a:prstGeom>
          <a:noFill/>
          <a:ln/>
        </p:spPr>
        <p:txBody>
          <a:bodyPr wrap="square" lIns="0" tIns="0" rIns="0" bIns="0" rtlCol="0" anchor="ctr"/>
          <a:lstStyle/>
          <a:p>
            <a:pPr indent="0" marL="0">
              <a:buNone/>
            </a:pPr>
            <a:r>
              <a:rPr lang="en-US" sz="1500" b="1" dirty="0">
                <a:solidFill>
                  <a:srgbClr val="0D3D78"/>
                </a:solidFill>
              </a:rPr>
              <a:t>Graphical &amp; Natural Queries</a:t>
            </a:r>
            <a:endParaRPr lang="en-US" sz="1500" dirty="0"/>
          </a:p>
        </p:txBody>
      </p:sp>
      <p:sp>
        <p:nvSpPr>
          <p:cNvPr id="28" name="Text 23"/>
          <p:cNvSpPr/>
          <p:nvPr/>
        </p:nvSpPr>
        <p:spPr>
          <a:xfrm>
            <a:off x="7406640" y="4407408"/>
            <a:ext cx="4206240" cy="11887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3283F"/>
                </a:solidFill>
              </a:rPr>
              <a:t>Point-and-click tools translate clicks into SQL</a:t>
            </a:r>
            <a:endParaRPr lang="en-US" sz="1150" dirty="0"/>
          </a:p>
          <a:p>
            <a:pPr marL="152400" indent="-152400">
              <a:spcAft>
                <a:spcPts val="500"/>
              </a:spcAft>
              <a:buSzPct val="100000"/>
              <a:buChar char="•"/>
            </a:pPr>
            <a:r>
              <a:rPr lang="en-US" sz="1150" dirty="0">
                <a:solidFill>
                  <a:srgbClr val="13283F"/>
                </a:solidFill>
              </a:rPr>
              <a:t>Natural-language queries read like conversational English</a:t>
            </a:r>
            <a:endParaRPr lang="en-US" sz="1150" dirty="0"/>
          </a:p>
          <a:p>
            <a:pPr marL="152400" indent="-152400">
              <a:spcAft>
                <a:spcPts val="500"/>
              </a:spcAft>
              <a:buSzPct val="100000"/>
              <a:buChar char="•"/>
            </a:pPr>
            <a:r>
              <a:rPr lang="en-US" sz="1150" dirty="0">
                <a:solidFill>
                  <a:srgbClr val="13283F"/>
                </a:solidFill>
              </a:rPr>
              <a:t>Both spare users from hand-writing tricky SQL</a:t>
            </a:r>
            <a:endParaRPr lang="en-US" sz="1150" dirty="0"/>
          </a:p>
        </p:txBody>
      </p:sp>
      <p:sp>
        <p:nvSpPr>
          <p:cNvPr id="29" name="Shape 24"/>
          <p:cNvSpPr/>
          <p:nvPr/>
        </p:nvSpPr>
        <p:spPr>
          <a:xfrm>
            <a:off x="0" y="6547104"/>
            <a:ext cx="12161520" cy="310896"/>
          </a:xfrm>
          <a:prstGeom prst="rect">
            <a:avLst/>
          </a:prstGeom>
          <a:solidFill>
            <a:srgbClr val="0E2A47"/>
          </a:solidFill>
          <a:ln/>
        </p:spPr>
      </p:sp>
      <p:sp>
        <p:nvSpPr>
          <p:cNvPr id="30" name="Text 25"/>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31" name="Text 26"/>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16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17</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Real-World Case: Opening the Data Vault</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Amazon, eBay &amp; Google as data resources</a:t>
            </a:r>
            <a:endParaRPr lang="en-US" sz="1250" dirty="0"/>
          </a:p>
        </p:txBody>
      </p:sp>
      <p:sp>
        <p:nvSpPr>
          <p:cNvPr id="6" name="Text 4"/>
          <p:cNvSpPr/>
          <p:nvPr/>
        </p:nvSpPr>
        <p:spPr>
          <a:xfrm>
            <a:off x="457200" y="1298448"/>
            <a:ext cx="11247120" cy="640080"/>
          </a:xfrm>
          <a:prstGeom prst="rect">
            <a:avLst/>
          </a:prstGeom>
          <a:noFill/>
          <a:ln/>
        </p:spPr>
        <p:txBody>
          <a:bodyPr wrap="square" lIns="0" tIns="0" rIns="0" bIns="0" rtlCol="0" anchor="t"/>
          <a:lstStyle/>
          <a:p>
            <a:pPr indent="0" marL="0">
              <a:lnSpc>
                <a:spcPct val="104000"/>
              </a:lnSpc>
              <a:buNone/>
            </a:pPr>
            <a:r>
              <a:rPr lang="en-US" sz="1400" dirty="0">
                <a:solidFill>
                  <a:srgbClr val="13283F"/>
                </a:solidFill>
              </a:rPr>
              <a:t>When data is a managed resource, it can become a platform. These firms opened parts of their databases to outside developers - turning data into ecosystems and revenue.</a:t>
            </a:r>
            <a:endParaRPr lang="en-US" sz="1400" dirty="0"/>
          </a:p>
        </p:txBody>
      </p:sp>
      <p:sp>
        <p:nvSpPr>
          <p:cNvPr id="7" name="Shape 5"/>
          <p:cNvSpPr/>
          <p:nvPr/>
        </p:nvSpPr>
        <p:spPr>
          <a:xfrm>
            <a:off x="457200" y="2057400"/>
            <a:ext cx="3630168" cy="3154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057400"/>
            <a:ext cx="3630168" cy="603504"/>
          </a:xfrm>
          <a:prstGeom prst="rect">
            <a:avLst/>
          </a:prstGeom>
          <a:solidFill>
            <a:srgbClr val="1565C0"/>
          </a:solidFill>
          <a:ln/>
        </p:spPr>
      </p:sp>
      <p:sp>
        <p:nvSpPr>
          <p:cNvPr id="9" name="Shape 7"/>
          <p:cNvSpPr/>
          <p:nvPr/>
        </p:nvSpPr>
        <p:spPr>
          <a:xfrm>
            <a:off x="612648" y="217627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0" name="Image 0" descr="preencoded.png">    </p:cNvPr>
          <p:cNvPicPr>
            <a:picLocks noChangeAspect="1"/>
          </p:cNvPicPr>
          <p:nvPr/>
        </p:nvPicPr>
        <p:blipFill>
          <a:blip r:embed="rId1"/>
          <a:stretch>
            <a:fillRect/>
          </a:stretch>
        </p:blipFill>
        <p:spPr>
          <a:xfrm>
            <a:off x="694944" y="2258568"/>
            <a:ext cx="201168" cy="201168"/>
          </a:xfrm>
          <a:prstGeom prst="rect">
            <a:avLst/>
          </a:prstGeom>
        </p:spPr>
      </p:pic>
      <p:sp>
        <p:nvSpPr>
          <p:cNvPr id="11" name="Text 8"/>
          <p:cNvSpPr/>
          <p:nvPr/>
        </p:nvSpPr>
        <p:spPr>
          <a:xfrm>
            <a:off x="1060704" y="205740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Amazon</a:t>
            </a:r>
            <a:endParaRPr lang="en-US" sz="1600" dirty="0"/>
          </a:p>
        </p:txBody>
      </p:sp>
      <p:sp>
        <p:nvSpPr>
          <p:cNvPr id="12" name="Text 9"/>
          <p:cNvSpPr/>
          <p:nvPr/>
        </p:nvSpPr>
        <p:spPr>
          <a:xfrm>
            <a:off x="685800" y="2834640"/>
            <a:ext cx="3172968" cy="2240280"/>
          </a:xfrm>
          <a:prstGeom prst="rect">
            <a:avLst/>
          </a:prstGeom>
          <a:noFill/>
          <a:ln/>
        </p:spPr>
        <p:txBody>
          <a:bodyPr wrap="square" lIns="0" tIns="0" rIns="0" bIns="0" rtlCol="0" anchor="t"/>
          <a:lstStyle/>
          <a:p>
            <a:pPr indent="0" marL="0">
              <a:lnSpc>
                <a:spcPct val="105000"/>
              </a:lnSpc>
              <a:buNone/>
            </a:pPr>
            <a:r>
              <a:rPr lang="en-US" sz="1150" dirty="0">
                <a:solidFill>
                  <a:srgbClr val="13283F"/>
                </a:solidFill>
              </a:rPr>
              <a:t>Spent ~10 years and $1bn building its data vault (products, prices, rankings, reviews, inventory). Opened it in 2002; 65,000+ developers and businesses tapped in, many becoming partners.</a:t>
            </a:r>
            <a:endParaRPr lang="en-US" sz="1150" dirty="0"/>
          </a:p>
        </p:txBody>
      </p:sp>
      <p:sp>
        <p:nvSpPr>
          <p:cNvPr id="13" name="Shape 10"/>
          <p:cNvSpPr/>
          <p:nvPr/>
        </p:nvSpPr>
        <p:spPr>
          <a:xfrm>
            <a:off x="4288536" y="2057400"/>
            <a:ext cx="3630168" cy="3154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4288536" y="2057400"/>
            <a:ext cx="3630168" cy="603504"/>
          </a:xfrm>
          <a:prstGeom prst="rect">
            <a:avLst/>
          </a:prstGeom>
          <a:solidFill>
            <a:srgbClr val="1565C0"/>
          </a:solidFill>
          <a:ln/>
        </p:spPr>
      </p:sp>
      <p:sp>
        <p:nvSpPr>
          <p:cNvPr id="15" name="Shape 12"/>
          <p:cNvSpPr/>
          <p:nvPr/>
        </p:nvSpPr>
        <p:spPr>
          <a:xfrm>
            <a:off x="4443984" y="217627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4526280" y="2258568"/>
            <a:ext cx="201168" cy="201168"/>
          </a:xfrm>
          <a:prstGeom prst="rect">
            <a:avLst/>
          </a:prstGeom>
        </p:spPr>
      </p:pic>
      <p:sp>
        <p:nvSpPr>
          <p:cNvPr id="17" name="Text 13"/>
          <p:cNvSpPr/>
          <p:nvPr/>
        </p:nvSpPr>
        <p:spPr>
          <a:xfrm>
            <a:off x="4892040" y="205740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eBay</a:t>
            </a:r>
            <a:endParaRPr lang="en-US" sz="1600" dirty="0"/>
          </a:p>
        </p:txBody>
      </p:sp>
      <p:sp>
        <p:nvSpPr>
          <p:cNvPr id="18" name="Text 14"/>
          <p:cNvSpPr/>
          <p:nvPr/>
        </p:nvSpPr>
        <p:spPr>
          <a:xfrm>
            <a:off x="4517136" y="2834640"/>
            <a:ext cx="3172968" cy="2240280"/>
          </a:xfrm>
          <a:prstGeom prst="rect">
            <a:avLst/>
          </a:prstGeom>
          <a:noFill/>
          <a:ln/>
        </p:spPr>
        <p:txBody>
          <a:bodyPr wrap="square" lIns="0" tIns="0" rIns="0" bIns="0" rtlCol="0" anchor="t"/>
          <a:lstStyle/>
          <a:p>
            <a:pPr indent="0" marL="0">
              <a:lnSpc>
                <a:spcPct val="105000"/>
              </a:lnSpc>
              <a:buNone/>
            </a:pPr>
            <a:r>
              <a:rPr lang="en-US" sz="1150" dirty="0">
                <a:solidFill>
                  <a:srgbClr val="13283F"/>
                </a:solidFill>
              </a:rPr>
              <a:t>Opened its $3bn databases in 2003. 15,000+ developers registered, 1,000+ new applications appeared, and 41% of listings were uploaded using these resources.</a:t>
            </a:r>
            <a:endParaRPr lang="en-US" sz="1150" dirty="0"/>
          </a:p>
        </p:txBody>
      </p:sp>
      <p:sp>
        <p:nvSpPr>
          <p:cNvPr id="19" name="Shape 15"/>
          <p:cNvSpPr/>
          <p:nvPr/>
        </p:nvSpPr>
        <p:spPr>
          <a:xfrm>
            <a:off x="8119872" y="2057400"/>
            <a:ext cx="3630168" cy="3154680"/>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0" name="Shape 16"/>
          <p:cNvSpPr/>
          <p:nvPr/>
        </p:nvSpPr>
        <p:spPr>
          <a:xfrm>
            <a:off x="8119872" y="2057400"/>
            <a:ext cx="3630168" cy="603504"/>
          </a:xfrm>
          <a:prstGeom prst="rect">
            <a:avLst/>
          </a:prstGeom>
          <a:solidFill>
            <a:srgbClr val="1565C0"/>
          </a:solidFill>
          <a:ln/>
        </p:spPr>
      </p:sp>
      <p:sp>
        <p:nvSpPr>
          <p:cNvPr id="21" name="Shape 17"/>
          <p:cNvSpPr/>
          <p:nvPr/>
        </p:nvSpPr>
        <p:spPr>
          <a:xfrm>
            <a:off x="8275320" y="2176272"/>
            <a:ext cx="365760" cy="365760"/>
          </a:xfrm>
          <a:prstGeom prst="ellipse">
            <a:avLst/>
          </a:prstGeom>
          <a:solidFill>
            <a:srgbClr val="F2B705"/>
          </a:solidFill>
          <a:ln/>
          <a:effectLst>
            <a:outerShdw sx="100000" sy="100000" kx="0" ky="0" algn="bl" rotWithShape="0" blurRad="88900" dist="38100" dir="81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8357616" y="2258568"/>
            <a:ext cx="201168" cy="201168"/>
          </a:xfrm>
          <a:prstGeom prst="rect">
            <a:avLst/>
          </a:prstGeom>
        </p:spPr>
      </p:pic>
      <p:sp>
        <p:nvSpPr>
          <p:cNvPr id="23" name="Text 18"/>
          <p:cNvSpPr/>
          <p:nvPr/>
        </p:nvSpPr>
        <p:spPr>
          <a:xfrm>
            <a:off x="8723376" y="2057400"/>
            <a:ext cx="2898648" cy="603504"/>
          </a:xfrm>
          <a:prstGeom prst="rect">
            <a:avLst/>
          </a:prstGeom>
          <a:noFill/>
          <a:ln/>
        </p:spPr>
        <p:txBody>
          <a:bodyPr wrap="square" lIns="0" tIns="0" rIns="0" bIns="0" rtlCol="0" anchor="ctr"/>
          <a:lstStyle/>
          <a:p>
            <a:pPr indent="0" marL="0">
              <a:buNone/>
            </a:pPr>
            <a:r>
              <a:rPr lang="en-US" sz="1600" b="1" dirty="0">
                <a:solidFill>
                  <a:srgbClr val="FFFFFF"/>
                </a:solidFill>
              </a:rPr>
              <a:t>Google</a:t>
            </a:r>
            <a:endParaRPr lang="en-US" sz="1600" dirty="0"/>
          </a:p>
        </p:txBody>
      </p:sp>
      <p:sp>
        <p:nvSpPr>
          <p:cNvPr id="24" name="Text 19"/>
          <p:cNvSpPr/>
          <p:nvPr/>
        </p:nvSpPr>
        <p:spPr>
          <a:xfrm>
            <a:off x="8348472" y="2834640"/>
            <a:ext cx="3172968" cy="2240280"/>
          </a:xfrm>
          <a:prstGeom prst="rect">
            <a:avLst/>
          </a:prstGeom>
          <a:noFill/>
          <a:ln/>
        </p:spPr>
        <p:txBody>
          <a:bodyPr wrap="square" lIns="0" tIns="0" rIns="0" bIns="0" rtlCol="0" anchor="t"/>
          <a:lstStyle/>
          <a:p>
            <a:pPr indent="0" marL="0">
              <a:lnSpc>
                <a:spcPct val="105000"/>
              </a:lnSpc>
              <a:buNone/>
            </a:pPr>
            <a:r>
              <a:rPr lang="en-US" sz="1150" dirty="0">
                <a:solidFill>
                  <a:srgbClr val="13283F"/>
                </a:solidFill>
              </a:rPr>
              <a:t>Moved cautiously: free access to 1,000 search results a day, more by permission. Opened AdWords to outside applications in 2005, spawning dozens of services.</a:t>
            </a:r>
            <a:endParaRPr lang="en-US" sz="1150" dirty="0"/>
          </a:p>
        </p:txBody>
      </p:sp>
      <p:sp>
        <p:nvSpPr>
          <p:cNvPr id="25" name="Text 20"/>
          <p:cNvSpPr/>
          <p:nvPr/>
        </p:nvSpPr>
        <p:spPr>
          <a:xfrm>
            <a:off x="457200" y="5349240"/>
            <a:ext cx="11247120" cy="365760"/>
          </a:xfrm>
          <a:prstGeom prst="rect">
            <a:avLst/>
          </a:prstGeom>
          <a:noFill/>
          <a:ln/>
        </p:spPr>
        <p:txBody>
          <a:bodyPr wrap="square" lIns="0" tIns="0" rIns="0" bIns="0" rtlCol="0" anchor="ctr"/>
          <a:lstStyle/>
          <a:p>
            <a:pPr algn="ctr" indent="0" marL="0">
              <a:buNone/>
            </a:pPr>
            <a:r>
              <a:rPr lang="en-US" sz="1200" i="1" dirty="0">
                <a:solidFill>
                  <a:srgbClr val="566779"/>
                </a:solidFill>
              </a:rPr>
              <a:t>Discussion: should every company open its databases to outsiders? Weigh the new revenue and innovation against losing control of a core asset.</a:t>
            </a:r>
            <a:endParaRPr lang="en-US" sz="1200" dirty="0"/>
          </a:p>
        </p:txBody>
      </p:sp>
      <p:sp>
        <p:nvSpPr>
          <p:cNvPr id="26" name="Shape 21"/>
          <p:cNvSpPr/>
          <p:nvPr/>
        </p:nvSpPr>
        <p:spPr>
          <a:xfrm>
            <a:off x="0" y="6547104"/>
            <a:ext cx="12161520" cy="310896"/>
          </a:xfrm>
          <a:prstGeom prst="rect">
            <a:avLst/>
          </a:prstGeom>
          <a:solidFill>
            <a:srgbClr val="0E2A47"/>
          </a:solidFill>
          <a:ln/>
        </p:spPr>
      </p:sp>
      <p:sp>
        <p:nvSpPr>
          <p:cNvPr id="27" name="Text 22"/>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28" name="Text 23"/>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17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6FB"/>
        </a:solidFill>
      </p:bgPr>
    </p:bg>
    <p:spTree>
      <p:nvGrpSpPr>
        <p:cNvPr id="1" name=""/>
        <p:cNvGrpSpPr/>
        <p:nvPr/>
      </p:nvGrpSpPr>
      <p:grpSpPr>
        <a:xfrm>
          <a:off x="0" y="0"/>
          <a:ext cx="0" cy="0"/>
          <a:chOff x="0" y="0"/>
          <a:chExt cx="0" cy="0"/>
        </a:xfrm>
      </p:grpSpPr>
      <p:sp>
        <p:nvSpPr>
          <p:cNvPr id="2" name="Shape 0"/>
          <p:cNvSpPr/>
          <p:nvPr/>
        </p:nvSpPr>
        <p:spPr>
          <a:xfrm>
            <a:off x="457200" y="384048"/>
            <a:ext cx="658368" cy="658368"/>
          </a:xfrm>
          <a:prstGeom prst="ellipse">
            <a:avLst/>
          </a:prstGeom>
          <a:solidFill>
            <a:srgbClr val="1565C0"/>
          </a:solidFill>
          <a:ln/>
          <a:effectLst>
            <a:outerShdw sx="100000" sy="100000" kx="0" ky="0" algn="bl" rotWithShape="0" blurRad="88900" dist="38100" dir="8100000">
              <a:srgbClr val="000000">
                <a:alpha val="12000"/>
              </a:srgbClr>
            </a:outerShdw>
          </a:effectLst>
        </p:spPr>
      </p:sp>
      <p:sp>
        <p:nvSpPr>
          <p:cNvPr id="3" name="Text 1"/>
          <p:cNvSpPr/>
          <p:nvPr/>
        </p:nvSpPr>
        <p:spPr>
          <a:xfrm>
            <a:off x="457200" y="384048"/>
            <a:ext cx="658368"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18</a:t>
            </a:r>
            <a:endParaRPr lang="en-US" sz="2800" dirty="0"/>
          </a:p>
        </p:txBody>
      </p:sp>
      <p:sp>
        <p:nvSpPr>
          <p:cNvPr id="4" name="Text 2"/>
          <p:cNvSpPr/>
          <p:nvPr/>
        </p:nvSpPr>
        <p:spPr>
          <a:xfrm>
            <a:off x="1298448" y="365760"/>
            <a:ext cx="10332720" cy="457200"/>
          </a:xfrm>
          <a:prstGeom prst="rect">
            <a:avLst/>
          </a:prstGeom>
          <a:noFill/>
          <a:ln/>
        </p:spPr>
        <p:txBody>
          <a:bodyPr wrap="square" lIns="0" tIns="0" rIns="0" bIns="0" rtlCol="0" anchor="ctr"/>
          <a:lstStyle/>
          <a:p>
            <a:pPr algn="l" indent="0" marL="0">
              <a:buNone/>
            </a:pPr>
            <a:r>
              <a:rPr lang="en-US" sz="2800" b="1" dirty="0">
                <a:solidFill>
                  <a:srgbClr val="0D3D78"/>
                </a:solidFill>
                <a:latin typeface="Georgia" pitchFamily="34" charset="0"/>
                <a:ea typeface="Georgia" pitchFamily="34" charset="-122"/>
                <a:cs typeface="Georgia" pitchFamily="34" charset="-120"/>
              </a:rPr>
              <a:t>Key Takeaways</a:t>
            </a:r>
            <a:endParaRPr lang="en-US" sz="2800" dirty="0"/>
          </a:p>
        </p:txBody>
      </p:sp>
      <p:sp>
        <p:nvSpPr>
          <p:cNvPr id="5" name="Text 3"/>
          <p:cNvSpPr/>
          <p:nvPr/>
        </p:nvSpPr>
        <p:spPr>
          <a:xfrm>
            <a:off x="1325880" y="841248"/>
            <a:ext cx="10332720" cy="274320"/>
          </a:xfrm>
          <a:prstGeom prst="rect">
            <a:avLst/>
          </a:prstGeom>
          <a:noFill/>
          <a:ln/>
        </p:spPr>
        <p:txBody>
          <a:bodyPr wrap="square" lIns="0" tIns="0" rIns="0" bIns="0" rtlCol="0" anchor="ctr"/>
          <a:lstStyle/>
          <a:p>
            <a:pPr algn="l" indent="0" marL="0">
              <a:buNone/>
            </a:pPr>
            <a:r>
              <a:rPr lang="en-US" sz="1250" i="1" dirty="0">
                <a:solidFill>
                  <a:srgbClr val="566779"/>
                </a:solidFill>
              </a:rPr>
              <a:t>What to remember from Chapter 5</a:t>
            </a:r>
            <a:endParaRPr lang="en-US" sz="1250" dirty="0"/>
          </a:p>
        </p:txBody>
      </p:sp>
      <p:sp>
        <p:nvSpPr>
          <p:cNvPr id="6" name="Shape 4"/>
          <p:cNvSpPr/>
          <p:nvPr/>
        </p:nvSpPr>
        <p:spPr>
          <a:xfrm>
            <a:off x="457200" y="1783080"/>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457200" y="1783080"/>
            <a:ext cx="3630168" cy="91440"/>
          </a:xfrm>
          <a:prstGeom prst="rect">
            <a:avLst/>
          </a:prstGeom>
          <a:solidFill>
            <a:srgbClr val="F2B705"/>
          </a:solidFill>
          <a:ln/>
        </p:spPr>
      </p:sp>
      <p:sp>
        <p:nvSpPr>
          <p:cNvPr id="8" name="Shape 6"/>
          <p:cNvSpPr/>
          <p:nvPr/>
        </p:nvSpPr>
        <p:spPr>
          <a:xfrm>
            <a:off x="676656" y="2039112"/>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9" name="Image 0" descr="preencoded.png">    </p:cNvPr>
          <p:cNvPicPr>
            <a:picLocks noChangeAspect="1"/>
          </p:cNvPicPr>
          <p:nvPr/>
        </p:nvPicPr>
        <p:blipFill>
          <a:blip r:embed="rId1"/>
          <a:stretch>
            <a:fillRect/>
          </a:stretch>
        </p:blipFill>
        <p:spPr>
          <a:xfrm>
            <a:off x="870966" y="2233422"/>
            <a:ext cx="388620" cy="388620"/>
          </a:xfrm>
          <a:prstGeom prst="rect">
            <a:avLst/>
          </a:prstGeom>
        </p:spPr>
      </p:pic>
      <p:sp>
        <p:nvSpPr>
          <p:cNvPr id="10" name="Text 7"/>
          <p:cNvSpPr/>
          <p:nvPr/>
        </p:nvSpPr>
        <p:spPr>
          <a:xfrm>
            <a:off x="1554480" y="1984248"/>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Manage data as a resource</a:t>
            </a:r>
            <a:endParaRPr lang="en-US" sz="1350" dirty="0"/>
          </a:p>
        </p:txBody>
      </p:sp>
      <p:sp>
        <p:nvSpPr>
          <p:cNvPr id="11" name="Text 8"/>
          <p:cNvSpPr/>
          <p:nvPr/>
        </p:nvSpPr>
        <p:spPr>
          <a:xfrm>
            <a:off x="685800" y="2880360"/>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Data resource management treats data as a strategic asset that serves stakeholder information needs.</a:t>
            </a:r>
            <a:endParaRPr lang="en-US" sz="1080" dirty="0"/>
          </a:p>
        </p:txBody>
      </p:sp>
      <p:sp>
        <p:nvSpPr>
          <p:cNvPr id="12" name="Shape 9"/>
          <p:cNvSpPr/>
          <p:nvPr/>
        </p:nvSpPr>
        <p:spPr>
          <a:xfrm>
            <a:off x="4288536" y="1783080"/>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4288536" y="1783080"/>
            <a:ext cx="3630168" cy="91440"/>
          </a:xfrm>
          <a:prstGeom prst="rect">
            <a:avLst/>
          </a:prstGeom>
          <a:solidFill>
            <a:srgbClr val="F2B705"/>
          </a:solidFill>
          <a:ln/>
        </p:spPr>
      </p:sp>
      <p:sp>
        <p:nvSpPr>
          <p:cNvPr id="14" name="Shape 11"/>
          <p:cNvSpPr/>
          <p:nvPr/>
        </p:nvSpPr>
        <p:spPr>
          <a:xfrm>
            <a:off x="4507992" y="2039112"/>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4702302" y="2233422"/>
            <a:ext cx="388620" cy="388620"/>
          </a:xfrm>
          <a:prstGeom prst="rect">
            <a:avLst/>
          </a:prstGeom>
        </p:spPr>
      </p:pic>
      <p:sp>
        <p:nvSpPr>
          <p:cNvPr id="16" name="Text 12"/>
          <p:cNvSpPr/>
          <p:nvPr/>
        </p:nvSpPr>
        <p:spPr>
          <a:xfrm>
            <a:off x="5385816" y="1984248"/>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Database approach wins</a:t>
            </a:r>
            <a:endParaRPr lang="en-US" sz="1350" dirty="0"/>
          </a:p>
        </p:txBody>
      </p:sp>
      <p:sp>
        <p:nvSpPr>
          <p:cNvPr id="17" name="Text 13"/>
          <p:cNvSpPr/>
          <p:nvPr/>
        </p:nvSpPr>
        <p:spPr>
          <a:xfrm>
            <a:off x="4517136" y="2880360"/>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Shared databases beat file processing by cutting redundancy and adding integration, independence, and integrity.</a:t>
            </a:r>
            <a:endParaRPr lang="en-US" sz="1080" dirty="0"/>
          </a:p>
        </p:txBody>
      </p:sp>
      <p:sp>
        <p:nvSpPr>
          <p:cNvPr id="18" name="Shape 14"/>
          <p:cNvSpPr/>
          <p:nvPr/>
        </p:nvSpPr>
        <p:spPr>
          <a:xfrm>
            <a:off x="8119872" y="1783080"/>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8119872" y="1783080"/>
            <a:ext cx="3630168" cy="91440"/>
          </a:xfrm>
          <a:prstGeom prst="rect">
            <a:avLst/>
          </a:prstGeom>
          <a:solidFill>
            <a:srgbClr val="F2B705"/>
          </a:solidFill>
          <a:ln/>
        </p:spPr>
      </p:sp>
      <p:sp>
        <p:nvSpPr>
          <p:cNvPr id="20" name="Shape 16"/>
          <p:cNvSpPr/>
          <p:nvPr/>
        </p:nvSpPr>
        <p:spPr>
          <a:xfrm>
            <a:off x="8339328" y="2039112"/>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1" name="Image 2" descr="preencoded.png">    </p:cNvPr>
          <p:cNvPicPr>
            <a:picLocks noChangeAspect="1"/>
          </p:cNvPicPr>
          <p:nvPr/>
        </p:nvPicPr>
        <p:blipFill>
          <a:blip r:embed="rId3"/>
          <a:stretch>
            <a:fillRect/>
          </a:stretch>
        </p:blipFill>
        <p:spPr>
          <a:xfrm>
            <a:off x="8533638" y="2233422"/>
            <a:ext cx="388620" cy="388620"/>
          </a:xfrm>
          <a:prstGeom prst="rect">
            <a:avLst/>
          </a:prstGeom>
        </p:spPr>
      </p:pic>
      <p:sp>
        <p:nvSpPr>
          <p:cNvPr id="22" name="Text 17"/>
          <p:cNvSpPr/>
          <p:nvPr/>
        </p:nvSpPr>
        <p:spPr>
          <a:xfrm>
            <a:off x="9217152" y="1984248"/>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Relational dominates</a:t>
            </a:r>
            <a:endParaRPr lang="en-US" sz="1350" dirty="0"/>
          </a:p>
        </p:txBody>
      </p:sp>
      <p:sp>
        <p:nvSpPr>
          <p:cNvPr id="23" name="Text 18"/>
          <p:cNvSpPr/>
          <p:nvPr/>
        </p:nvSpPr>
        <p:spPr>
          <a:xfrm>
            <a:off x="8348472" y="2880360"/>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Of the five structures, the relational model is the most widely used; multidimensional powers OLAP analytics.</a:t>
            </a:r>
            <a:endParaRPr lang="en-US" sz="1080" dirty="0"/>
          </a:p>
        </p:txBody>
      </p:sp>
      <p:sp>
        <p:nvSpPr>
          <p:cNvPr id="24" name="Shape 19"/>
          <p:cNvSpPr/>
          <p:nvPr/>
        </p:nvSpPr>
        <p:spPr>
          <a:xfrm>
            <a:off x="457200" y="4142232"/>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25" name="Shape 20"/>
          <p:cNvSpPr/>
          <p:nvPr/>
        </p:nvSpPr>
        <p:spPr>
          <a:xfrm>
            <a:off x="457200" y="4142232"/>
            <a:ext cx="3630168" cy="91440"/>
          </a:xfrm>
          <a:prstGeom prst="rect">
            <a:avLst/>
          </a:prstGeom>
          <a:solidFill>
            <a:srgbClr val="F2B705"/>
          </a:solidFill>
          <a:ln/>
        </p:spPr>
      </p:sp>
      <p:sp>
        <p:nvSpPr>
          <p:cNvPr id="26" name="Shape 21"/>
          <p:cNvSpPr/>
          <p:nvPr/>
        </p:nvSpPr>
        <p:spPr>
          <a:xfrm>
            <a:off x="676656" y="4398264"/>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27" name="Image 3" descr="preencoded.png">    </p:cNvPr>
          <p:cNvPicPr>
            <a:picLocks noChangeAspect="1"/>
          </p:cNvPicPr>
          <p:nvPr/>
        </p:nvPicPr>
        <p:blipFill>
          <a:blip r:embed="rId4"/>
          <a:stretch>
            <a:fillRect/>
          </a:stretch>
        </p:blipFill>
        <p:spPr>
          <a:xfrm>
            <a:off x="870966" y="4592574"/>
            <a:ext cx="388620" cy="388620"/>
          </a:xfrm>
          <a:prstGeom prst="rect">
            <a:avLst/>
          </a:prstGeom>
        </p:spPr>
      </p:pic>
      <p:sp>
        <p:nvSpPr>
          <p:cNvPr id="28" name="Text 22"/>
          <p:cNvSpPr/>
          <p:nvPr/>
        </p:nvSpPr>
        <p:spPr>
          <a:xfrm>
            <a:off x="1554480" y="4343400"/>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Warehouse then mine</a:t>
            </a:r>
            <a:endParaRPr lang="en-US" sz="1350" dirty="0"/>
          </a:p>
        </p:txBody>
      </p:sp>
      <p:sp>
        <p:nvSpPr>
          <p:cNvPr id="29" name="Text 23"/>
          <p:cNvSpPr/>
          <p:nvPr/>
        </p:nvSpPr>
        <p:spPr>
          <a:xfrm>
            <a:off x="685800" y="5239512"/>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Cleaned, historical data in warehouses fuels data mining and decision support.</a:t>
            </a:r>
            <a:endParaRPr lang="en-US" sz="1080" dirty="0"/>
          </a:p>
        </p:txBody>
      </p:sp>
      <p:sp>
        <p:nvSpPr>
          <p:cNvPr id="30" name="Shape 24"/>
          <p:cNvSpPr/>
          <p:nvPr/>
        </p:nvSpPr>
        <p:spPr>
          <a:xfrm>
            <a:off x="4288536" y="4142232"/>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31" name="Shape 25"/>
          <p:cNvSpPr/>
          <p:nvPr/>
        </p:nvSpPr>
        <p:spPr>
          <a:xfrm>
            <a:off x="4288536" y="4142232"/>
            <a:ext cx="3630168" cy="91440"/>
          </a:xfrm>
          <a:prstGeom prst="rect">
            <a:avLst/>
          </a:prstGeom>
          <a:solidFill>
            <a:srgbClr val="F2B705"/>
          </a:solidFill>
          <a:ln/>
        </p:spPr>
      </p:sp>
      <p:sp>
        <p:nvSpPr>
          <p:cNvPr id="32" name="Shape 26"/>
          <p:cNvSpPr/>
          <p:nvPr/>
        </p:nvSpPr>
        <p:spPr>
          <a:xfrm>
            <a:off x="4507992" y="4398264"/>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33" name="Image 4" descr="preencoded.png">    </p:cNvPr>
          <p:cNvPicPr>
            <a:picLocks noChangeAspect="1"/>
          </p:cNvPicPr>
          <p:nvPr/>
        </p:nvPicPr>
        <p:blipFill>
          <a:blip r:embed="rId5"/>
          <a:stretch>
            <a:fillRect/>
          </a:stretch>
        </p:blipFill>
        <p:spPr>
          <a:xfrm>
            <a:off x="4702302" y="4592574"/>
            <a:ext cx="388620" cy="388620"/>
          </a:xfrm>
          <a:prstGeom prst="rect">
            <a:avLst/>
          </a:prstGeom>
        </p:spPr>
      </p:pic>
      <p:sp>
        <p:nvSpPr>
          <p:cNvPr id="34" name="Text 27"/>
          <p:cNvSpPr/>
          <p:nvPr/>
        </p:nvSpPr>
        <p:spPr>
          <a:xfrm>
            <a:off x="5385816" y="4343400"/>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The DBMS is the engine</a:t>
            </a:r>
            <a:endParaRPr lang="en-US" sz="1350" dirty="0"/>
          </a:p>
        </p:txBody>
      </p:sp>
      <p:sp>
        <p:nvSpPr>
          <p:cNvPr id="35" name="Text 28"/>
          <p:cNvSpPr/>
          <p:nvPr/>
        </p:nvSpPr>
        <p:spPr>
          <a:xfrm>
            <a:off x="4517136" y="5239512"/>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It develops, maintains, and interrogates databases, with SQL as the standard query language.</a:t>
            </a:r>
            <a:endParaRPr lang="en-US" sz="1080" dirty="0"/>
          </a:p>
        </p:txBody>
      </p:sp>
      <p:sp>
        <p:nvSpPr>
          <p:cNvPr id="36" name="Shape 29"/>
          <p:cNvSpPr/>
          <p:nvPr/>
        </p:nvSpPr>
        <p:spPr>
          <a:xfrm>
            <a:off x="8119872" y="4142232"/>
            <a:ext cx="3630168" cy="2084832"/>
          </a:xfrm>
          <a:prstGeom prst="rect">
            <a:avLst/>
          </a:prstGeom>
          <a:solidFill>
            <a:srgbClr val="FFFFFF"/>
          </a:solidFill>
          <a:ln w="12700">
            <a:solidFill>
              <a:srgbClr val="D9E2EC"/>
            </a:solidFill>
            <a:prstDash val="solid"/>
          </a:ln>
          <a:effectLst>
            <a:outerShdw sx="100000" sy="100000" kx="0" ky="0" algn="bl" rotWithShape="0" blurRad="88900" dist="38100" dir="8100000">
              <a:srgbClr val="000000">
                <a:alpha val="12000"/>
              </a:srgbClr>
            </a:outerShdw>
          </a:effectLst>
        </p:spPr>
      </p:sp>
      <p:sp>
        <p:nvSpPr>
          <p:cNvPr id="37" name="Shape 30"/>
          <p:cNvSpPr/>
          <p:nvPr/>
        </p:nvSpPr>
        <p:spPr>
          <a:xfrm>
            <a:off x="8119872" y="4142232"/>
            <a:ext cx="3630168" cy="91440"/>
          </a:xfrm>
          <a:prstGeom prst="rect">
            <a:avLst/>
          </a:prstGeom>
          <a:solidFill>
            <a:srgbClr val="F2B705"/>
          </a:solidFill>
          <a:ln/>
        </p:spPr>
      </p:sp>
      <p:sp>
        <p:nvSpPr>
          <p:cNvPr id="38" name="Shape 31"/>
          <p:cNvSpPr/>
          <p:nvPr/>
        </p:nvSpPr>
        <p:spPr>
          <a:xfrm>
            <a:off x="8339328" y="4398264"/>
            <a:ext cx="777240" cy="77724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39" name="Image 5" descr="preencoded.png">    </p:cNvPr>
          <p:cNvPicPr>
            <a:picLocks noChangeAspect="1"/>
          </p:cNvPicPr>
          <p:nvPr/>
        </p:nvPicPr>
        <p:blipFill>
          <a:blip r:embed="rId6"/>
          <a:stretch>
            <a:fillRect/>
          </a:stretch>
        </p:blipFill>
        <p:spPr>
          <a:xfrm>
            <a:off x="8533638" y="4592574"/>
            <a:ext cx="388620" cy="388620"/>
          </a:xfrm>
          <a:prstGeom prst="rect">
            <a:avLst/>
          </a:prstGeom>
        </p:spPr>
      </p:pic>
      <p:sp>
        <p:nvSpPr>
          <p:cNvPr id="40" name="Text 32"/>
          <p:cNvSpPr/>
          <p:nvPr/>
        </p:nvSpPr>
        <p:spPr>
          <a:xfrm>
            <a:off x="9217152" y="4343400"/>
            <a:ext cx="2395728" cy="868680"/>
          </a:xfrm>
          <a:prstGeom prst="rect">
            <a:avLst/>
          </a:prstGeom>
          <a:noFill/>
          <a:ln/>
        </p:spPr>
        <p:txBody>
          <a:bodyPr wrap="square" lIns="0" tIns="0" rIns="0" bIns="0" rtlCol="0" anchor="ctr"/>
          <a:lstStyle/>
          <a:p>
            <a:pPr indent="0" marL="0">
              <a:buNone/>
            </a:pPr>
            <a:r>
              <a:rPr lang="en-US" sz="1350" b="1" dirty="0">
                <a:solidFill>
                  <a:srgbClr val="0D3D78"/>
                </a:solidFill>
                <a:latin typeface="Georgia" pitchFamily="34" charset="0"/>
                <a:ea typeface="Georgia" pitchFamily="34" charset="-122"/>
                <a:cs typeface="Georgia" pitchFamily="34" charset="-120"/>
              </a:rPr>
              <a:t>Govern the data</a:t>
            </a:r>
            <a:endParaRPr lang="en-US" sz="1350" dirty="0"/>
          </a:p>
        </p:txBody>
      </p:sp>
      <p:sp>
        <p:nvSpPr>
          <p:cNvPr id="41" name="Text 33"/>
          <p:cNvSpPr/>
          <p:nvPr/>
        </p:nvSpPr>
        <p:spPr>
          <a:xfrm>
            <a:off x="8348472" y="5239512"/>
            <a:ext cx="3172968" cy="868680"/>
          </a:xfrm>
          <a:prstGeom prst="rect">
            <a:avLst/>
          </a:prstGeom>
          <a:noFill/>
          <a:ln/>
        </p:spPr>
        <p:txBody>
          <a:bodyPr wrap="square" lIns="0" tIns="0" rIns="0" bIns="0" rtlCol="0" anchor="t"/>
          <a:lstStyle/>
          <a:p>
            <a:pPr indent="0" marL="0">
              <a:lnSpc>
                <a:spcPct val="103000"/>
              </a:lnSpc>
              <a:buNone/>
            </a:pPr>
            <a:r>
              <a:rPr lang="en-US" sz="1080" dirty="0">
                <a:solidFill>
                  <a:srgbClr val="566779"/>
                </a:solidFill>
              </a:rPr>
              <a:t>DBAs, data dictionaries, and security keep enterprise data accurate, consistent, and protected.</a:t>
            </a:r>
            <a:endParaRPr lang="en-US" sz="1080" dirty="0"/>
          </a:p>
        </p:txBody>
      </p:sp>
      <p:sp>
        <p:nvSpPr>
          <p:cNvPr id="42" name="Shape 34"/>
          <p:cNvSpPr/>
          <p:nvPr/>
        </p:nvSpPr>
        <p:spPr>
          <a:xfrm>
            <a:off x="0" y="6547104"/>
            <a:ext cx="12161520" cy="310896"/>
          </a:xfrm>
          <a:prstGeom prst="rect">
            <a:avLst/>
          </a:prstGeom>
          <a:solidFill>
            <a:srgbClr val="0E2A47"/>
          </a:solidFill>
          <a:ln/>
        </p:spPr>
      </p:sp>
      <p:sp>
        <p:nvSpPr>
          <p:cNvPr id="43" name="Text 35"/>
          <p:cNvSpPr/>
          <p:nvPr/>
        </p:nvSpPr>
        <p:spPr>
          <a:xfrm>
            <a:off x="457200" y="6547104"/>
            <a:ext cx="9144000" cy="310896"/>
          </a:xfrm>
          <a:prstGeom prst="rect">
            <a:avLst/>
          </a:prstGeom>
          <a:noFill/>
          <a:ln/>
        </p:spPr>
        <p:txBody>
          <a:bodyPr wrap="square" lIns="0" tIns="0" rIns="0" bIns="0" rtlCol="0" anchor="ctr"/>
          <a:lstStyle/>
          <a:p>
            <a:pPr algn="l" indent="0" marL="0">
              <a:buNone/>
            </a:pPr>
            <a:r>
              <a:rPr lang="en-US" sz="900" dirty="0">
                <a:solidFill>
                  <a:srgbClr val="B9CBDD"/>
                </a:solidFill>
              </a:rPr>
              <a:t>EMBA  |  IT Strategy   -   Chapter 5: Data Resource Management</a:t>
            </a:r>
            <a:endParaRPr lang="en-US" sz="900" dirty="0"/>
          </a:p>
        </p:txBody>
      </p:sp>
      <p:sp>
        <p:nvSpPr>
          <p:cNvPr id="44" name="Text 36"/>
          <p:cNvSpPr/>
          <p:nvPr/>
        </p:nvSpPr>
        <p:spPr>
          <a:xfrm>
            <a:off x="10881360" y="6547104"/>
            <a:ext cx="822960" cy="310896"/>
          </a:xfrm>
          <a:prstGeom prst="rect">
            <a:avLst/>
          </a:prstGeom>
          <a:noFill/>
          <a:ln/>
        </p:spPr>
        <p:txBody>
          <a:bodyPr wrap="square" lIns="0" tIns="0" rIns="0" bIns="0" rtlCol="0" anchor="ctr"/>
          <a:lstStyle/>
          <a:p>
            <a:pPr algn="r" indent="0" marL="0">
              <a:buNone/>
            </a:pPr>
            <a:r>
              <a:rPr lang="en-US" sz="900" dirty="0">
                <a:solidFill>
                  <a:srgbClr val="F8D374"/>
                </a:solidFill>
              </a:rPr>
              <a:t>18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1463040" y="3840480"/>
            <a:ext cx="4572000" cy="4572000"/>
          </a:xfrm>
          <a:prstGeom prst="ellipse">
            <a:avLst/>
          </a:prstGeom>
          <a:solidFill>
            <a:srgbClr val="0A2038"/>
          </a:solidFill>
          <a:ln w="12700">
            <a:solidFill>
              <a:srgbClr val="1565C0"/>
            </a:solidFill>
            <a:prstDash val="solid"/>
          </a:ln>
        </p:spPr>
      </p:sp>
      <p:sp>
        <p:nvSpPr>
          <p:cNvPr id="3" name="Shape 1"/>
          <p:cNvSpPr/>
          <p:nvPr/>
        </p:nvSpPr>
        <p:spPr>
          <a:xfrm>
            <a:off x="9692640" y="-1371600"/>
            <a:ext cx="4206240" cy="4206240"/>
          </a:xfrm>
          <a:prstGeom prst="ellipse">
            <a:avLst/>
          </a:prstGeom>
          <a:solidFill>
            <a:srgbClr val="071726"/>
          </a:solidFill>
          <a:ln w="13970">
            <a:solidFill>
              <a:srgbClr val="F2B705"/>
            </a:solidFill>
            <a:prstDash val="solid"/>
          </a:ln>
        </p:spPr>
      </p:sp>
      <p:sp>
        <p:nvSpPr>
          <p:cNvPr id="4" name="Shape 2"/>
          <p:cNvSpPr/>
          <p:nvPr/>
        </p:nvSpPr>
        <p:spPr>
          <a:xfrm>
            <a:off x="5394960" y="1508760"/>
            <a:ext cx="1371600" cy="1371600"/>
          </a:xfrm>
          <a:prstGeom prst="ellipse">
            <a:avLst/>
          </a:prstGeom>
          <a:solidFill>
            <a:srgbClr val="1565C0"/>
          </a:solidFill>
          <a:ln/>
          <a:effectLst>
            <a:outerShdw sx="100000" sy="100000" kx="0" ky="0" algn="bl" rotWithShape="0" blurRad="88900" dist="381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737860" y="1851660"/>
            <a:ext cx="685800" cy="685800"/>
          </a:xfrm>
          <a:prstGeom prst="rect">
            <a:avLst/>
          </a:prstGeom>
        </p:spPr>
      </p:pic>
      <p:sp>
        <p:nvSpPr>
          <p:cNvPr id="6" name="Text 3"/>
          <p:cNvSpPr/>
          <p:nvPr/>
        </p:nvSpPr>
        <p:spPr>
          <a:xfrm>
            <a:off x="457200" y="3017520"/>
            <a:ext cx="11247120" cy="868680"/>
          </a:xfrm>
          <a:prstGeom prst="rect">
            <a:avLst/>
          </a:prstGeom>
          <a:noFill/>
          <a:ln/>
        </p:spPr>
        <p:txBody>
          <a:bodyPr wrap="square" lIns="0" tIns="0" rIns="0" bIns="0" rtlCol="0" anchor="ctr"/>
          <a:lstStyle/>
          <a:p>
            <a:pPr algn="ctr" indent="0" marL="0">
              <a:buNone/>
            </a:pPr>
            <a:r>
              <a:rPr lang="en-US" sz="5000" b="1" dirty="0">
                <a:solidFill>
                  <a:srgbClr val="FFFFFF"/>
                </a:solidFill>
                <a:latin typeface="Georgia" pitchFamily="34" charset="0"/>
                <a:ea typeface="Georgia" pitchFamily="34" charset="-122"/>
                <a:cs typeface="Georgia" pitchFamily="34" charset="-120"/>
              </a:rPr>
              <a:t>Thank You</a:t>
            </a:r>
            <a:endParaRPr lang="en-US" sz="5000" dirty="0"/>
          </a:p>
        </p:txBody>
      </p:sp>
      <p:sp>
        <p:nvSpPr>
          <p:cNvPr id="7" name="Text 4"/>
          <p:cNvSpPr/>
          <p:nvPr/>
        </p:nvSpPr>
        <p:spPr>
          <a:xfrm>
            <a:off x="457200" y="3931920"/>
            <a:ext cx="11247120" cy="457200"/>
          </a:xfrm>
          <a:prstGeom prst="rect">
            <a:avLst/>
          </a:prstGeom>
          <a:noFill/>
          <a:ln/>
        </p:spPr>
        <p:txBody>
          <a:bodyPr wrap="square" lIns="0" tIns="0" rIns="0" bIns="0" rtlCol="0" anchor="ctr"/>
          <a:lstStyle/>
          <a:p>
            <a:pPr algn="ctr" indent="0" marL="0">
              <a:buNone/>
            </a:pPr>
            <a:r>
              <a:rPr lang="en-US" sz="2000" dirty="0">
                <a:solidFill>
                  <a:srgbClr val="F2B705"/>
                </a:solidFill>
              </a:rPr>
              <a:t>Questions &amp; Discussion</a:t>
            </a:r>
            <a:endParaRPr lang="en-US" sz="2000" dirty="0"/>
          </a:p>
        </p:txBody>
      </p:sp>
      <p:sp>
        <p:nvSpPr>
          <p:cNvPr id="8" name="Text 5"/>
          <p:cNvSpPr/>
          <p:nvPr/>
        </p:nvSpPr>
        <p:spPr>
          <a:xfrm>
            <a:off x="457200" y="4526280"/>
            <a:ext cx="11247120" cy="365760"/>
          </a:xfrm>
          <a:prstGeom prst="rect">
            <a:avLst/>
          </a:prstGeom>
          <a:noFill/>
          <a:ln/>
        </p:spPr>
        <p:txBody>
          <a:bodyPr wrap="square" lIns="0" tIns="0" rIns="0" bIns="0" rtlCol="0" anchor="ctr"/>
          <a:lstStyle/>
          <a:p>
            <a:pPr algn="ctr" indent="0" marL="0">
              <a:buNone/>
            </a:pPr>
            <a:r>
              <a:rPr lang="en-US" sz="1400" i="1" dirty="0">
                <a:solidFill>
                  <a:srgbClr val="CDE0F5"/>
                </a:solidFill>
              </a:rPr>
              <a:t>Chapter 5  -  Data Resource Management</a:t>
            </a:r>
            <a:endParaRPr lang="en-US" sz="1400" dirty="0"/>
          </a:p>
        </p:txBody>
      </p:sp>
      <p:sp>
        <p:nvSpPr>
          <p:cNvPr id="9" name="Text 6"/>
          <p:cNvSpPr/>
          <p:nvPr/>
        </p:nvSpPr>
        <p:spPr>
          <a:xfrm>
            <a:off x="457200" y="5806440"/>
            <a:ext cx="11247120" cy="365760"/>
          </a:xfrm>
          <a:prstGeom prst="rect">
            <a:avLst/>
          </a:prstGeom>
          <a:noFill/>
          <a:ln/>
        </p:spPr>
        <p:txBody>
          <a:bodyPr wrap="square" lIns="0" tIns="0" rIns="0" bIns="0" rtlCol="0" anchor="ctr"/>
          <a:lstStyle/>
          <a:p>
            <a:pPr algn="ctr" indent="0" marL="0">
              <a:buNone/>
            </a:pPr>
            <a:r>
              <a:rPr lang="en-US" sz="1300" dirty="0">
                <a:solidFill>
                  <a:srgbClr val="B9CBDD"/>
                </a:solidFill>
              </a:rPr>
              <a:t>Ahmed Awad   |   Tariq Salama   |   Ahmed Sabri   |   Mahmoud El-Serwy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Resource Management - Chapter 5</dc:title>
  <dc:subject>PptxGenJS Presentation</dc:subject>
  <dc:creator>Ahmed Awad, Tariq Salama, Ahmed Sabri, Mahmoud El-Serwy</dc:creator>
  <cp:lastModifiedBy>Ahmed Awad, Tariq Salama, Ahmed Sabri, Mahmoud El-Serwy</cp:lastModifiedBy>
  <cp:revision>1</cp:revision>
  <dcterms:created xsi:type="dcterms:W3CDTF">2026-06-05T17:52:36Z</dcterms:created>
  <dcterms:modified xsi:type="dcterms:W3CDTF">2026-06-05T17:52:36Z</dcterms:modified>
</cp:coreProperties>
</file>