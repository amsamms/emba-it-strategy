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6291A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3474720"/>
            <a:ext cx="3291840" cy="3291840"/>
          </a:xfrm>
          <a:prstGeom prst="ellipse">
            <a:avLst/>
          </a:prstGeom>
          <a:solidFill>
            <a:srgbClr val="06291A"/>
          </a:solidFill>
          <a:ln w="12700">
            <a:solidFill>
              <a:srgbClr val="0069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777240"/>
            <a:ext cx="914400" cy="91440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9966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E6CF7A"/>
                </a:solidFill>
              </a:rPr>
              <a:t>EXECUTIVE MBA   |   IT STRATEGY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920240" y="1216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BFD8C7"/>
                </a:solidFill>
              </a:rPr>
              <a:t>Strategic Alignment Assessment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Aligning Information Technology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Corporate Strategy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841248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9A227"/>
                </a:solidFill>
              </a:rPr>
              <a:t>The National Bank of Egypt (NBE)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41248" y="4526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CFE3D6"/>
                </a:solidFill>
              </a:rPr>
              <a:t>To what extent do NBE's IT practices serve its overall corporate strategy?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822960" y="5440680"/>
            <a:ext cx="54864" cy="9144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0"/>
          <p:cNvSpPr/>
          <p:nvPr/>
        </p:nvSpPr>
        <p:spPr>
          <a:xfrm>
            <a:off x="1051560" y="544068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CF7A"/>
                </a:solidFill>
              </a:rPr>
              <a:t>Prepared by:  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Ahmed Awad   |   Tariq Salama   |   Ahmed Sabri   |   Mahmoud Ibrahim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1560" y="57607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CF7A"/>
                </a:solidFill>
              </a:rPr>
              <a:t>Instructor:  </a:t>
            </a:r>
            <a:pPr algn="l" indent="0" marL="0">
              <a:buNone/>
            </a:pPr>
            <a:r>
              <a:rPr lang="en-US" sz="1300" dirty="0">
                <a:solidFill>
                  <a:srgbClr val="CFE3D6"/>
                </a:solidFill>
              </a:rPr>
              <a:t>Dr. Ghada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51560" y="606247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6CF7A"/>
                </a:solidFill>
              </a:rPr>
              <a:t>Date:  </a:t>
            </a:r>
            <a:pPr algn="l" indent="0" marL="0">
              <a:buNone/>
            </a:pPr>
            <a:r>
              <a:rPr lang="en-US" sz="1300" dirty="0">
                <a:solidFill>
                  <a:srgbClr val="CFE3D6"/>
                </a:solidFill>
              </a:rPr>
              <a:t>03-06-2026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3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Company Strategy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7543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1A2E22"/>
                </a:solidFill>
              </a:rPr>
              <a:t>Founded in 1898, NBE is Egypt's largest bank and a primary engine of the national economy. Its corporate strategy rests on four pillars.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75320" y="1097280"/>
            <a:ext cx="3429000" cy="1417320"/>
          </a:xfrm>
          <a:prstGeom prst="rect">
            <a:avLst/>
          </a:prstGeom>
          <a:solidFill>
            <a:srgbClr val="013A22"/>
          </a:solidFill>
          <a:ln/>
        </p:spPr>
      </p:sp>
      <p:sp>
        <p:nvSpPr>
          <p:cNvPr id="7" name="Text 5"/>
          <p:cNvSpPr/>
          <p:nvPr/>
        </p:nvSpPr>
        <p:spPr>
          <a:xfrm>
            <a:off x="8366760" y="1170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EGP 8.13tn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366760" y="1517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3D6"/>
                </a:solidFill>
              </a:rPr>
              <a:t>Total assets (2024)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0058400" y="11704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058400" y="151790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3D6"/>
                </a:solidFill>
              </a:rPr>
              <a:t>Customers served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36676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~665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366760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3D6"/>
                </a:solidFill>
              </a:rPr>
              <a:t>Branches &amp; units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0" y="18288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~30,000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0058400" y="2176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E3D6"/>
                </a:solidFill>
              </a:rPr>
              <a:t>Employees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54406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88920"/>
            <a:ext cx="82296" cy="14813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081528"/>
            <a:ext cx="868680" cy="868680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3290011"/>
            <a:ext cx="451714" cy="45171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737360" y="29900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13A22"/>
                </a:solidFill>
              </a:rPr>
              <a:t>Lead Financial Inclusion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737360" y="341071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B61"/>
                </a:solidFill>
              </a:rPr>
              <a:t>Bank the unbanked across Egypt through accessible, low-cost digital and microfinance services.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217920" y="2788920"/>
            <a:ext cx="54406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17920" y="2788920"/>
            <a:ext cx="82296" cy="14813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Shape 20"/>
          <p:cNvSpPr/>
          <p:nvPr/>
        </p:nvSpPr>
        <p:spPr>
          <a:xfrm>
            <a:off x="6473952" y="3081528"/>
            <a:ext cx="868680" cy="868680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435" y="3290011"/>
            <a:ext cx="451714" cy="451714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498080" y="2990088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13A22"/>
                </a:solidFill>
              </a:rPr>
              <a:t>Finance the National Economy</a:t>
            </a:r>
            <a:endParaRPr lang="en-US" sz="1550" dirty="0"/>
          </a:p>
        </p:txBody>
      </p:sp>
      <p:sp>
        <p:nvSpPr>
          <p:cNvPr id="26" name="Text 22"/>
          <p:cNvSpPr/>
          <p:nvPr/>
        </p:nvSpPr>
        <p:spPr>
          <a:xfrm>
            <a:off x="7498080" y="3410712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B61"/>
                </a:solidFill>
              </a:rPr>
              <a:t>Fund mega-projects, infrastructure, and SMEs as the government's key banking partner.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457200" y="4544568"/>
            <a:ext cx="54406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57200" y="4544568"/>
            <a:ext cx="82296" cy="14813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Shape 25"/>
          <p:cNvSpPr/>
          <p:nvPr/>
        </p:nvSpPr>
        <p:spPr>
          <a:xfrm>
            <a:off x="713232" y="4837176"/>
            <a:ext cx="868680" cy="868680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715" y="5045659"/>
            <a:ext cx="451714" cy="45171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737360" y="474573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13A22"/>
                </a:solidFill>
              </a:rPr>
              <a:t>Customer-Centric Digital Growth</a:t>
            </a:r>
            <a:endParaRPr lang="en-US" sz="1550" dirty="0"/>
          </a:p>
        </p:txBody>
      </p:sp>
      <p:sp>
        <p:nvSpPr>
          <p:cNvPr id="32" name="Text 27"/>
          <p:cNvSpPr/>
          <p:nvPr/>
        </p:nvSpPr>
        <p:spPr>
          <a:xfrm>
            <a:off x="1737360" y="51663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B61"/>
                </a:solidFill>
              </a:rPr>
              <a:t>Deliver fast, 24/7, personalized banking and grow the tech-savvy youth segment.</a:t>
            </a:r>
            <a:endParaRPr lang="en-US" sz="1150" dirty="0"/>
          </a:p>
        </p:txBody>
      </p:sp>
      <p:sp>
        <p:nvSpPr>
          <p:cNvPr id="33" name="Shape 28"/>
          <p:cNvSpPr/>
          <p:nvPr/>
        </p:nvSpPr>
        <p:spPr>
          <a:xfrm>
            <a:off x="6217920" y="4544568"/>
            <a:ext cx="54406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217920" y="4544568"/>
            <a:ext cx="82296" cy="14813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5" name="Shape 30"/>
          <p:cNvSpPr/>
          <p:nvPr/>
        </p:nvSpPr>
        <p:spPr>
          <a:xfrm>
            <a:off x="6473952" y="4837176"/>
            <a:ext cx="868680" cy="868680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435" y="5045659"/>
            <a:ext cx="451714" cy="45171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498080" y="474573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13A22"/>
                </a:solidFill>
              </a:rPr>
              <a:t>Sustainability &amp; ESG</a:t>
            </a:r>
            <a:endParaRPr lang="en-US" sz="1550" dirty="0"/>
          </a:p>
        </p:txBody>
      </p:sp>
      <p:sp>
        <p:nvSpPr>
          <p:cNvPr id="38" name="Text 32"/>
          <p:cNvSpPr/>
          <p:nvPr/>
        </p:nvSpPr>
        <p:spPr>
          <a:xfrm>
            <a:off x="7498080" y="5166360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B61"/>
                </a:solidFill>
              </a:rPr>
              <a:t>Embed an EESG framework and a climate-finance strategy across all operations.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13A22"/>
          </a:solidFill>
          <a:ln/>
        </p:spPr>
      </p:sp>
      <p:sp>
        <p:nvSpPr>
          <p:cNvPr id="40" name="Text 34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8C7"/>
                </a:solidFill>
              </a:rPr>
              <a:t>National Bank of Egypt   |   IT Strategy: Strategic Alignment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0881360" y="654710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CF7A"/>
                </a:solidFill>
              </a:rPr>
              <a:t>1 /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3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IT Strategy &amp; Practices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A2E22"/>
                </a:solidFill>
              </a:rPr>
              <a:t>NBE runs an enterprise-grade IT estate that powers its scale and its digital ambition, organized across four domains.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54406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5440680" cy="566928"/>
          </a:xfrm>
          <a:prstGeom prst="rect">
            <a:avLst/>
          </a:prstGeom>
          <a:solidFill>
            <a:srgbClr val="00693C"/>
          </a:solidFill>
          <a:ln/>
        </p:spPr>
      </p:sp>
      <p:sp>
        <p:nvSpPr>
          <p:cNvPr id="8" name="Shape 6"/>
          <p:cNvSpPr/>
          <p:nvPr/>
        </p:nvSpPr>
        <p:spPr>
          <a:xfrm>
            <a:off x="603504" y="1883664"/>
            <a:ext cx="365760" cy="3657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65960"/>
            <a:ext cx="201168" cy="20116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60704" y="178308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Core Systems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731520" y="2459736"/>
            <a:ext cx="4937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E22"/>
                </a:solidFill>
              </a:rPr>
              <a:t>Oracle Flexcube core banking with real-time processing</a:t>
            </a:r>
            <a:endParaRPr lang="en-US" sz="11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E22"/>
                </a:solidFill>
              </a:rPr>
              <a:t>Oracle E-Business Suite ERP and HRMS</a:t>
            </a:r>
            <a:endParaRPr lang="en-US" sz="11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E22"/>
                </a:solidFill>
              </a:rPr>
              <a:t>Modernized data and security infrastructure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7920" y="1783080"/>
            <a:ext cx="54406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17920" y="1783080"/>
            <a:ext cx="5440680" cy="566928"/>
          </a:xfrm>
          <a:prstGeom prst="rect">
            <a:avLst/>
          </a:prstGeom>
          <a:solidFill>
            <a:srgbClr val="00693C"/>
          </a:solidFill>
          <a:ln/>
        </p:spPr>
      </p:sp>
      <p:sp>
        <p:nvSpPr>
          <p:cNvPr id="14" name="Shape 11"/>
          <p:cNvSpPr/>
          <p:nvPr/>
        </p:nvSpPr>
        <p:spPr>
          <a:xfrm>
            <a:off x="6364224" y="1883664"/>
            <a:ext cx="365760" cy="3657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965960"/>
            <a:ext cx="201168" cy="20116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21424" y="178308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Digital Channels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6492240" y="2459736"/>
            <a:ext cx="4937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E22"/>
                </a:solidFill>
              </a:rPr>
              <a:t>NBE Mobile app and Al Ahly Net internet banking</a:t>
            </a:r>
            <a:endParaRPr lang="en-US" sz="11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E22"/>
                </a:solidFill>
              </a:rPr>
              <a:t>NBE PhoneCash e-wallet; bill payment via Fawry</a:t>
            </a:r>
            <a:endParaRPr lang="en-US" sz="11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E22"/>
                </a:solidFill>
              </a:rPr>
              <a:t>Nationwide ATM and branch network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57200" y="4123944"/>
            <a:ext cx="54406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4123944"/>
            <a:ext cx="5440680" cy="566928"/>
          </a:xfrm>
          <a:prstGeom prst="rect">
            <a:avLst/>
          </a:prstGeom>
          <a:solidFill>
            <a:srgbClr val="00693C"/>
          </a:solidFill>
          <a:ln/>
        </p:spPr>
      </p:sp>
      <p:sp>
        <p:nvSpPr>
          <p:cNvPr id="20" name="Shape 16"/>
          <p:cNvSpPr/>
          <p:nvPr/>
        </p:nvSpPr>
        <p:spPr>
          <a:xfrm>
            <a:off x="603504" y="4224528"/>
            <a:ext cx="365760" cy="3657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06824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060704" y="412394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Innovation &amp; Partnerships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731520" y="4800600"/>
            <a:ext cx="4937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E22"/>
                </a:solidFill>
              </a:rPr>
              <a:t>Mastercard AI digital humans (first in the Middle East)</a:t>
            </a:r>
            <a:endParaRPr lang="en-US" sz="11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E22"/>
                </a:solidFill>
              </a:rPr>
              <a:t>Drove the Apple Pay launch in Egypt (2024)</a:t>
            </a:r>
            <a:endParaRPr lang="en-US" sz="11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E22"/>
                </a:solidFill>
              </a:rPr>
              <a:t>Fintech arms: Al Ahly Momken and Al Ahly Tamkeen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6217920" y="4123944"/>
            <a:ext cx="5440680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217920" y="4123944"/>
            <a:ext cx="5440680" cy="566928"/>
          </a:xfrm>
          <a:prstGeom prst="rect">
            <a:avLst/>
          </a:prstGeom>
          <a:solidFill>
            <a:srgbClr val="00693C"/>
          </a:solidFill>
          <a:ln/>
        </p:spPr>
      </p:sp>
      <p:sp>
        <p:nvSpPr>
          <p:cNvPr id="26" name="Shape 21"/>
          <p:cNvSpPr/>
          <p:nvPr/>
        </p:nvSpPr>
        <p:spPr>
          <a:xfrm>
            <a:off x="6364224" y="4224528"/>
            <a:ext cx="365760" cy="365760"/>
          </a:xfrm>
          <a:prstGeom prst="ellipse">
            <a:avLst/>
          </a:prstGeom>
          <a:solidFill>
            <a:srgbClr val="C9A227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06824"/>
            <a:ext cx="201168" cy="20116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821424" y="412394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Cybersecurity</a:t>
            </a:r>
            <a:endParaRPr lang="en-US" sz="1550" dirty="0"/>
          </a:p>
        </p:txBody>
      </p:sp>
      <p:sp>
        <p:nvSpPr>
          <p:cNvPr id="29" name="Text 23"/>
          <p:cNvSpPr/>
          <p:nvPr/>
        </p:nvSpPr>
        <p:spPr>
          <a:xfrm>
            <a:off x="6492240" y="4800600"/>
            <a:ext cx="49377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E22"/>
                </a:solidFill>
              </a:rPr>
              <a:t>BIO-key PortalGuard identity and access management</a:t>
            </a:r>
            <a:endParaRPr lang="en-US" sz="11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E22"/>
                </a:solidFill>
              </a:rPr>
              <a:t>MFA and single sign-on for 30,000 employees</a:t>
            </a:r>
            <a:endParaRPr lang="en-US" sz="115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2E22"/>
                </a:solidFill>
              </a:rPr>
              <a:t>Security Operations Center with risk analytics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13A22"/>
          </a:solidFill>
          <a:ln/>
        </p:spPr>
      </p:sp>
      <p:sp>
        <p:nvSpPr>
          <p:cNvPr id="31" name="Text 25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8C7"/>
                </a:solidFill>
              </a:rPr>
              <a:t>National Bank of Egypt   |   IT Strategy: Strategic Alignment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0881360" y="654710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CF7A"/>
                </a:solidFill>
              </a:rPr>
              <a:t>2 / 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3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Alignment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2E22"/>
                </a:solidFill>
              </a:rPr>
              <a:t>To what extent do NBE's IT practices serve its strategy? We map each strategic goal to its IT enabler and rate the alignment.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55648"/>
            <a:ext cx="82296" cy="749808"/>
          </a:xfrm>
          <a:prstGeom prst="rect">
            <a:avLst/>
          </a:prstGeom>
          <a:solidFill>
            <a:srgbClr val="0069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55648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13A22"/>
                </a:solidFill>
              </a:rPr>
              <a:t>Lead financial inclusion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06240" y="1755648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1"/>
                </a:solidFill>
              </a:rPr>
              <a:t>Mobile app, e-wallet, Meeza, Al Ahly Momken and Tamkeen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84080" y="1947672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1E7A4D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36" y="2029968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277856" y="1947672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Strong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651760"/>
            <a:ext cx="82296" cy="749808"/>
          </a:xfrm>
          <a:prstGeom prst="rect">
            <a:avLst/>
          </a:prstGeom>
          <a:solidFill>
            <a:srgbClr val="00693C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2651760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13A22"/>
                </a:solidFill>
              </a:rPr>
              <a:t>Finance the national economy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206240" y="2651760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1"/>
                </a:solidFill>
              </a:rPr>
              <a:t>Scalable core banking and digital lending at national scale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784080" y="2843784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1E7A4D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536" y="2926080"/>
            <a:ext cx="201168" cy="20116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277856" y="2843784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Strong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7200" y="3547872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7200" y="3547872"/>
            <a:ext cx="82296" cy="749808"/>
          </a:xfrm>
          <a:prstGeom prst="rect">
            <a:avLst/>
          </a:prstGeom>
          <a:solidFill>
            <a:srgbClr val="00693C"/>
          </a:solidFill>
          <a:ln/>
        </p:spPr>
      </p:sp>
      <p:sp>
        <p:nvSpPr>
          <p:cNvPr id="22" name="Text 18"/>
          <p:cNvSpPr/>
          <p:nvPr/>
        </p:nvSpPr>
        <p:spPr>
          <a:xfrm>
            <a:off x="731520" y="3547872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13A22"/>
                </a:solidFill>
              </a:rPr>
              <a:t>Customer-centric digital growth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4206240" y="3547872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1"/>
                </a:solidFill>
              </a:rPr>
              <a:t>NBE Mobile, AI digital humans, Apple Pay, omnichannel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9784080" y="3739896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1E7A4D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3536" y="3822192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277856" y="3739896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Strong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57200" y="4443984"/>
            <a:ext cx="112471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457200" y="4443984"/>
            <a:ext cx="82296" cy="74980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9" name="Text 24"/>
          <p:cNvSpPr/>
          <p:nvPr/>
        </p:nvSpPr>
        <p:spPr>
          <a:xfrm>
            <a:off x="731520" y="4443984"/>
            <a:ext cx="3383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13A22"/>
                </a:solidFill>
              </a:rPr>
              <a:t>Sustainability and ESG</a:t>
            </a:r>
            <a:endParaRPr lang="en-US" sz="1350" dirty="0"/>
          </a:p>
        </p:txBody>
      </p:sp>
      <p:sp>
        <p:nvSpPr>
          <p:cNvPr id="30" name="Text 25"/>
          <p:cNvSpPr/>
          <p:nvPr/>
        </p:nvSpPr>
        <p:spPr>
          <a:xfrm>
            <a:off x="4206240" y="4443984"/>
            <a:ext cx="5486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C6B61"/>
                </a:solidFill>
              </a:rPr>
              <a:t>Paperless digital channels; green-IT and ESG data still maturing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9784080" y="4636008"/>
            <a:ext cx="1691640" cy="365760"/>
          </a:xfrm>
          <a:prstGeom prst="roundRect">
            <a:avLst>
              <a:gd name="adj" fmla="val 50000"/>
            </a:avLst>
          </a:prstGeom>
          <a:solidFill>
            <a:srgbClr val="B8860B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3536" y="4718304"/>
            <a:ext cx="201168" cy="20116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277856" y="4636008"/>
            <a:ext cx="1124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Moderate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457200" y="5376672"/>
            <a:ext cx="11247120" cy="841248"/>
          </a:xfrm>
          <a:prstGeom prst="rect">
            <a:avLst/>
          </a:prstGeom>
          <a:solidFill>
            <a:srgbClr val="013A22"/>
          </a:solidFill>
          <a:ln/>
        </p:spPr>
      </p:sp>
      <p:sp>
        <p:nvSpPr>
          <p:cNvPr id="35" name="Text 29"/>
          <p:cNvSpPr/>
          <p:nvPr/>
        </p:nvSpPr>
        <p:spPr>
          <a:xfrm>
            <a:off x="731520" y="5376672"/>
            <a:ext cx="10698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C9A227"/>
                </a:solidFill>
              </a:rPr>
              <a:t>Overall verdict: High alignment. 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FFFFF"/>
                </a:solidFill>
              </a:rPr>
              <a:t>IT is a core strategic enabler at NBE, not a back-office support function. </a:t>
            </a:r>
            <a:pPr algn="l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E6CF7A"/>
                </a:solidFill>
              </a:rPr>
              <a:t>Watch-outs: </a:t>
            </a:r>
            <a:pPr algn="l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CFE3D6"/>
                </a:solidFill>
              </a:rPr>
              <a:t>legacy-system integration, data-analytics maturity, cloud adoption, and ESG-aligned IT.</a:t>
            </a:r>
            <a:endParaRPr lang="en-US" sz="1250" dirty="0"/>
          </a:p>
        </p:txBody>
      </p:sp>
      <p:sp>
        <p:nvSpPr>
          <p:cNvPr id="36" name="Shape 30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13A22"/>
          </a:solidFill>
          <a:ln/>
        </p:spPr>
      </p:sp>
      <p:sp>
        <p:nvSpPr>
          <p:cNvPr id="37" name="Text 31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8C7"/>
                </a:solidFill>
              </a:rPr>
              <a:t>National Bank of Egypt   |   IT Strategy: Strategic Alignment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0881360" y="654710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CF7A"/>
                </a:solidFill>
              </a:rPr>
              <a:t>3 /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658368" cy="658368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38404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298448" y="3840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13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 to the Board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17043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1A2E22"/>
                </a:solidFill>
              </a:rPr>
              <a:t>Six technologies to deepen alignment and extend NBE's leadership, drawn from the IT Strategy course.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630168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3630168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Shape 6"/>
          <p:cNvSpPr/>
          <p:nvPr/>
        </p:nvSpPr>
        <p:spPr>
          <a:xfrm>
            <a:off x="1815084" y="2057400"/>
            <a:ext cx="914400" cy="914400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3684" y="22860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99008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Generative AI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" y="3355848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B61"/>
                </a:solidFill>
              </a:rPr>
              <a:t>Deploy GenAI assistants for customer service and AI-driven credit scoring.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88536" y="1783080"/>
            <a:ext cx="3630168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288536" y="1783080"/>
            <a:ext cx="3630168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Shape 11"/>
          <p:cNvSpPr/>
          <p:nvPr/>
        </p:nvSpPr>
        <p:spPr>
          <a:xfrm>
            <a:off x="5646420" y="2057400"/>
            <a:ext cx="914400" cy="914400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22860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71416" y="299008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Analytics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517136" y="3355848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B61"/>
                </a:solidFill>
              </a:rPr>
              <a:t>Use big-data analytics and hyper-personalization to grow share of wallet.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19872" y="1783080"/>
            <a:ext cx="3630168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119872" y="1783080"/>
            <a:ext cx="3630168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Shape 16"/>
          <p:cNvSpPr/>
          <p:nvPr/>
        </p:nvSpPr>
        <p:spPr>
          <a:xfrm>
            <a:off x="9477756" y="2057400"/>
            <a:ext cx="914400" cy="914400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6356" y="2286000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02752" y="2990088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Adoption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8348472" y="3355848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B61"/>
                </a:solidFill>
              </a:rPr>
              <a:t>Migrate suitable workloads to the cloud for scalability and lower cost.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57200" y="4142232"/>
            <a:ext cx="3630168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4142232"/>
            <a:ext cx="3630168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6" name="Shape 21"/>
          <p:cNvSpPr/>
          <p:nvPr/>
        </p:nvSpPr>
        <p:spPr>
          <a:xfrm>
            <a:off x="1815084" y="4416552"/>
            <a:ext cx="914400" cy="914400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684" y="4645152"/>
            <a:ext cx="457200" cy="4572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40080" y="5349240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Banking &amp; APIs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685800" y="57150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B61"/>
                </a:solidFill>
              </a:rPr>
              <a:t>Open secure APIs to enable embedded finance and a fintech ecosystem.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288536" y="4142232"/>
            <a:ext cx="3630168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288536" y="4142232"/>
            <a:ext cx="3630168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2" name="Shape 26"/>
          <p:cNvSpPr/>
          <p:nvPr/>
        </p:nvSpPr>
        <p:spPr>
          <a:xfrm>
            <a:off x="5646420" y="4416552"/>
            <a:ext cx="914400" cy="914400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020" y="4645152"/>
            <a:ext cx="457200" cy="4572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471416" y="5349240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Zero-Trust Security</a:t>
            </a:r>
            <a:endParaRPr lang="en-US" sz="1600" dirty="0"/>
          </a:p>
        </p:txBody>
      </p:sp>
      <p:sp>
        <p:nvSpPr>
          <p:cNvPr id="35" name="Text 28"/>
          <p:cNvSpPr/>
          <p:nvPr/>
        </p:nvSpPr>
        <p:spPr>
          <a:xfrm>
            <a:off x="4517136" y="57150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B61"/>
                </a:solidFill>
              </a:rPr>
              <a:t>Adopt zero-trust architecture and AI-based real-time fraud detection.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8119872" y="4142232"/>
            <a:ext cx="3630168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8119872" y="4142232"/>
            <a:ext cx="3630168" cy="91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8" name="Shape 31"/>
          <p:cNvSpPr/>
          <p:nvPr/>
        </p:nvSpPr>
        <p:spPr>
          <a:xfrm>
            <a:off x="9477756" y="4416552"/>
            <a:ext cx="914400" cy="914400"/>
          </a:xfrm>
          <a:prstGeom prst="ellipse">
            <a:avLst/>
          </a:prstGeom>
          <a:solidFill>
            <a:srgbClr val="00693C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6356" y="4645152"/>
            <a:ext cx="457200" cy="4572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8302752" y="5349240"/>
            <a:ext cx="3264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13A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IT for ESG</a:t>
            </a:r>
            <a:endParaRPr lang="en-US" sz="1600" dirty="0"/>
          </a:p>
        </p:txBody>
      </p:sp>
      <p:sp>
        <p:nvSpPr>
          <p:cNvPr id="41" name="Text 33"/>
          <p:cNvSpPr/>
          <p:nvPr/>
        </p:nvSpPr>
        <p:spPr>
          <a:xfrm>
            <a:off x="8348472" y="5715000"/>
            <a:ext cx="3172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C6B61"/>
                </a:solidFill>
              </a:rPr>
              <a:t>Use green data centers and ESG data platforms for sustainability reporting.</a:t>
            </a:r>
            <a:endParaRPr lang="en-US" sz="1150" dirty="0"/>
          </a:p>
        </p:txBody>
      </p:sp>
      <p:sp>
        <p:nvSpPr>
          <p:cNvPr id="42" name="Shape 34"/>
          <p:cNvSpPr/>
          <p:nvPr/>
        </p:nvSpPr>
        <p:spPr>
          <a:xfrm>
            <a:off x="0" y="6547104"/>
            <a:ext cx="12161520" cy="310896"/>
          </a:xfrm>
          <a:prstGeom prst="rect">
            <a:avLst/>
          </a:prstGeom>
          <a:solidFill>
            <a:srgbClr val="013A22"/>
          </a:solidFill>
          <a:ln/>
        </p:spPr>
      </p:sp>
      <p:sp>
        <p:nvSpPr>
          <p:cNvPr id="43" name="Text 35"/>
          <p:cNvSpPr/>
          <p:nvPr/>
        </p:nvSpPr>
        <p:spPr>
          <a:xfrm>
            <a:off x="457200" y="654710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FD8C7"/>
                </a:solidFill>
              </a:rPr>
              <a:t>National Bank of Egypt   |   IT Strategy: Strategic Alignment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0881360" y="6547104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6CF7A"/>
                </a:solidFill>
              </a:rPr>
              <a:t>4 / 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Alignment of IT at the National Bank of Egypt</dc:title>
  <dc:subject>PptxGenJS Presentation</dc:subject>
  <dc:creator>Ahmed Awad, Tariq Salama, Ahmed Sabri, Mahmoud Ibrahim</dc:creator>
  <cp:lastModifiedBy>Ahmed Awad, Tariq Salama, Ahmed Sabri, Mahmoud Ibrahim</cp:lastModifiedBy>
  <cp:revision>1</cp:revision>
  <dcterms:created xsi:type="dcterms:W3CDTF">2026-06-05T19:22:29Z</dcterms:created>
  <dcterms:modified xsi:type="dcterms:W3CDTF">2026-06-05T19:22:29Z</dcterms:modified>
</cp:coreProperties>
</file>