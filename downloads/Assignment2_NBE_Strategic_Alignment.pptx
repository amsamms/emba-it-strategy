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463040"/>
            <a:ext cx="4754880" cy="4754880"/>
          </a:xfrm>
          <a:prstGeom prst="ellipse">
            <a:avLst/>
          </a:prstGeom>
          <a:solidFill>
            <a:srgbClr val="06291A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6291A"/>
          </a:solidFill>
          <a:ln w="12700">
            <a:solidFill>
              <a:srgbClr val="006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777240"/>
            <a:ext cx="914400" cy="914400"/>
          </a:xfrm>
          <a:prstGeom prst="ellipse">
            <a:avLst/>
          </a:prstGeom>
          <a:solidFill>
            <a:srgbClr val="C9A227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996696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868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E6CF7A"/>
                </a:solidFill>
              </a:rPr>
              <a:t>EXECUTIVE MBA   |   IT STRATEGY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920240" y="12161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BFD8C7"/>
                </a:solidFill>
              </a:rPr>
              <a:t>Strategic Alignment Assessment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233172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Information Technology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822960" y="3063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Corporate Strategy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841248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9A227"/>
                </a:solidFill>
              </a:rPr>
              <a:t>The National Bank of Egypt (NBE)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45262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CFE3D6"/>
                </a:solidFill>
              </a:rPr>
              <a:t>To what extent do NBE's IT practices serve its overall corporate strategy?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22960" y="5440680"/>
            <a:ext cx="54864" cy="9144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0"/>
          <p:cNvSpPr/>
          <p:nvPr/>
        </p:nvSpPr>
        <p:spPr>
          <a:xfrm>
            <a:off x="1051560" y="54406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CF7A"/>
                </a:solidFill>
              </a:rPr>
              <a:t>Prepared by:  </a:t>
            </a:r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Ahmed Awad   |   Tariq Salama   |   Ahmed Sabri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51560" y="57607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CF7A"/>
                </a:solidFill>
              </a:rPr>
              <a:t>Instructor:  </a:t>
            </a:r>
            <a:pPr algn="l" indent="0" marL="0">
              <a:buNone/>
            </a:pPr>
            <a:r>
              <a:rPr lang="en-US" sz="1300" dirty="0">
                <a:solidFill>
                  <a:srgbClr val="CFE3D6"/>
                </a:solidFill>
              </a:rPr>
              <a:t>Dr. Ghada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51560" y="606247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CF7A"/>
                </a:solidFill>
              </a:rPr>
              <a:t>Date:  </a:t>
            </a:r>
            <a:pPr algn="l" indent="0" marL="0">
              <a:buNone/>
            </a:pPr>
            <a:r>
              <a:rPr lang="en-US" sz="1300" dirty="0">
                <a:solidFill>
                  <a:srgbClr val="CFE3D6"/>
                </a:solidFill>
              </a:rPr>
              <a:t>03-06-2026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58368" cy="658368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98448" y="38404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Company Strategy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E22"/>
                </a:solidFill>
              </a:rPr>
              <a:t>Founded in 1898, NBE is Egypt's largest bank and a primary engine of the national economy. Its corporate strategy rests on four pillars.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75320" y="1097280"/>
            <a:ext cx="3429000" cy="1417320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7" name="Text 5"/>
          <p:cNvSpPr/>
          <p:nvPr/>
        </p:nvSpPr>
        <p:spPr>
          <a:xfrm>
            <a:off x="8366760" y="11704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EGP 8.13tn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366760" y="15179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3D6"/>
                </a:solidFill>
              </a:rPr>
              <a:t>Total assets (2024)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058400" y="11704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~20M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0058400" y="15179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3D6"/>
                </a:solidFill>
              </a:rPr>
              <a:t>Customers served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366760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~665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66760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3D6"/>
                </a:solidFill>
              </a:rPr>
              <a:t>Branches &amp; units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058400" y="1828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~30,000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058400" y="21762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3D6"/>
                </a:solidFill>
              </a:rPr>
              <a:t>Employees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4406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788920"/>
            <a:ext cx="82296" cy="14813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Shape 15"/>
          <p:cNvSpPr/>
          <p:nvPr/>
        </p:nvSpPr>
        <p:spPr>
          <a:xfrm>
            <a:off x="713232" y="3081528"/>
            <a:ext cx="868680" cy="86868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3290011"/>
            <a:ext cx="451714" cy="45171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737360" y="299008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13A22"/>
                </a:solidFill>
              </a:rPr>
              <a:t>Lead Financial Inclusion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1737360" y="34107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Bank the unbanked across Egypt through accessible, low-cost digital and microfinance services.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217920" y="2788920"/>
            <a:ext cx="54406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17920" y="2788920"/>
            <a:ext cx="82296" cy="14813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3" name="Shape 20"/>
          <p:cNvSpPr/>
          <p:nvPr/>
        </p:nvSpPr>
        <p:spPr>
          <a:xfrm>
            <a:off x="6473952" y="3081528"/>
            <a:ext cx="868680" cy="86868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435" y="3290011"/>
            <a:ext cx="451714" cy="45171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498080" y="299008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13A22"/>
                </a:solidFill>
              </a:rPr>
              <a:t>Finance the National Economy</a:t>
            </a:r>
            <a:endParaRPr lang="en-US" sz="1550" dirty="0"/>
          </a:p>
        </p:txBody>
      </p:sp>
      <p:sp>
        <p:nvSpPr>
          <p:cNvPr id="26" name="Text 22"/>
          <p:cNvSpPr/>
          <p:nvPr/>
        </p:nvSpPr>
        <p:spPr>
          <a:xfrm>
            <a:off x="7498080" y="34107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Fund mega-projects, infrastructure, and SMEs as the government's key banking partner.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457200" y="4544568"/>
            <a:ext cx="54406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57200" y="4544568"/>
            <a:ext cx="82296" cy="14813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9" name="Shape 25"/>
          <p:cNvSpPr/>
          <p:nvPr/>
        </p:nvSpPr>
        <p:spPr>
          <a:xfrm>
            <a:off x="713232" y="4837176"/>
            <a:ext cx="868680" cy="86868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715" y="5045659"/>
            <a:ext cx="451714" cy="451714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737360" y="4745736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13A22"/>
                </a:solidFill>
              </a:rPr>
              <a:t>Customer-Centric Digital Growth</a:t>
            </a:r>
            <a:endParaRPr lang="en-US" sz="1550" dirty="0"/>
          </a:p>
        </p:txBody>
      </p:sp>
      <p:sp>
        <p:nvSpPr>
          <p:cNvPr id="32" name="Text 27"/>
          <p:cNvSpPr/>
          <p:nvPr/>
        </p:nvSpPr>
        <p:spPr>
          <a:xfrm>
            <a:off x="1737360" y="516636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Deliver fast, 24/7, personalized banking and grow the tech-savvy youth segment.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6217920" y="4544568"/>
            <a:ext cx="54406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17920" y="4544568"/>
            <a:ext cx="82296" cy="14813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5" name="Shape 30"/>
          <p:cNvSpPr/>
          <p:nvPr/>
        </p:nvSpPr>
        <p:spPr>
          <a:xfrm>
            <a:off x="6473952" y="4837176"/>
            <a:ext cx="868680" cy="86868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2435" y="5045659"/>
            <a:ext cx="451714" cy="451714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7498080" y="4745736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13A22"/>
                </a:solidFill>
              </a:rPr>
              <a:t>Sustainability &amp; ESG</a:t>
            </a:r>
            <a:endParaRPr lang="en-US" sz="1550" dirty="0"/>
          </a:p>
        </p:txBody>
      </p:sp>
      <p:sp>
        <p:nvSpPr>
          <p:cNvPr id="38" name="Text 32"/>
          <p:cNvSpPr/>
          <p:nvPr/>
        </p:nvSpPr>
        <p:spPr>
          <a:xfrm>
            <a:off x="7498080" y="516636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Embed an EESG framework and a climate-finance strategy across all operations.</a:t>
            </a:r>
            <a:endParaRPr lang="en-US" sz="1150" dirty="0"/>
          </a:p>
        </p:txBody>
      </p:sp>
      <p:sp>
        <p:nvSpPr>
          <p:cNvPr id="39" name="Shape 33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40" name="Text 34"/>
          <p:cNvSpPr/>
          <p:nvPr/>
        </p:nvSpPr>
        <p:spPr>
          <a:xfrm>
            <a:off x="457200" y="654710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7"/>
                </a:solidFill>
              </a:rPr>
              <a:t>National Bank of Egypt   |   IT Strategy: Strategic Alignment</a:t>
            </a:r>
            <a:endParaRPr lang="en-US" sz="900" dirty="0"/>
          </a:p>
        </p:txBody>
      </p:sp>
      <p:sp>
        <p:nvSpPr>
          <p:cNvPr id="41" name="Text 35"/>
          <p:cNvSpPr/>
          <p:nvPr/>
        </p:nvSpPr>
        <p:spPr>
          <a:xfrm>
            <a:off x="10881360" y="654710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6CF7A"/>
                </a:solidFill>
              </a:rPr>
              <a:t>1 / 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58368" cy="658368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98448" y="38404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IT Strategy &amp; Practices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A2E22"/>
                </a:solidFill>
              </a:rPr>
              <a:t>NBE runs an enterprise-grade IT estate that powers its scale and its digital ambition, organized across four domains.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544068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83080"/>
            <a:ext cx="5440680" cy="56692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" y="1883664"/>
            <a:ext cx="365760" cy="365760"/>
          </a:xfrm>
          <a:prstGeom prst="ellipse">
            <a:avLst/>
          </a:prstGeom>
          <a:solidFill>
            <a:srgbClr val="C9A227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6596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60704" y="178308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Core Systems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731520" y="2459736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Oracle Flexcube core banking with real-time processing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Oracle E-Business Suite ERP and HRMS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Modernized data and security infrastructure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217920" y="1783080"/>
            <a:ext cx="544068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1783080"/>
            <a:ext cx="5440680" cy="56692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14" name="Shape 11"/>
          <p:cNvSpPr/>
          <p:nvPr/>
        </p:nvSpPr>
        <p:spPr>
          <a:xfrm>
            <a:off x="6364224" y="1883664"/>
            <a:ext cx="365760" cy="365760"/>
          </a:xfrm>
          <a:prstGeom prst="ellipse">
            <a:avLst/>
          </a:prstGeom>
          <a:solidFill>
            <a:srgbClr val="C9A227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65960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821424" y="178308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Digital Channels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6492240" y="2459736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NBE Mobile app and Al Ahly Net internet banking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NBE PhoneCash e-wallet; bill payment via Fawry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Nationwide ATM and branch network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57200" y="4123944"/>
            <a:ext cx="544068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" y="4123944"/>
            <a:ext cx="5440680" cy="56692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20" name="Shape 16"/>
          <p:cNvSpPr/>
          <p:nvPr/>
        </p:nvSpPr>
        <p:spPr>
          <a:xfrm>
            <a:off x="603504" y="4224528"/>
            <a:ext cx="365760" cy="365760"/>
          </a:xfrm>
          <a:prstGeom prst="ellipse">
            <a:avLst/>
          </a:prstGeom>
          <a:solidFill>
            <a:srgbClr val="C9A227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06824"/>
            <a:ext cx="201168" cy="20116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060704" y="4123944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Innovation &amp; Partnerships</a:t>
            </a:r>
            <a:endParaRPr lang="en-US" sz="1550" dirty="0"/>
          </a:p>
        </p:txBody>
      </p:sp>
      <p:sp>
        <p:nvSpPr>
          <p:cNvPr id="23" name="Text 18"/>
          <p:cNvSpPr/>
          <p:nvPr/>
        </p:nvSpPr>
        <p:spPr>
          <a:xfrm>
            <a:off x="731520" y="4800600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Mastercard AI digital humans (first in the Middle East)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Drove the Apple Pay launch in Egypt (2024)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Fintech arms: Al Ahly Momken and Al Ahly Tamkeen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6217920" y="4123944"/>
            <a:ext cx="5440680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217920" y="4123944"/>
            <a:ext cx="5440680" cy="56692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26" name="Shape 21"/>
          <p:cNvSpPr/>
          <p:nvPr/>
        </p:nvSpPr>
        <p:spPr>
          <a:xfrm>
            <a:off x="6364224" y="4224528"/>
            <a:ext cx="365760" cy="365760"/>
          </a:xfrm>
          <a:prstGeom prst="ellipse">
            <a:avLst/>
          </a:prstGeom>
          <a:solidFill>
            <a:srgbClr val="C9A227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306824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21424" y="4123944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Cybersecurity</a:t>
            </a:r>
            <a:endParaRPr lang="en-US" sz="1550" dirty="0"/>
          </a:p>
        </p:txBody>
      </p:sp>
      <p:sp>
        <p:nvSpPr>
          <p:cNvPr id="29" name="Text 23"/>
          <p:cNvSpPr/>
          <p:nvPr/>
        </p:nvSpPr>
        <p:spPr>
          <a:xfrm>
            <a:off x="6492240" y="4800600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BIO-key PortalGuard identity and access management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MFA and single sign-on for 30,000 employees</a:t>
            </a:r>
            <a:endParaRPr lang="en-US" sz="11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A2E22"/>
                </a:solidFill>
              </a:rPr>
              <a:t>Security Operations Center with risk analytics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31" name="Text 25"/>
          <p:cNvSpPr/>
          <p:nvPr/>
        </p:nvSpPr>
        <p:spPr>
          <a:xfrm>
            <a:off x="457200" y="654710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7"/>
                </a:solidFill>
              </a:rPr>
              <a:t>National Bank of Egypt   |   IT Strategy: Strategic Alignment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10881360" y="654710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6CF7A"/>
                </a:solidFill>
              </a:rPr>
              <a:t>2 / 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58368" cy="658368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98448" y="38404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Alignment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E22"/>
                </a:solidFill>
              </a:rPr>
              <a:t>To what extent do NBE's IT practices serve its strategy? We map each strategic goal to its IT enabler and rate the alignment.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55648"/>
            <a:ext cx="82296" cy="74980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755648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3A22"/>
                </a:solidFill>
              </a:rPr>
              <a:t>Lead financial inclusion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206240" y="1755648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B61"/>
                </a:solidFill>
              </a:rPr>
              <a:t>Mobile app, e-wallet, Meeza, Al Ahly Momken and Tamkeen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784080" y="1947672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1E7A4D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3536" y="2029968"/>
            <a:ext cx="201168" cy="20116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0277856" y="1947672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Strong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651760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2651760"/>
            <a:ext cx="82296" cy="74980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2651760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3A22"/>
                </a:solidFill>
              </a:rPr>
              <a:t>Finance the national economy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206240" y="2651760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B61"/>
                </a:solidFill>
              </a:rPr>
              <a:t>Scalable core banking and digital lending at national scale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784080" y="2843784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1E7A4D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3536" y="2926080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277856" y="2843784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Strong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57200" y="3547872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57200" y="3547872"/>
            <a:ext cx="82296" cy="749808"/>
          </a:xfrm>
          <a:prstGeom prst="rect">
            <a:avLst/>
          </a:prstGeom>
          <a:solidFill>
            <a:srgbClr val="00693C"/>
          </a:solidFill>
          <a:ln/>
        </p:spPr>
      </p:sp>
      <p:sp>
        <p:nvSpPr>
          <p:cNvPr id="22" name="Text 18"/>
          <p:cNvSpPr/>
          <p:nvPr/>
        </p:nvSpPr>
        <p:spPr>
          <a:xfrm>
            <a:off x="731520" y="3547872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3A22"/>
                </a:solidFill>
              </a:rPr>
              <a:t>Customer-centric digital growth</a:t>
            </a:r>
            <a:endParaRPr lang="en-US" sz="1350" dirty="0"/>
          </a:p>
        </p:txBody>
      </p:sp>
      <p:sp>
        <p:nvSpPr>
          <p:cNvPr id="23" name="Text 19"/>
          <p:cNvSpPr/>
          <p:nvPr/>
        </p:nvSpPr>
        <p:spPr>
          <a:xfrm>
            <a:off x="4206240" y="3547872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B61"/>
                </a:solidFill>
              </a:rPr>
              <a:t>NBE Mobile, AI digital humans, Apple Pay, omnichannel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784080" y="3739896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1E7A4D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36" y="3822192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0277856" y="3739896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Strong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457200" y="4443984"/>
            <a:ext cx="112471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457200" y="4443984"/>
            <a:ext cx="82296" cy="74980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9" name="Text 24"/>
          <p:cNvSpPr/>
          <p:nvPr/>
        </p:nvSpPr>
        <p:spPr>
          <a:xfrm>
            <a:off x="731520" y="4443984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13A22"/>
                </a:solidFill>
              </a:rPr>
              <a:t>Sustainability and ESG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4206240" y="4443984"/>
            <a:ext cx="5486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B61"/>
                </a:solidFill>
              </a:rPr>
              <a:t>Paperless digital channels; green-IT and ESG data still maturing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9784080" y="4636008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3536" y="4718304"/>
            <a:ext cx="201168" cy="20116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277856" y="4636008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Moderate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57200" y="5376672"/>
            <a:ext cx="11247120" cy="841248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35" name="Text 29"/>
          <p:cNvSpPr/>
          <p:nvPr/>
        </p:nvSpPr>
        <p:spPr>
          <a:xfrm>
            <a:off x="731520" y="5376672"/>
            <a:ext cx="10698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C9A227"/>
                </a:solidFill>
              </a:rPr>
              <a:t>Overall verdict: High alignment. 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</a:rPr>
              <a:t>IT is a core strategic enabler at NBE, not a back-office support function. </a:t>
            </a:r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E6CF7A"/>
                </a:solidFill>
              </a:rPr>
              <a:t>Watch-outs: </a:t>
            </a:r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FE3D6"/>
                </a:solidFill>
              </a:rPr>
              <a:t>legacy-system integration, data-analytics maturity, cloud adoption, and ESG-aligned IT.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37" name="Text 31"/>
          <p:cNvSpPr/>
          <p:nvPr/>
        </p:nvSpPr>
        <p:spPr>
          <a:xfrm>
            <a:off x="457200" y="654710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7"/>
                </a:solidFill>
              </a:rPr>
              <a:t>National Bank of Egypt   |   IT Strategy: Strategic Alignment</a:t>
            </a:r>
            <a:endParaRPr lang="en-US" sz="900" dirty="0"/>
          </a:p>
        </p:txBody>
      </p:sp>
      <p:sp>
        <p:nvSpPr>
          <p:cNvPr id="38" name="Text 32"/>
          <p:cNvSpPr/>
          <p:nvPr/>
        </p:nvSpPr>
        <p:spPr>
          <a:xfrm>
            <a:off x="10881360" y="654710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6CF7A"/>
                </a:solidFill>
              </a:rPr>
              <a:t>3 /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58368" cy="658368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384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98448" y="384048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 to the Board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1A2E22"/>
                </a:solidFill>
              </a:rPr>
              <a:t>Six technologies to deepen alignment and extend NBE's leadership, drawn from the IT Strategy course.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83080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Shape 6"/>
          <p:cNvSpPr/>
          <p:nvPr/>
        </p:nvSpPr>
        <p:spPr>
          <a:xfrm>
            <a:off x="1815084" y="2057400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3684" y="228600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99008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Generative AI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335584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Deploy GenAI assistants for customer service and AI-driven credit scoring.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288536" y="1783080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88536" y="1783080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4" name="Shape 11"/>
          <p:cNvSpPr/>
          <p:nvPr/>
        </p:nvSpPr>
        <p:spPr>
          <a:xfrm>
            <a:off x="5646420" y="2057400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28600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471416" y="299008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Advanced Analytics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517136" y="335584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Use big-data analytics and hyper-personalization to grow share of wallet.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119872" y="1783080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119872" y="1783080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0" name="Shape 16"/>
          <p:cNvSpPr/>
          <p:nvPr/>
        </p:nvSpPr>
        <p:spPr>
          <a:xfrm>
            <a:off x="9477756" y="2057400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356" y="228600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02752" y="299008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Adoption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348472" y="335584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Migrate suitable workloads to the cloud for scalability and lower cost.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457200" y="4142232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57200" y="4142232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6" name="Shape 21"/>
          <p:cNvSpPr/>
          <p:nvPr/>
        </p:nvSpPr>
        <p:spPr>
          <a:xfrm>
            <a:off x="1815084" y="4416552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3684" y="4645152"/>
            <a:ext cx="457200" cy="4572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40080" y="5349240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Banking &amp; APIs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85800" y="57150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Open secure APIs to enable embedded finance and a fintech ecosystem.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4288536" y="4142232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4288536" y="4142232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2" name="Shape 26"/>
          <p:cNvSpPr/>
          <p:nvPr/>
        </p:nvSpPr>
        <p:spPr>
          <a:xfrm>
            <a:off x="5646420" y="4416552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5020" y="4645152"/>
            <a:ext cx="457200" cy="45720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4471416" y="5349240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Security</a:t>
            </a:r>
            <a:endParaRPr lang="en-US" sz="1600" dirty="0"/>
          </a:p>
        </p:txBody>
      </p:sp>
      <p:sp>
        <p:nvSpPr>
          <p:cNvPr id="35" name="Text 28"/>
          <p:cNvSpPr/>
          <p:nvPr/>
        </p:nvSpPr>
        <p:spPr>
          <a:xfrm>
            <a:off x="4517136" y="57150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Adopt zero-trust architecture and AI-based real-time fraud detection.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8119872" y="4142232"/>
            <a:ext cx="3630168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DE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8119872" y="4142232"/>
            <a:ext cx="3630168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8" name="Shape 31"/>
          <p:cNvSpPr/>
          <p:nvPr/>
        </p:nvSpPr>
        <p:spPr>
          <a:xfrm>
            <a:off x="9477756" y="4416552"/>
            <a:ext cx="914400" cy="914400"/>
          </a:xfrm>
          <a:prstGeom prst="ellipse">
            <a:avLst/>
          </a:prstGeom>
          <a:solidFill>
            <a:srgbClr val="00693C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6356" y="4645152"/>
            <a:ext cx="457200" cy="457200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8302752" y="5349240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3A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Green IT for ESG</a:t>
            </a:r>
            <a:endParaRPr lang="en-US" sz="1600" dirty="0"/>
          </a:p>
        </p:txBody>
      </p:sp>
      <p:sp>
        <p:nvSpPr>
          <p:cNvPr id="41" name="Text 33"/>
          <p:cNvSpPr/>
          <p:nvPr/>
        </p:nvSpPr>
        <p:spPr>
          <a:xfrm>
            <a:off x="8348472" y="5715000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B61"/>
                </a:solidFill>
              </a:rPr>
              <a:t>Use green data centers and ESG data platforms for sustainability reporting.</a:t>
            </a:r>
            <a:endParaRPr lang="en-US" sz="1150" dirty="0"/>
          </a:p>
        </p:txBody>
      </p:sp>
      <p:sp>
        <p:nvSpPr>
          <p:cNvPr id="42" name="Shape 34"/>
          <p:cNvSpPr/>
          <p:nvPr/>
        </p:nvSpPr>
        <p:spPr>
          <a:xfrm>
            <a:off x="0" y="6547104"/>
            <a:ext cx="12161520" cy="310896"/>
          </a:xfrm>
          <a:prstGeom prst="rect">
            <a:avLst/>
          </a:prstGeom>
          <a:solidFill>
            <a:srgbClr val="013A22"/>
          </a:solidFill>
          <a:ln/>
        </p:spPr>
      </p:sp>
      <p:sp>
        <p:nvSpPr>
          <p:cNvPr id="43" name="Text 35"/>
          <p:cNvSpPr/>
          <p:nvPr/>
        </p:nvSpPr>
        <p:spPr>
          <a:xfrm>
            <a:off x="457200" y="654710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FD8C7"/>
                </a:solidFill>
              </a:rPr>
              <a:t>National Bank of Egypt   |   IT Strategy: Strategic Alignment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10881360" y="6547104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6CF7A"/>
                </a:solidFill>
              </a:rPr>
              <a:t>4 / 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Alignment of IT at the National Bank of Egypt</dc:title>
  <dc:subject>PptxGenJS Presentation</dc:subject>
  <dc:creator>Ahmed Awad, Tariq Salama, Ahmed Sabri</dc:creator>
  <cp:lastModifiedBy>Ahmed Awad, Tariq Salama, Ahmed Sabri</cp:lastModifiedBy>
  <cp:revision>1</cp:revision>
  <dcterms:created xsi:type="dcterms:W3CDTF">2026-06-01T18:42:16Z</dcterms:created>
  <dcterms:modified xsi:type="dcterms:W3CDTF">2026-06-01T18:42:16Z</dcterms:modified>
</cp:coreProperties>
</file>